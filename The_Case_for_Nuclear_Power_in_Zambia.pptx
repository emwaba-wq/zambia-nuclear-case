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MW lost to drought</c:v>
                </c:pt>
              </c:strCache>
            </c:strRef>
          </c:tx>
          <c:dPt>
            <c:idx val="0"/>
            <c:spPr>
              <a:solidFill>
                <a:srgbClr val="8C1F1F"/>
              </a:solidFill>
              <a:ln>
                <a:noFill/>
              </a:ln>
            </c:spPr>
          </c:dPt>
          <c:dPt>
            <c:idx val="1"/>
            <c:spPr>
              <a:solidFill>
                <a:srgbClr val="8C1F1F"/>
              </a:solidFill>
              <a:ln>
                <a:noFill/>
              </a:ln>
            </c:spPr>
          </c:dPt>
          <c:dPt>
            <c:idx val="2"/>
            <c:spPr>
              <a:solidFill>
                <a:srgbClr val="5C1212"/>
              </a:solidFill>
              <a:ln>
                <a:noFill/>
              </a:ln>
            </c:spPr>
          </c:dPt>
          <c:cat>
            <c:strRef>
              <c:f>Sheet1!$A$2:$A$4</c:f>
              <c:strCache>
                <c:ptCount val="3"/>
                <c:pt idx="0">
                  <c:v>2015/16</c:v>
                </c:pt>
                <c:pt idx="1">
                  <c:v>2018/19</c:v>
                </c:pt>
                <c:pt idx="2">
                  <c:v>2023/24</c:v>
                </c:pt>
              </c:strCache>
            </c:strRef>
          </c:cat>
          <c:val>
            <c:numRef>
              <c:f>Sheet1!$B$2:$B$4</c:f>
              <c:numCache>
                <c:formatCode>General</c:formatCode>
                <c:ptCount val="3"/>
                <c:pt idx="0">
                  <c:v>1000</c:v>
                </c:pt>
                <c:pt idx="1">
                  <c:v>872</c:v>
                </c:pt>
                <c:pt idx="2">
                  <c:v>1430</c:v>
                </c:pt>
              </c:numCache>
            </c:numRef>
          </c:val>
        </c:ser>
        <c:dLbls>
          <c:txPr>
            <a:bodyPr/>
            <a:lstStyle/>
            <a:p>
              <a:pPr>
                <a:defRPr sz="1100" b="1">
                  <a:solidFill>
                    <a:srgbClr val="5C1212"/>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3A404A"/>
                </a:solidFill>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solidFill>
                  <a:srgbClr val="3A404A"/>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mrem / year</c:v>
                </c:pt>
              </c:strCache>
            </c:strRef>
          </c:tx>
          <c:dPt>
            <c:idx val="0"/>
            <c:spPr>
              <a:solidFill>
                <a:srgbClr val="14402C"/>
              </a:solidFill>
              <a:ln>
                <a:noFill/>
              </a:ln>
            </c:spPr>
          </c:dPt>
          <c:dPt>
            <c:idx val="1"/>
            <c:spPr>
              <a:solidFill>
                <a:srgbClr val="CFA33C"/>
              </a:solidFill>
              <a:ln>
                <a:noFill/>
              </a:ln>
            </c:spPr>
          </c:dPt>
          <c:dPt>
            <c:idx val="2"/>
            <c:spPr>
              <a:solidFill>
                <a:srgbClr val="8C1F1F"/>
              </a:solidFill>
              <a:ln>
                <a:noFill/>
              </a:ln>
            </c:spPr>
          </c:dPt>
          <c:cat>
            <c:strRef>
              <c:f>Sheet1!$A$2:$A$4</c:f>
              <c:strCache>
                <c:ptCount val="3"/>
                <c:pt idx="0">
                  <c:v>Avg. Technician (DOE 2024)</c:v>
                </c:pt>
                <c:pt idx="1">
                  <c:v>Natural Background</c:v>
                </c:pt>
                <c:pt idx="2">
                  <c:v>Federal Occupational Limit</c:v>
                </c:pt>
              </c:strCache>
            </c:strRef>
          </c:cat>
          <c:val>
            <c:numRef>
              <c:f>Sheet1!$B$2:$B$4</c:f>
              <c:numCache>
                <c:formatCode>General</c:formatCode>
                <c:ptCount val="3"/>
                <c:pt idx="0">
                  <c:v>59.12</c:v>
                </c:pt>
                <c:pt idx="1">
                  <c:v>300</c:v>
                </c:pt>
                <c:pt idx="2">
                  <c:v>5000</c:v>
                </c:pt>
              </c:numCache>
            </c:numRef>
          </c:val>
        </c:ser>
        <c:dLbls>
          <c:txPr>
            <a:bodyPr/>
            <a:lstStyle/>
            <a:p>
              <a:pPr>
                <a:defRPr sz="1100" b="1">
                  <a:solidFill>
                    <a:srgbClr val="082618"/>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solidFill>
                  <a:srgbClr val="3A404A"/>
                </a:solidFill>
                <a:latin typeface="Calibri"/>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solidFill>
                  <a:srgbClr val="3A404A"/>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MW continuous (mining only)</c:v>
                </c:pt>
              </c:strCache>
            </c:strRef>
          </c:tx>
          <c:dPt>
            <c:idx val="0"/>
            <c:spPr>
              <a:solidFill>
                <a:srgbClr val="CFA33C"/>
              </a:solidFill>
              <a:ln>
                <a:noFill/>
              </a:ln>
            </c:spPr>
          </c:dPt>
          <c:dPt>
            <c:idx val="1"/>
            <c:spPr>
              <a:solidFill>
                <a:srgbClr val="B54C1A"/>
              </a:solidFill>
              <a:ln>
                <a:noFill/>
              </a:ln>
            </c:spPr>
          </c:dPt>
          <c:dPt>
            <c:idx val="2"/>
            <c:spPr>
              <a:solidFill>
                <a:srgbClr val="8C1F1F"/>
              </a:solidFill>
              <a:ln>
                <a:noFill/>
              </a:ln>
            </c:spPr>
          </c:dPt>
          <c:cat>
            <c:strRef>
              <c:f>Sheet1!$A$2:$A$4</c:f>
              <c:strCache>
                <c:ptCount val="3"/>
                <c:pt idx="0">
                  <c:v>Today (~0.8 Mt)</c:v>
                </c:pt>
                <c:pt idx="1">
                  <c:v>Mid-Path (~1.5 Mt)</c:v>
                </c:pt>
                <c:pt idx="2">
                  <c:v>Target (3.0 Mt)</c:v>
                </c:pt>
              </c:strCache>
            </c:strRef>
          </c:cat>
          <c:val>
            <c:numRef>
              <c:f>Sheet1!$B$2:$B$4</c:f>
              <c:numCache>
                <c:formatCode>General</c:formatCode>
                <c:ptCount val="3"/>
                <c:pt idx="0">
                  <c:v>320</c:v>
                </c:pt>
                <c:pt idx="1">
                  <c:v>600</c:v>
                </c:pt>
                <c:pt idx="2">
                  <c:v>1200</c:v>
                </c:pt>
              </c:numCache>
            </c:numRef>
          </c:val>
        </c:ser>
        <c:dLbls>
          <c:txPr>
            <a:bodyPr/>
            <a:lstStyle/>
            <a:p>
              <a:pPr>
                <a:defRPr sz="1100" b="1">
                  <a:solidFill>
                    <a:srgbClr val="082618"/>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3A404A"/>
                </a:solidFill>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solidFill>
                  <a:srgbClr val="3A404A"/>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Three minutes. One argument. Captured in one sentence on this slide: Zambia is among the very few nations on earth that already owns the uranium, the regulator, and the nuclear policy — yet still loses billions every drought cycle. Only enacting the Nuclear Bill converts that paradox into drought-proof energy. Let me walk you through why this is no longer optional.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or paraphrase the paragraph at executive cadence. Build tension: paradox → drought cost ledger → Siavonga fear → DOE mastery proof → African competition → ask. End on the imperative: Sign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Hook] Picture two scenes. Siavonga: uranium in the water, uranium in the dust, no instruments — radiological fear. The U.S. nuclear enterprise: twenty-two thousand workers, an average of 59.12 mrem a year, every dose tracked, every year, for a decade — industrial mastery. Same element. Same physics. Two completely different outcomes. The variable is the system around it. The Radiation Protection Authority already builds part of that system in Zambia. We just have not finished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[Hostage Math] Eighty-four percent of our electricity comes from hydropower. That single point of failure has now cost us three major drought events in a decade — each bigger than the last. The 2023-24 Kariba crisis triggered up to twenty-one hours of load-shedding a day in late 2024, throttling our copper mines and, by IMF estimates, evaporating about two percent of GDP. We cannot industrialise a country on rainfall. Nuclear is not an option here; it is a necessity.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Mastery] Zambians fear nuclear the way most people fear flying — disproportionate to the data. My analysis of the U.S. Department of Energy REMS dataset shows the average nuclear technician absorbs 59.12 mrem per year. That is one point two percent of the federal occupational limit and roughly one fifth of the natural background dose any of us absorb just walking around. The biggest fear in Zambia is safety; the data says modern monitoring keeps workers safer than most office radiation environments. And the system scales — workforce grew while individual dose stayed flat. This is the analytical capacity we have already built locally; we are ready to oversee a national programme.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Resource] Zambia exports uranium today. We are a raw-mineral economy. Why should we ship the very element that could fuel our own copper mines abroad — only to import the electricity it produces? Lumwana, Gwembe, Mutanga: known uranium-bearing zones. By developing nuclear power we move from raw-material exporter to high-tech energy producer; we anchor high-skill jobs; we capture the value chain. Why ship our uranium when we could use it to power our own factories?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 Impact] Zambia has set a public target of three million tonnes of copper annually. At industry-standard energy intensity that is roughly twelve hundred megawatts of continuous power — for mining alone. Hydropower cannot deliver that drought after drought. Nuclear can. And there is a window closing: Egypt is building four reactors at El Dabaa; Kenya targets first criticality by 2034; South Africa has been nuclear for over forty years. If we wait, we end up buying drought-proof electricity from neighbours. This is not ideology. It is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Three decisions. ENACT: pass the Nuclear Bill, formalise NSPA as IAEA-aligned regulator. EQUIP: fund radiological monitoring nationwide, starting with the very communities in Siavonga that prompted the 2024 Baseline Survey. EXECUTE: greenlight the Centre for Nuclear Science and Technology and SMR pre-feasibility using ROSATOM, IP3, KAERI agreements already on file. The fuel is under our feet. The expertise is on our payroll. The bill is on the table. Sign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11480" y="0"/>
            <a:ext cx="73152" cy="685800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4632" y="0"/>
            <a:ext cx="36576" cy="6858000"/>
          </a:xfrm>
          <a:prstGeom prst="rect">
            <a:avLst/>
          </a:prstGeom>
          <a:solidFill>
            <a:srgbClr val="CFA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594360"/>
            <a:ext cx="10058400" cy="274320"/>
          </a:xfrm>
          <a:prstGeom prst="rect">
            <a:avLst/>
          </a:prstGeom>
          <a:noFill/>
        </p:spPr>
        <p:txBody>
          <a:bodyPr wrap="square" anchor="t" lIns="0" rIns="0" tIns="0" bIns="0">
            <a:spAutoFit/>
          </a:bodyPr>
          <a:lstStyle/>
          <a:p>
            <a:pPr algn="l">
              <a:lnSpc>
                <a:spcPct val="125000"/>
              </a:lnSpc>
            </a:pPr>
            <a:r>
              <a:rPr sz="1100" b="1" i="0">
                <a:solidFill>
                  <a:srgbClr val="B54C1A"/>
                </a:solidFill>
                <a:latin typeface="Calibri"/>
              </a:rPr>
              <a:t>A POLICY BRIEF  ·  REPUBLIC OF ZAMBIA  ·  2026</a:t>
            </a:r>
          </a:p>
        </p:txBody>
      </p:sp>
      <p:cxnSp>
        <p:nvCxnSpPr>
          <p:cNvPr id="6" name="Connector 5"/>
          <p:cNvCxnSpPr/>
          <p:nvPr/>
        </p:nvCxnSpPr>
        <p:spPr>
          <a:xfrm>
            <a:off x="914400" y="868680"/>
            <a:ext cx="548640" cy="0"/>
          </a:xfrm>
          <a:prstGeom prst="line">
            <a:avLst/>
          </a:prstGeom>
          <a:ln w="19050">
            <a:solidFill>
              <a:srgbClr val="B54C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1188720"/>
            <a:ext cx="10515600" cy="2377440"/>
          </a:xfrm>
          <a:prstGeom prst="rect">
            <a:avLst/>
          </a:prstGeom>
          <a:noFill/>
        </p:spPr>
        <p:txBody>
          <a:bodyPr wrap="square" anchor="t" lIns="0" rIns="0" tIns="0" bIns="0">
            <a:spAutoFit/>
          </a:bodyPr>
          <a:lstStyle/>
          <a:p>
            <a:pPr algn="l">
              <a:lnSpc>
                <a:spcPct val="100000"/>
              </a:lnSpc>
            </a:pPr>
            <a:r>
              <a:rPr sz="4400" b="0" i="1">
                <a:solidFill>
                  <a:srgbClr val="3A404A"/>
                </a:solidFill>
                <a:latin typeface="Georgia"/>
              </a:rPr>
              <a:t>The Case for</a:t>
            </a:r>
          </a:p>
          <a:p>
            <a:pPr algn="l">
              <a:lnSpc>
                <a:spcPct val="100000"/>
              </a:lnSpc>
              <a:spcAft>
                <a:spcPts val="0"/>
              </a:spcAft>
            </a:pPr>
            <a:r>
              <a:rPr sz="6400" b="1" i="0">
                <a:solidFill>
                  <a:srgbClr val="082618"/>
                </a:solidFill>
                <a:latin typeface="Georgia"/>
              </a:rPr>
              <a:t>Nuclear Power</a:t>
            </a:r>
          </a:p>
          <a:p>
            <a:pPr algn="l">
              <a:lnSpc>
                <a:spcPct val="100000"/>
              </a:lnSpc>
              <a:spcAft>
                <a:spcPts val="0"/>
              </a:spcAft>
            </a:pPr>
            <a:r>
              <a:rPr sz="6400" b="1" i="0">
                <a:solidFill>
                  <a:srgbClr val="B54C1A"/>
                </a:solidFill>
                <a:latin typeface="Georgia"/>
              </a:rPr>
              <a:t>in Zambia.</a:t>
            </a:r>
          </a:p>
        </p:txBody>
      </p:sp>
      <p:sp>
        <p:nvSpPr>
          <p:cNvPr id="8" name="Rectangle 7"/>
          <p:cNvSpPr/>
          <p:nvPr/>
        </p:nvSpPr>
        <p:spPr>
          <a:xfrm>
            <a:off x="914400" y="4434840"/>
            <a:ext cx="10515600" cy="169164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4434840"/>
            <a:ext cx="91440" cy="169164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4526280"/>
            <a:ext cx="10058400" cy="274320"/>
          </a:xfrm>
          <a:prstGeom prst="rect">
            <a:avLst/>
          </a:prstGeom>
          <a:noFill/>
        </p:spPr>
        <p:txBody>
          <a:bodyPr wrap="square" anchor="t" lIns="0" rIns="0" tIns="0" bIns="0">
            <a:spAutoFit/>
          </a:bodyPr>
          <a:lstStyle/>
          <a:p>
            <a:pPr algn="l">
              <a:lnSpc>
                <a:spcPct val="125000"/>
              </a:lnSpc>
            </a:pPr>
            <a:r>
              <a:rPr sz="1000" b="1" i="0">
                <a:solidFill>
                  <a:srgbClr val="CFA33C"/>
                </a:solidFill>
                <a:latin typeface="Calibri"/>
              </a:rPr>
              <a:t>THE  BIG  IDEA</a:t>
            </a:r>
          </a:p>
        </p:txBody>
      </p:sp>
      <p:sp>
        <p:nvSpPr>
          <p:cNvPr id="11" name="TextBox 10"/>
          <p:cNvSpPr txBox="1"/>
          <p:nvPr/>
        </p:nvSpPr>
        <p:spPr>
          <a:xfrm>
            <a:off x="1188720" y="4800600"/>
            <a:ext cx="10058400" cy="1371600"/>
          </a:xfrm>
          <a:prstGeom prst="rect">
            <a:avLst/>
          </a:prstGeom>
          <a:noFill/>
        </p:spPr>
        <p:txBody>
          <a:bodyPr wrap="square" anchor="t" lIns="0" rIns="0" tIns="0" bIns="0">
            <a:spAutoFit/>
          </a:bodyPr>
          <a:lstStyle/>
          <a:p>
            <a:pPr algn="l">
              <a:lnSpc>
                <a:spcPct val="130000"/>
              </a:lnSpc>
            </a:pPr>
            <a:r>
              <a:rPr sz="1400" b="0" i="1">
                <a:solidFill>
                  <a:srgbClr val="FFFFFF"/>
                </a:solidFill>
                <a:latin typeface="Georgia"/>
              </a:rPr>
              <a:t>Zambia is one of the few nations on earth that sits on its own uranium, runs a 50-year radiological regulator, and holds a Cabinet-approved nuclear policy — yet still loses billions to drought every cycle; only enacting the Nuclear Bill turns that paradox into the drought-proof power our industrialisation demands.</a:t>
            </a:r>
          </a:p>
        </p:txBody>
      </p:sp>
      <p:sp>
        <p:nvSpPr>
          <p:cNvPr id="12" name="TextBox 11"/>
          <p:cNvSpPr txBox="1"/>
          <p:nvPr/>
        </p:nvSpPr>
        <p:spPr>
          <a:xfrm>
            <a:off x="914400" y="6355080"/>
            <a:ext cx="7315200" cy="228600"/>
          </a:xfrm>
          <a:prstGeom prst="rect">
            <a:avLst/>
          </a:prstGeom>
          <a:noFill/>
        </p:spPr>
        <p:txBody>
          <a:bodyPr wrap="square" anchor="t" lIns="0" rIns="0" tIns="0" bIns="0">
            <a:spAutoFit/>
          </a:bodyPr>
          <a:lstStyle/>
          <a:p>
            <a:pPr algn="l">
              <a:lnSpc>
                <a:spcPct val="125000"/>
              </a:lnSpc>
            </a:pPr>
            <a:r>
              <a:rPr sz="1000" b="1" i="0">
                <a:solidFill>
                  <a:srgbClr val="14181F"/>
                </a:solidFill>
                <a:latin typeface="Calibri"/>
              </a:rPr>
              <a:t>PREPARED BY  ELIZABETH MWABA</a:t>
            </a:r>
          </a:p>
        </p:txBody>
      </p:sp>
      <p:sp>
        <p:nvSpPr>
          <p:cNvPr id="13" name="TextBox 12"/>
          <p:cNvSpPr txBox="1"/>
          <p:nvPr/>
        </p:nvSpPr>
        <p:spPr>
          <a:xfrm>
            <a:off x="914400" y="6565392"/>
            <a:ext cx="7315200" cy="228600"/>
          </a:xfrm>
          <a:prstGeom prst="rect">
            <a:avLst/>
          </a:prstGeom>
          <a:noFill/>
        </p:spPr>
        <p:txBody>
          <a:bodyPr wrap="square" anchor="t" lIns="0" rIns="0" tIns="0" bIns="0">
            <a:spAutoFit/>
          </a:bodyPr>
          <a:lstStyle/>
          <a:p>
            <a:pPr algn="l">
              <a:lnSpc>
                <a:spcPct val="125000"/>
              </a:lnSpc>
            </a:pPr>
            <a:r>
              <a:rPr sz="900" b="0" i="1">
                <a:solidFill>
                  <a:srgbClr val="6B7078"/>
                </a:solidFill>
                <a:latin typeface="Calibri"/>
              </a:rPr>
              <a:t>Radiological Analyst  ·  Supervisor Review Brief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TextBox 1"/>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PROLOGUE  ·  THE 3-MINUTE STORY</a:t>
            </a:r>
          </a:p>
        </p:txBody>
      </p:sp>
      <p:sp>
        <p:nvSpPr>
          <p:cNvPr id="3" name="TextBox 2"/>
          <p:cNvSpPr txBox="1"/>
          <p:nvPr/>
        </p:nvSpPr>
        <p:spPr>
          <a:xfrm>
            <a:off x="548640" y="731520"/>
            <a:ext cx="11064240" cy="777240"/>
          </a:xfrm>
          <a:prstGeom prst="rect">
            <a:avLst/>
          </a:prstGeom>
          <a:noFill/>
        </p:spPr>
        <p:txBody>
          <a:bodyPr wrap="square" anchor="t" lIns="0" rIns="0" tIns="0" bIns="0">
            <a:spAutoFit/>
          </a:bodyPr>
          <a:lstStyle/>
          <a:p>
            <a:pPr algn="l">
              <a:lnSpc>
                <a:spcPct val="105000"/>
              </a:lnSpc>
            </a:pPr>
            <a:r>
              <a:rPr sz="3000" b="1" i="0">
                <a:solidFill>
                  <a:srgbClr val="082618"/>
                </a:solidFill>
                <a:latin typeface="Georgia"/>
              </a:rPr>
              <a:t>If I had no slides, this is what I would say.</a:t>
            </a:r>
          </a:p>
        </p:txBody>
      </p:sp>
      <p:cxnSp>
        <p:nvCxnSpPr>
          <p:cNvPr id="4" name="Connector 3"/>
          <p:cNvCxnSpPr/>
          <p:nvPr/>
        </p:nvCxnSpPr>
        <p:spPr>
          <a:xfrm>
            <a:off x="548640" y="150876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27632"/>
            <a:ext cx="11064240" cy="365760"/>
          </a:xfrm>
          <a:prstGeom prst="rect">
            <a:avLst/>
          </a:prstGeom>
          <a:noFill/>
        </p:spPr>
        <p:txBody>
          <a:bodyPr wrap="square" anchor="t" lIns="0" rIns="0" tIns="0" bIns="0">
            <a:spAutoFit/>
          </a:bodyPr>
          <a:lstStyle/>
          <a:p>
            <a:pPr algn="l">
              <a:lnSpc>
                <a:spcPct val="125000"/>
              </a:lnSpc>
            </a:pPr>
            <a:r>
              <a:rPr sz="1300" b="0" i="1">
                <a:solidFill>
                  <a:srgbClr val="3A404A"/>
                </a:solidFill>
                <a:latin typeface="Calibri"/>
              </a:rPr>
              <a:t>One paragraph. Three minutes. The full argument.</a:t>
            </a:r>
          </a:p>
        </p:txBody>
      </p:sp>
      <p:sp>
        <p:nvSpPr>
          <p:cNvPr id="6" name="Rectangle 5"/>
          <p:cNvSpPr/>
          <p:nvPr/>
        </p:nvSpPr>
        <p:spPr>
          <a:xfrm>
            <a:off x="548640" y="2103120"/>
            <a:ext cx="11064240" cy="42519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03120"/>
            <a:ext cx="109728" cy="425196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03152" y="2103120"/>
            <a:ext cx="109728" cy="425196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40280"/>
            <a:ext cx="10515600" cy="274320"/>
          </a:xfrm>
          <a:prstGeom prst="rect">
            <a:avLst/>
          </a:prstGeom>
          <a:noFill/>
        </p:spPr>
        <p:txBody>
          <a:bodyPr wrap="square" anchor="t" lIns="0" rIns="0" tIns="0" bIns="0">
            <a:spAutoFit/>
          </a:bodyPr>
          <a:lstStyle/>
          <a:p>
            <a:pPr algn="l">
              <a:lnSpc>
                <a:spcPct val="125000"/>
              </a:lnSpc>
            </a:pPr>
            <a:r>
              <a:rPr sz="900" b="1" i="0">
                <a:solidFill>
                  <a:srgbClr val="B54C1A"/>
                </a:solidFill>
                <a:latin typeface="Calibri"/>
              </a:rPr>
              <a:t>EXECUTIVE  CADENCE  ·  ~390 WORDS  ·  ~3:00</a:t>
            </a:r>
          </a:p>
        </p:txBody>
      </p:sp>
      <p:sp>
        <p:nvSpPr>
          <p:cNvPr id="10" name="TextBox 9"/>
          <p:cNvSpPr txBox="1"/>
          <p:nvPr/>
        </p:nvSpPr>
        <p:spPr>
          <a:xfrm>
            <a:off x="868680" y="2560320"/>
            <a:ext cx="10515600" cy="3749039"/>
          </a:xfrm>
          <a:prstGeom prst="rect">
            <a:avLst/>
          </a:prstGeom>
          <a:noFill/>
        </p:spPr>
        <p:txBody>
          <a:bodyPr wrap="square" anchor="t" lIns="0" rIns="0" tIns="0" bIns="0">
            <a:spAutoFit/>
          </a:bodyPr>
          <a:lstStyle/>
          <a:p>
            <a:pPr algn="l">
              <a:lnSpc>
                <a:spcPct val="134000"/>
              </a:lnSpc>
            </a:pPr>
            <a:r>
              <a:rPr sz="1100" b="0" i="0">
                <a:solidFill>
                  <a:srgbClr val="14181F"/>
                </a:solidFill>
                <a:latin typeface="Calibri"/>
              </a:rPr>
              <a:t>Zambia is one of a handful of countries on earth that exports its own uranium, runs a fifty-year-old Radiation Protection Authority, holds a Cabinet-approved 2020 Nuclear Policy, and has signed cooperation agreements with ROSATOM, the U.S. IP3 Allied Nuclear Partners, and South Korea's KAERI — and yet, in 2026, still depends on a single river system for eighty-four percent of its electricity. In late 2024 that single dependency cost us up to twenty-one hours of load-shedding per day. Copper mines throttled. The kwacha wobbled. The IMF estimated roughly two percent of GDP evaporated in drought-driven blackouts. And it is not a one-off: 2015/16 cost us a thousand megawatts and four hundred and forty million dollars in emergency imports; 2018/19 took eight hundred and seventy-two megawatts; 2023/24 was the worst drought in forty years. Meanwhile, in Siavonga, the 2024 Uranium Baseline Survey detected unmonitored uranium in drinking water and household dust — communities living beside the very resource that should be fuelling our future, with no instruments and no baseline. That is radiological fear. Contrast that with the United States, where my analysis of the Department of Energy Radiation Exposure Monitoring System covers twenty-two thousand workers averaging just fifty-nine point one-two millirem of exposure per year — about one point two percent of the federal occupational limit, with workforce growth producing zero rise in individual dose. That is industrial mastery. Same element, two opposite outcomes; the variable is the system. While we debate, Egypt is building four reactors at El Dabaa, Kenya is targeting first criticality by 2034, and South Africa has been operating Koeberg for over forty years. We have the uranium. We have the regulator. We have the policy. We have the partners. We have a three-million-tonne copper ambition that no hydropower fleet on this continent can power. What we do not have is the legislative signature. Pass the Nuclear Bill, fund radiological monitoring nationwide starting in Siavonga, and greenlight Small Modular Reactor pre-feasibility. The fuel is under our feet. The expertise is on our payroll. The bill is on the table. Sign it.</a:t>
            </a:r>
          </a:p>
        </p:txBody>
      </p:sp>
      <p:cxnSp>
        <p:nvCxnSpPr>
          <p:cNvPr id="11" name="Connector 10"/>
          <p:cNvCxnSpPr/>
          <p:nvPr/>
        </p:nvCxnSpPr>
        <p:spPr>
          <a:xfrm>
            <a:off x="548640" y="6565392"/>
            <a:ext cx="1106424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6620256"/>
            <a:ext cx="9601200" cy="182880"/>
          </a:xfrm>
          <a:prstGeom prst="rect">
            <a:avLst/>
          </a:prstGeom>
          <a:noFill/>
        </p:spPr>
        <p:txBody>
          <a:bodyPr wrap="square" anchor="t" lIns="0" rIns="0" tIns="0" bIns="0">
            <a:spAutoFit/>
          </a:bodyPr>
          <a:lstStyle/>
          <a:p>
            <a:pPr algn="l">
              <a:lnSpc>
                <a:spcPct val="125000"/>
              </a:lnSpc>
            </a:pPr>
            <a:r>
              <a:rPr sz="800" b="0" i="1">
                <a:solidFill>
                  <a:srgbClr val="6B7078"/>
                </a:solidFill>
                <a:latin typeface="Calibri"/>
              </a:rPr>
              <a:t>SOURCES: U.S. DOE REMS 2024 Report · ZESCO Annual Reports 2023-2024 · Siavonga Uranium Baseline Survey (2024) · IMF Article IV Consultation — Zambia 2024</a:t>
            </a:r>
          </a:p>
        </p:txBody>
      </p:sp>
      <p:sp>
        <p:nvSpPr>
          <p:cNvPr id="13" name="TextBox 12"/>
          <p:cNvSpPr txBox="1"/>
          <p:nvPr/>
        </p:nvSpPr>
        <p:spPr>
          <a:xfrm>
            <a:off x="10332720" y="6620256"/>
            <a:ext cx="1645920" cy="182880"/>
          </a:xfrm>
          <a:prstGeom prst="rect">
            <a:avLst/>
          </a:prstGeom>
          <a:noFill/>
        </p:spPr>
        <p:txBody>
          <a:bodyPr wrap="square" anchor="t" lIns="0" rIns="0" tIns="0" bIns="0">
            <a:spAutoFit/>
          </a:bodyPr>
          <a:lstStyle/>
          <a:p>
            <a:pPr algn="r">
              <a:lnSpc>
                <a:spcPct val="125000"/>
              </a:lnSpc>
            </a:pPr>
            <a:r>
              <a:rPr sz="800" b="1" i="0">
                <a:solidFill>
                  <a:srgbClr val="3A404A"/>
                </a:solidFill>
                <a:latin typeface="Calibri"/>
              </a:rPr>
              <a:t>2 / 8   E. MWABA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TextBox 1"/>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01  ·  THE HOOK</a:t>
            </a:r>
          </a:p>
        </p:txBody>
      </p:sp>
      <p:sp>
        <p:nvSpPr>
          <p:cNvPr id="3" name="TextBox 2"/>
          <p:cNvSpPr txBox="1"/>
          <p:nvPr/>
        </p:nvSpPr>
        <p:spPr>
          <a:xfrm>
            <a:off x="548640" y="731520"/>
            <a:ext cx="11064240" cy="777240"/>
          </a:xfrm>
          <a:prstGeom prst="rect">
            <a:avLst/>
          </a:prstGeom>
          <a:noFill/>
        </p:spPr>
        <p:txBody>
          <a:bodyPr wrap="square" anchor="t" lIns="0" rIns="0" tIns="0" bIns="0">
            <a:spAutoFit/>
          </a:bodyPr>
          <a:lstStyle/>
          <a:p>
            <a:pPr algn="l">
              <a:lnSpc>
                <a:spcPct val="105000"/>
              </a:lnSpc>
            </a:pPr>
            <a:r>
              <a:rPr sz="3000" b="1" i="0">
                <a:solidFill>
                  <a:srgbClr val="082618"/>
                </a:solidFill>
                <a:latin typeface="Georgia"/>
              </a:rPr>
              <a:t>Same element. Two realities.</a:t>
            </a:r>
          </a:p>
        </p:txBody>
      </p:sp>
      <p:cxnSp>
        <p:nvCxnSpPr>
          <p:cNvPr id="4" name="Connector 3"/>
          <p:cNvCxnSpPr/>
          <p:nvPr/>
        </p:nvCxnSpPr>
        <p:spPr>
          <a:xfrm>
            <a:off x="548640" y="150876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27632"/>
            <a:ext cx="11064240" cy="365760"/>
          </a:xfrm>
          <a:prstGeom prst="rect">
            <a:avLst/>
          </a:prstGeom>
          <a:noFill/>
        </p:spPr>
        <p:txBody>
          <a:bodyPr wrap="square" anchor="t" lIns="0" rIns="0" tIns="0" bIns="0">
            <a:spAutoFit/>
          </a:bodyPr>
          <a:lstStyle/>
          <a:p>
            <a:pPr algn="l">
              <a:lnSpc>
                <a:spcPct val="125000"/>
              </a:lnSpc>
            </a:pPr>
            <a:r>
              <a:rPr sz="1300" b="0" i="1">
                <a:solidFill>
                  <a:srgbClr val="3A404A"/>
                </a:solidFill>
                <a:latin typeface="Calibri"/>
              </a:rPr>
              <a:t>Zambians and Americans both live with uranium. Only one nation measures it.</a:t>
            </a:r>
          </a:p>
        </p:txBody>
      </p:sp>
      <p:sp>
        <p:nvSpPr>
          <p:cNvPr id="6" name="Rectangle 5"/>
          <p:cNvSpPr/>
          <p:nvPr/>
        </p:nvSpPr>
        <p:spPr>
          <a:xfrm>
            <a:off x="548640" y="2194560"/>
            <a:ext cx="5532120" cy="3886200"/>
          </a:xfrm>
          <a:prstGeom prst="rect">
            <a:avLst/>
          </a:prstGeom>
          <a:solidFill>
            <a:srgbClr val="5C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94560"/>
            <a:ext cx="109728" cy="3886200"/>
          </a:xfrm>
          <a:prstGeom prst="rect">
            <a:avLst/>
          </a:prstGeom>
          <a:solidFill>
            <a:srgbClr val="CFA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5029200" cy="274320"/>
          </a:xfrm>
          <a:prstGeom prst="rect">
            <a:avLst/>
          </a:prstGeom>
          <a:noFill/>
        </p:spPr>
        <p:txBody>
          <a:bodyPr wrap="square" anchor="t" lIns="0" rIns="0" tIns="0" bIns="0">
            <a:spAutoFit/>
          </a:bodyPr>
          <a:lstStyle/>
          <a:p>
            <a:pPr algn="l">
              <a:lnSpc>
                <a:spcPct val="125000"/>
              </a:lnSpc>
            </a:pPr>
            <a:r>
              <a:rPr sz="1000" b="1" i="0">
                <a:solidFill>
                  <a:srgbClr val="CFA33C"/>
                </a:solidFill>
                <a:latin typeface="Calibri"/>
              </a:rPr>
              <a:t>ZAMBIA  ·  SIAVONGA  ·  2024</a:t>
            </a:r>
          </a:p>
        </p:txBody>
      </p:sp>
      <p:sp>
        <p:nvSpPr>
          <p:cNvPr id="9" name="TextBox 8"/>
          <p:cNvSpPr txBox="1"/>
          <p:nvPr/>
        </p:nvSpPr>
        <p:spPr>
          <a:xfrm>
            <a:off x="868680" y="2651760"/>
            <a:ext cx="5029200" cy="1554480"/>
          </a:xfrm>
          <a:prstGeom prst="rect">
            <a:avLst/>
          </a:prstGeom>
          <a:noFill/>
        </p:spPr>
        <p:txBody>
          <a:bodyPr wrap="square" anchor="t" lIns="0" rIns="0" tIns="0" bIns="0">
            <a:spAutoFit/>
          </a:bodyPr>
          <a:lstStyle/>
          <a:p>
            <a:pPr algn="l">
              <a:lnSpc>
                <a:spcPct val="105000"/>
              </a:lnSpc>
            </a:pPr>
            <a:r>
              <a:rPr sz="3000" b="1" i="0">
                <a:solidFill>
                  <a:srgbClr val="FFFFFF"/>
                </a:solidFill>
                <a:latin typeface="Georgia"/>
              </a:rPr>
              <a:t>Uranium in the water.
Uranium in the dust.</a:t>
            </a:r>
          </a:p>
        </p:txBody>
      </p:sp>
      <p:sp>
        <p:nvSpPr>
          <p:cNvPr id="10" name="TextBox 9"/>
          <p:cNvSpPr txBox="1"/>
          <p:nvPr/>
        </p:nvSpPr>
        <p:spPr>
          <a:xfrm>
            <a:off x="868680" y="4434840"/>
            <a:ext cx="5029200" cy="1005840"/>
          </a:xfrm>
          <a:prstGeom prst="rect">
            <a:avLst/>
          </a:prstGeom>
          <a:noFill/>
        </p:spPr>
        <p:txBody>
          <a:bodyPr wrap="square" anchor="t" lIns="0" rIns="0" tIns="0" bIns="0">
            <a:spAutoFit/>
          </a:bodyPr>
          <a:lstStyle/>
          <a:p>
            <a:pPr algn="l">
              <a:lnSpc>
                <a:spcPct val="130000"/>
              </a:lnSpc>
            </a:pPr>
            <a:r>
              <a:rPr sz="1300" b="0" i="1">
                <a:solidFill>
                  <a:srgbClr val="F2CFCF"/>
                </a:solidFill>
                <a:latin typeface="Calibri"/>
              </a:rPr>
              <a:t>Zero monitoring.  Zero baseline.
Zero accountability.</a:t>
            </a:r>
          </a:p>
        </p:txBody>
      </p:sp>
      <p:cxnSp>
        <p:nvCxnSpPr>
          <p:cNvPr id="11" name="Connector 10"/>
          <p:cNvCxnSpPr/>
          <p:nvPr/>
        </p:nvCxnSpPr>
        <p:spPr>
          <a:xfrm>
            <a:off x="868680" y="5440680"/>
            <a:ext cx="640080" cy="0"/>
          </a:xfrm>
          <a:prstGeom prst="line">
            <a:avLst/>
          </a:prstGeom>
          <a:ln w="19050">
            <a:solidFill>
              <a:srgbClr val="CFA33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 y="5532120"/>
            <a:ext cx="5029200" cy="365760"/>
          </a:xfrm>
          <a:prstGeom prst="rect">
            <a:avLst/>
          </a:prstGeom>
          <a:noFill/>
        </p:spPr>
        <p:txBody>
          <a:bodyPr wrap="square" anchor="t" lIns="0" rIns="0" tIns="0" bIns="0">
            <a:spAutoFit/>
          </a:bodyPr>
          <a:lstStyle/>
          <a:p>
            <a:pPr algn="l">
              <a:lnSpc>
                <a:spcPct val="125000"/>
              </a:lnSpc>
            </a:pPr>
            <a:r>
              <a:rPr sz="1200" b="1" i="0">
                <a:solidFill>
                  <a:srgbClr val="CFA33C"/>
                </a:solidFill>
                <a:latin typeface="Calibri"/>
              </a:rPr>
              <a:t>RADIOLOGICAL  FEAR</a:t>
            </a:r>
          </a:p>
        </p:txBody>
      </p:sp>
      <p:sp>
        <p:nvSpPr>
          <p:cNvPr id="13" name="Rectangle 12"/>
          <p:cNvSpPr/>
          <p:nvPr/>
        </p:nvSpPr>
        <p:spPr>
          <a:xfrm>
            <a:off x="6263640" y="2194560"/>
            <a:ext cx="5349240" cy="388620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2194560"/>
            <a:ext cx="109728" cy="3886200"/>
          </a:xfrm>
          <a:prstGeom prst="rect">
            <a:avLst/>
          </a:prstGeom>
          <a:solidFill>
            <a:srgbClr val="D97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331720"/>
            <a:ext cx="4937760" cy="274320"/>
          </a:xfrm>
          <a:prstGeom prst="rect">
            <a:avLst/>
          </a:prstGeom>
          <a:noFill/>
        </p:spPr>
        <p:txBody>
          <a:bodyPr wrap="square" anchor="t" lIns="0" rIns="0" tIns="0" bIns="0">
            <a:spAutoFit/>
          </a:bodyPr>
          <a:lstStyle/>
          <a:p>
            <a:pPr algn="l">
              <a:lnSpc>
                <a:spcPct val="125000"/>
              </a:lnSpc>
            </a:pPr>
            <a:r>
              <a:rPr sz="1000" b="1" i="0">
                <a:solidFill>
                  <a:srgbClr val="D97933"/>
                </a:solidFill>
                <a:latin typeface="Calibri"/>
              </a:rPr>
              <a:t>USA  ·  DOE NUCLEAR ENTERPRISE  ·  2014-2024</a:t>
            </a:r>
          </a:p>
        </p:txBody>
      </p:sp>
      <p:sp>
        <p:nvSpPr>
          <p:cNvPr id="16" name="TextBox 15"/>
          <p:cNvSpPr txBox="1"/>
          <p:nvPr/>
        </p:nvSpPr>
        <p:spPr>
          <a:xfrm>
            <a:off x="6583680" y="2651760"/>
            <a:ext cx="4937760" cy="1554480"/>
          </a:xfrm>
          <a:prstGeom prst="rect">
            <a:avLst/>
          </a:prstGeom>
          <a:noFill/>
        </p:spPr>
        <p:txBody>
          <a:bodyPr wrap="square" anchor="t" lIns="0" rIns="0" tIns="0" bIns="0">
            <a:spAutoFit/>
          </a:bodyPr>
          <a:lstStyle/>
          <a:p>
            <a:pPr algn="l">
              <a:lnSpc>
                <a:spcPct val="105000"/>
              </a:lnSpc>
            </a:pPr>
            <a:r>
              <a:rPr sz="3000" b="1" i="0">
                <a:solidFill>
                  <a:srgbClr val="FFFFFF"/>
                </a:solidFill>
                <a:latin typeface="Georgia"/>
              </a:rPr>
              <a:t>22,000 workers.
59.12 mrem average.</a:t>
            </a:r>
          </a:p>
        </p:txBody>
      </p:sp>
      <p:sp>
        <p:nvSpPr>
          <p:cNvPr id="17" name="TextBox 16"/>
          <p:cNvSpPr txBox="1"/>
          <p:nvPr/>
        </p:nvSpPr>
        <p:spPr>
          <a:xfrm>
            <a:off x="6583680" y="4434840"/>
            <a:ext cx="4937760" cy="1005840"/>
          </a:xfrm>
          <a:prstGeom prst="rect">
            <a:avLst/>
          </a:prstGeom>
          <a:noFill/>
        </p:spPr>
        <p:txBody>
          <a:bodyPr wrap="square" anchor="t" lIns="0" rIns="0" tIns="0" bIns="0">
            <a:spAutoFit/>
          </a:bodyPr>
          <a:lstStyle/>
          <a:p>
            <a:pPr algn="l">
              <a:lnSpc>
                <a:spcPct val="130000"/>
              </a:lnSpc>
            </a:pPr>
            <a:r>
              <a:rPr sz="1300" b="0" i="1">
                <a:solidFill>
                  <a:srgbClr val="CFE0D2"/>
                </a:solidFill>
                <a:latin typeface="Calibri"/>
              </a:rPr>
              <a:t>Every dose tracked.  Every site audited.
Every year. For a decade.</a:t>
            </a:r>
          </a:p>
        </p:txBody>
      </p:sp>
      <p:cxnSp>
        <p:nvCxnSpPr>
          <p:cNvPr id="18" name="Connector 17"/>
          <p:cNvCxnSpPr/>
          <p:nvPr/>
        </p:nvCxnSpPr>
        <p:spPr>
          <a:xfrm>
            <a:off x="6583680" y="5440680"/>
            <a:ext cx="640080" cy="0"/>
          </a:xfrm>
          <a:prstGeom prst="line">
            <a:avLst/>
          </a:prstGeom>
          <a:ln w="19050">
            <a:solidFill>
              <a:srgbClr val="D9793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0" y="5532120"/>
            <a:ext cx="4937760" cy="365760"/>
          </a:xfrm>
          <a:prstGeom prst="rect">
            <a:avLst/>
          </a:prstGeom>
          <a:noFill/>
        </p:spPr>
        <p:txBody>
          <a:bodyPr wrap="square" anchor="t" lIns="0" rIns="0" tIns="0" bIns="0">
            <a:spAutoFit/>
          </a:bodyPr>
          <a:lstStyle/>
          <a:p>
            <a:pPr algn="l">
              <a:lnSpc>
                <a:spcPct val="125000"/>
              </a:lnSpc>
            </a:pPr>
            <a:r>
              <a:rPr sz="1200" b="1" i="0">
                <a:solidFill>
                  <a:srgbClr val="D97933"/>
                </a:solidFill>
                <a:latin typeface="Calibri"/>
              </a:rPr>
              <a:t>INDUSTRIAL  MASTERY</a:t>
            </a:r>
          </a:p>
        </p:txBody>
      </p:sp>
      <p:sp>
        <p:nvSpPr>
          <p:cNvPr id="20" name="TextBox 19"/>
          <p:cNvSpPr txBox="1"/>
          <p:nvPr/>
        </p:nvSpPr>
        <p:spPr>
          <a:xfrm>
            <a:off x="548640" y="6263640"/>
            <a:ext cx="11064240" cy="274320"/>
          </a:xfrm>
          <a:prstGeom prst="rect">
            <a:avLst/>
          </a:prstGeom>
          <a:noFill/>
        </p:spPr>
        <p:txBody>
          <a:bodyPr wrap="square" anchor="t" lIns="0" rIns="0" tIns="0" bIns="0">
            <a:spAutoFit/>
          </a:bodyPr>
          <a:lstStyle/>
          <a:p>
            <a:pPr algn="ctr">
              <a:lnSpc>
                <a:spcPct val="125000"/>
              </a:lnSpc>
            </a:pPr>
            <a:r>
              <a:rPr sz="1300" b="1" i="1">
                <a:solidFill>
                  <a:srgbClr val="082618"/>
                </a:solidFill>
                <a:latin typeface="Georgia"/>
              </a:rPr>
              <a:t>The gap is not the science. It is the system.</a:t>
            </a:r>
          </a:p>
        </p:txBody>
      </p:sp>
      <p:cxnSp>
        <p:nvCxnSpPr>
          <p:cNvPr id="21" name="Connector 20"/>
          <p:cNvCxnSpPr/>
          <p:nvPr/>
        </p:nvCxnSpPr>
        <p:spPr>
          <a:xfrm>
            <a:off x="548640" y="6565392"/>
            <a:ext cx="1106424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620256"/>
            <a:ext cx="9601200" cy="182880"/>
          </a:xfrm>
          <a:prstGeom prst="rect">
            <a:avLst/>
          </a:prstGeom>
          <a:noFill/>
        </p:spPr>
        <p:txBody>
          <a:bodyPr wrap="square" anchor="t" lIns="0" rIns="0" tIns="0" bIns="0">
            <a:spAutoFit/>
          </a:bodyPr>
          <a:lstStyle/>
          <a:p>
            <a:pPr algn="l">
              <a:lnSpc>
                <a:spcPct val="125000"/>
              </a:lnSpc>
            </a:pPr>
            <a:r>
              <a:rPr sz="800" b="0" i="1">
                <a:solidFill>
                  <a:srgbClr val="6B7078"/>
                </a:solidFill>
                <a:latin typeface="Calibri"/>
              </a:rPr>
              <a:t>SOURCES: Siavonga Uranium Baseline Survey (2024) · U.S. DOE REMS 2024 Report</a:t>
            </a:r>
          </a:p>
        </p:txBody>
      </p:sp>
      <p:sp>
        <p:nvSpPr>
          <p:cNvPr id="23" name="TextBox 22"/>
          <p:cNvSpPr txBox="1"/>
          <p:nvPr/>
        </p:nvSpPr>
        <p:spPr>
          <a:xfrm>
            <a:off x="10332720" y="6620256"/>
            <a:ext cx="1645920" cy="182880"/>
          </a:xfrm>
          <a:prstGeom prst="rect">
            <a:avLst/>
          </a:prstGeom>
          <a:noFill/>
        </p:spPr>
        <p:txBody>
          <a:bodyPr wrap="square" anchor="t" lIns="0" rIns="0" tIns="0" bIns="0">
            <a:spAutoFit/>
          </a:bodyPr>
          <a:lstStyle/>
          <a:p>
            <a:pPr algn="r">
              <a:lnSpc>
                <a:spcPct val="125000"/>
              </a:lnSpc>
            </a:pPr>
            <a:r>
              <a:rPr sz="800" b="1" i="0">
                <a:solidFill>
                  <a:srgbClr val="3A404A"/>
                </a:solidFill>
                <a:latin typeface="Calibri"/>
              </a:rPr>
              <a:t>3 / 8   E. MWABA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TextBox 1"/>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02  ·  THE HOSTAGE MATH</a:t>
            </a:r>
          </a:p>
        </p:txBody>
      </p:sp>
      <p:sp>
        <p:nvSpPr>
          <p:cNvPr id="3" name="TextBox 2"/>
          <p:cNvSpPr txBox="1"/>
          <p:nvPr/>
        </p:nvSpPr>
        <p:spPr>
          <a:xfrm>
            <a:off x="548640" y="731520"/>
            <a:ext cx="11064240" cy="777240"/>
          </a:xfrm>
          <a:prstGeom prst="rect">
            <a:avLst/>
          </a:prstGeom>
          <a:noFill/>
        </p:spPr>
        <p:txBody>
          <a:bodyPr wrap="square" anchor="t" lIns="0" rIns="0" tIns="0" bIns="0">
            <a:spAutoFit/>
          </a:bodyPr>
          <a:lstStyle/>
          <a:p>
            <a:pPr algn="l">
              <a:lnSpc>
                <a:spcPct val="105000"/>
              </a:lnSpc>
            </a:pPr>
            <a:r>
              <a:rPr sz="3000" b="1" i="0">
                <a:solidFill>
                  <a:srgbClr val="082618"/>
                </a:solidFill>
                <a:latin typeface="Georgia"/>
              </a:rPr>
              <a:t>Zambia's economy is hostage to the rain.</a:t>
            </a:r>
          </a:p>
        </p:txBody>
      </p:sp>
      <p:cxnSp>
        <p:nvCxnSpPr>
          <p:cNvPr id="4" name="Connector 3"/>
          <p:cNvCxnSpPr/>
          <p:nvPr/>
        </p:nvCxnSpPr>
        <p:spPr>
          <a:xfrm>
            <a:off x="548640" y="150876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27632"/>
            <a:ext cx="11064240" cy="365760"/>
          </a:xfrm>
          <a:prstGeom prst="rect">
            <a:avLst/>
          </a:prstGeom>
          <a:noFill/>
        </p:spPr>
        <p:txBody>
          <a:bodyPr wrap="square" anchor="t" lIns="0" rIns="0" tIns="0" bIns="0">
            <a:spAutoFit/>
          </a:bodyPr>
          <a:lstStyle/>
          <a:p>
            <a:pPr algn="l">
              <a:lnSpc>
                <a:spcPct val="125000"/>
              </a:lnSpc>
            </a:pPr>
            <a:r>
              <a:rPr sz="1300" b="0" i="1">
                <a:solidFill>
                  <a:srgbClr val="3A404A"/>
                </a:solidFill>
                <a:latin typeface="Calibri"/>
              </a:rPr>
              <a:t>Eight in every ten kilowatts depend on rainfall we no longer get.</a:t>
            </a:r>
          </a:p>
        </p:txBody>
      </p:sp>
      <p:graphicFrame>
        <p:nvGraphicFramePr>
          <p:cNvPr id="6" name="Chart 5"/>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r:id="rId2"/>
          </a:graphicData>
        </a:graphic>
      </p:graphicFrame>
      <p:sp>
        <p:nvSpPr>
          <p:cNvPr id="7" name="TextBox 6"/>
          <p:cNvSpPr txBox="1"/>
          <p:nvPr/>
        </p:nvSpPr>
        <p:spPr>
          <a:xfrm>
            <a:off x="548640" y="6263640"/>
            <a:ext cx="6766560" cy="274320"/>
          </a:xfrm>
          <a:prstGeom prst="rect">
            <a:avLst/>
          </a:prstGeom>
          <a:noFill/>
        </p:spPr>
        <p:txBody>
          <a:bodyPr wrap="square" anchor="t" lIns="0" rIns="0" tIns="0" bIns="0">
            <a:spAutoFit/>
          </a:bodyPr>
          <a:lstStyle/>
          <a:p>
            <a:pPr algn="ctr">
              <a:lnSpc>
                <a:spcPct val="125000"/>
              </a:lnSpc>
            </a:pPr>
            <a:r>
              <a:rPr sz="900" b="0" i="1">
                <a:solidFill>
                  <a:srgbClr val="6B7078"/>
                </a:solidFill>
                <a:latin typeface="Calibri"/>
              </a:rPr>
              <a:t>Generation deficit, megawatts (rounded). Sources: ZESCO; MoE.</a:t>
            </a:r>
          </a:p>
        </p:txBody>
      </p:sp>
      <p:sp>
        <p:nvSpPr>
          <p:cNvPr id="8" name="Rectangle 7"/>
          <p:cNvSpPr/>
          <p:nvPr/>
        </p:nvSpPr>
        <p:spPr>
          <a:xfrm>
            <a:off x="7543800" y="2103120"/>
            <a:ext cx="4160520" cy="41148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43800" y="2103120"/>
            <a:ext cx="109728" cy="411480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240280"/>
            <a:ext cx="3749039"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WHAT DROUGHT COSTS US</a:t>
            </a:r>
          </a:p>
        </p:txBody>
      </p:sp>
      <p:sp>
        <p:nvSpPr>
          <p:cNvPr id="11" name="TextBox 10"/>
          <p:cNvSpPr txBox="1"/>
          <p:nvPr/>
        </p:nvSpPr>
        <p:spPr>
          <a:xfrm>
            <a:off x="7772400" y="2606040"/>
            <a:ext cx="3749039" cy="502920"/>
          </a:xfrm>
          <a:prstGeom prst="rect">
            <a:avLst/>
          </a:prstGeom>
          <a:noFill/>
        </p:spPr>
        <p:txBody>
          <a:bodyPr wrap="square" anchor="t" lIns="0" rIns="0" tIns="0" bIns="0">
            <a:spAutoFit/>
          </a:bodyPr>
          <a:lstStyle/>
          <a:p>
            <a:pPr algn="l">
              <a:lnSpc>
                <a:spcPct val="125000"/>
              </a:lnSpc>
            </a:pPr>
            <a:r>
              <a:rPr sz="2600" b="1" i="0">
                <a:solidFill>
                  <a:srgbClr val="5C1212"/>
                </a:solidFill>
                <a:latin typeface="Georgia"/>
              </a:rPr>
              <a:t>84%</a:t>
            </a:r>
          </a:p>
        </p:txBody>
      </p:sp>
      <p:sp>
        <p:nvSpPr>
          <p:cNvPr id="12" name="TextBox 11"/>
          <p:cNvSpPr txBox="1"/>
          <p:nvPr/>
        </p:nvSpPr>
        <p:spPr>
          <a:xfrm>
            <a:off x="7772400" y="3108960"/>
            <a:ext cx="3749039" cy="292608"/>
          </a:xfrm>
          <a:prstGeom prst="rect">
            <a:avLst/>
          </a:prstGeom>
          <a:noFill/>
        </p:spPr>
        <p:txBody>
          <a:bodyPr wrap="square" anchor="t" lIns="0" rIns="0" tIns="0" bIns="0">
            <a:spAutoFit/>
          </a:bodyPr>
          <a:lstStyle/>
          <a:p>
            <a:pPr algn="l">
              <a:lnSpc>
                <a:spcPct val="125000"/>
              </a:lnSpc>
            </a:pPr>
            <a:r>
              <a:rPr sz="1000" b="0" i="0">
                <a:solidFill>
                  <a:srgbClr val="14181F"/>
                </a:solidFill>
                <a:latin typeface="Calibri"/>
              </a:rPr>
              <a:t>of generation  from hydropower</a:t>
            </a:r>
          </a:p>
        </p:txBody>
      </p:sp>
      <p:cxnSp>
        <p:nvCxnSpPr>
          <p:cNvPr id="13" name="Connector 12"/>
          <p:cNvCxnSpPr/>
          <p:nvPr/>
        </p:nvCxnSpPr>
        <p:spPr>
          <a:xfrm>
            <a:off x="7772400" y="3447288"/>
            <a:ext cx="347472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0" y="3520440"/>
            <a:ext cx="3749039" cy="502920"/>
          </a:xfrm>
          <a:prstGeom prst="rect">
            <a:avLst/>
          </a:prstGeom>
          <a:noFill/>
        </p:spPr>
        <p:txBody>
          <a:bodyPr wrap="square" anchor="t" lIns="0" rIns="0" tIns="0" bIns="0">
            <a:spAutoFit/>
          </a:bodyPr>
          <a:lstStyle/>
          <a:p>
            <a:pPr algn="l">
              <a:lnSpc>
                <a:spcPct val="125000"/>
              </a:lnSpc>
            </a:pPr>
            <a:r>
              <a:rPr sz="2600" b="1" i="0">
                <a:solidFill>
                  <a:srgbClr val="5C1212"/>
                </a:solidFill>
                <a:latin typeface="Georgia"/>
              </a:rPr>
              <a:t>21 hrs</a:t>
            </a:r>
          </a:p>
        </p:txBody>
      </p:sp>
      <p:sp>
        <p:nvSpPr>
          <p:cNvPr id="15" name="TextBox 14"/>
          <p:cNvSpPr txBox="1"/>
          <p:nvPr/>
        </p:nvSpPr>
        <p:spPr>
          <a:xfrm>
            <a:off x="7772400" y="4023360"/>
            <a:ext cx="3749039" cy="292608"/>
          </a:xfrm>
          <a:prstGeom prst="rect">
            <a:avLst/>
          </a:prstGeom>
          <a:noFill/>
        </p:spPr>
        <p:txBody>
          <a:bodyPr wrap="square" anchor="t" lIns="0" rIns="0" tIns="0" bIns="0">
            <a:spAutoFit/>
          </a:bodyPr>
          <a:lstStyle/>
          <a:p>
            <a:pPr algn="l">
              <a:lnSpc>
                <a:spcPct val="125000"/>
              </a:lnSpc>
            </a:pPr>
            <a:r>
              <a:rPr sz="1000" b="0" i="0">
                <a:solidFill>
                  <a:srgbClr val="14181F"/>
                </a:solidFill>
                <a:latin typeface="Calibri"/>
              </a:rPr>
              <a:t>of load-shedding  per day, late 2024</a:t>
            </a:r>
          </a:p>
        </p:txBody>
      </p:sp>
      <p:cxnSp>
        <p:nvCxnSpPr>
          <p:cNvPr id="16" name="Connector 15"/>
          <p:cNvCxnSpPr/>
          <p:nvPr/>
        </p:nvCxnSpPr>
        <p:spPr>
          <a:xfrm>
            <a:off x="7772400" y="4361688"/>
            <a:ext cx="347472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0" y="4434840"/>
            <a:ext cx="3749039" cy="502920"/>
          </a:xfrm>
          <a:prstGeom prst="rect">
            <a:avLst/>
          </a:prstGeom>
          <a:noFill/>
        </p:spPr>
        <p:txBody>
          <a:bodyPr wrap="square" anchor="t" lIns="0" rIns="0" tIns="0" bIns="0">
            <a:spAutoFit/>
          </a:bodyPr>
          <a:lstStyle/>
          <a:p>
            <a:pPr algn="l">
              <a:lnSpc>
                <a:spcPct val="125000"/>
              </a:lnSpc>
            </a:pPr>
            <a:r>
              <a:rPr sz="2600" b="1" i="0">
                <a:solidFill>
                  <a:srgbClr val="5C1212"/>
                </a:solidFill>
                <a:latin typeface="Georgia"/>
              </a:rPr>
              <a:t>$440M</a:t>
            </a:r>
          </a:p>
        </p:txBody>
      </p:sp>
      <p:sp>
        <p:nvSpPr>
          <p:cNvPr id="18" name="TextBox 17"/>
          <p:cNvSpPr txBox="1"/>
          <p:nvPr/>
        </p:nvSpPr>
        <p:spPr>
          <a:xfrm>
            <a:off x="7772400" y="4937759"/>
            <a:ext cx="3749039" cy="292608"/>
          </a:xfrm>
          <a:prstGeom prst="rect">
            <a:avLst/>
          </a:prstGeom>
          <a:noFill/>
        </p:spPr>
        <p:txBody>
          <a:bodyPr wrap="square" anchor="t" lIns="0" rIns="0" tIns="0" bIns="0">
            <a:spAutoFit/>
          </a:bodyPr>
          <a:lstStyle/>
          <a:p>
            <a:pPr algn="l">
              <a:lnSpc>
                <a:spcPct val="125000"/>
              </a:lnSpc>
            </a:pPr>
            <a:r>
              <a:rPr sz="1000" b="0" i="0">
                <a:solidFill>
                  <a:srgbClr val="14181F"/>
                </a:solidFill>
                <a:latin typeface="Calibri"/>
              </a:rPr>
              <a:t>in emergency  imports — 2015/16 alone</a:t>
            </a:r>
          </a:p>
        </p:txBody>
      </p:sp>
      <p:cxnSp>
        <p:nvCxnSpPr>
          <p:cNvPr id="19" name="Connector 18"/>
          <p:cNvCxnSpPr/>
          <p:nvPr/>
        </p:nvCxnSpPr>
        <p:spPr>
          <a:xfrm>
            <a:off x="7772400" y="5276088"/>
            <a:ext cx="347472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0" y="5349240"/>
            <a:ext cx="3749039" cy="502920"/>
          </a:xfrm>
          <a:prstGeom prst="rect">
            <a:avLst/>
          </a:prstGeom>
          <a:noFill/>
        </p:spPr>
        <p:txBody>
          <a:bodyPr wrap="square" anchor="t" lIns="0" rIns="0" tIns="0" bIns="0">
            <a:spAutoFit/>
          </a:bodyPr>
          <a:lstStyle/>
          <a:p>
            <a:pPr algn="l">
              <a:lnSpc>
                <a:spcPct val="125000"/>
              </a:lnSpc>
            </a:pPr>
            <a:r>
              <a:rPr sz="2600" b="1" i="0">
                <a:solidFill>
                  <a:srgbClr val="5C1212"/>
                </a:solidFill>
                <a:latin typeface="Georgia"/>
              </a:rPr>
              <a:t>~2%</a:t>
            </a:r>
          </a:p>
        </p:txBody>
      </p:sp>
      <p:sp>
        <p:nvSpPr>
          <p:cNvPr id="21" name="TextBox 20"/>
          <p:cNvSpPr txBox="1"/>
          <p:nvPr/>
        </p:nvSpPr>
        <p:spPr>
          <a:xfrm>
            <a:off x="7772400" y="5852159"/>
            <a:ext cx="3749039" cy="292608"/>
          </a:xfrm>
          <a:prstGeom prst="rect">
            <a:avLst/>
          </a:prstGeom>
          <a:noFill/>
        </p:spPr>
        <p:txBody>
          <a:bodyPr wrap="square" anchor="t" lIns="0" rIns="0" tIns="0" bIns="0">
            <a:spAutoFit/>
          </a:bodyPr>
          <a:lstStyle/>
          <a:p>
            <a:pPr algn="l">
              <a:lnSpc>
                <a:spcPct val="125000"/>
              </a:lnSpc>
            </a:pPr>
            <a:r>
              <a:rPr sz="1000" b="0" i="0">
                <a:solidFill>
                  <a:srgbClr val="14181F"/>
                </a:solidFill>
                <a:latin typeface="Calibri"/>
              </a:rPr>
              <a:t>of GDP lost  to 2024 blackouts (IMF)</a:t>
            </a:r>
          </a:p>
        </p:txBody>
      </p:sp>
      <p:cxnSp>
        <p:nvCxnSpPr>
          <p:cNvPr id="22" name="Connector 21"/>
          <p:cNvCxnSpPr/>
          <p:nvPr/>
        </p:nvCxnSpPr>
        <p:spPr>
          <a:xfrm>
            <a:off x="7772400" y="6190488"/>
            <a:ext cx="347472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6565392"/>
            <a:ext cx="6766560" cy="274320"/>
          </a:xfrm>
          <a:prstGeom prst="rect">
            <a:avLst/>
          </a:prstGeom>
          <a:noFill/>
        </p:spPr>
        <p:txBody>
          <a:bodyPr wrap="square" anchor="t" lIns="0" rIns="0" tIns="0" bIns="0">
            <a:spAutoFit/>
          </a:bodyPr>
          <a:lstStyle/>
          <a:p>
            <a:pPr algn="ctr">
              <a:lnSpc>
                <a:spcPct val="125000"/>
              </a:lnSpc>
            </a:pPr>
            <a:r>
              <a:rPr sz="1100" b="1" i="1">
                <a:solidFill>
                  <a:srgbClr val="5C1212"/>
                </a:solidFill>
                <a:latin typeface="Calibri"/>
              </a:rPr>
              <a:t>Three droughts in a decade. The trend, not the exception.</a:t>
            </a:r>
          </a:p>
        </p:txBody>
      </p:sp>
      <p:cxnSp>
        <p:nvCxnSpPr>
          <p:cNvPr id="24" name="Connector 23"/>
          <p:cNvCxnSpPr/>
          <p:nvPr/>
        </p:nvCxnSpPr>
        <p:spPr>
          <a:xfrm>
            <a:off x="548640" y="6565392"/>
            <a:ext cx="1106424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620256"/>
            <a:ext cx="9601200" cy="182880"/>
          </a:xfrm>
          <a:prstGeom prst="rect">
            <a:avLst/>
          </a:prstGeom>
          <a:noFill/>
        </p:spPr>
        <p:txBody>
          <a:bodyPr wrap="square" anchor="t" lIns="0" rIns="0" tIns="0" bIns="0">
            <a:spAutoFit/>
          </a:bodyPr>
          <a:lstStyle/>
          <a:p>
            <a:pPr algn="l">
              <a:lnSpc>
                <a:spcPct val="125000"/>
              </a:lnSpc>
            </a:pPr>
            <a:r>
              <a:rPr sz="800" b="0" i="1">
                <a:solidFill>
                  <a:srgbClr val="6B7078"/>
                </a:solidFill>
                <a:latin typeface="Calibri"/>
              </a:rPr>
              <a:t>SOURCES: ZESCO Annual Reports 2023-2024 · IMF Article IV Consultation — Zambia 2024 · Zambia 7NDP &amp; Vision 2030</a:t>
            </a:r>
          </a:p>
        </p:txBody>
      </p:sp>
      <p:sp>
        <p:nvSpPr>
          <p:cNvPr id="26" name="TextBox 25"/>
          <p:cNvSpPr txBox="1"/>
          <p:nvPr/>
        </p:nvSpPr>
        <p:spPr>
          <a:xfrm>
            <a:off x="10332720" y="6620256"/>
            <a:ext cx="1645920" cy="182880"/>
          </a:xfrm>
          <a:prstGeom prst="rect">
            <a:avLst/>
          </a:prstGeom>
          <a:noFill/>
        </p:spPr>
        <p:txBody>
          <a:bodyPr wrap="square" anchor="t" lIns="0" rIns="0" tIns="0" bIns="0">
            <a:spAutoFit/>
          </a:bodyPr>
          <a:lstStyle/>
          <a:p>
            <a:pPr algn="r">
              <a:lnSpc>
                <a:spcPct val="125000"/>
              </a:lnSpc>
            </a:pPr>
            <a:r>
              <a:rPr sz="800" b="1" i="0">
                <a:solidFill>
                  <a:srgbClr val="3A404A"/>
                </a:solidFill>
                <a:latin typeface="Calibri"/>
              </a:rPr>
              <a:t>4 / 8   E. MWABA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TextBox 1"/>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03  ·  SAFETY MASTERY</a:t>
            </a:r>
          </a:p>
        </p:txBody>
      </p:sp>
      <p:sp>
        <p:nvSpPr>
          <p:cNvPr id="3" name="TextBox 2"/>
          <p:cNvSpPr txBox="1"/>
          <p:nvPr/>
        </p:nvSpPr>
        <p:spPr>
          <a:xfrm>
            <a:off x="548640" y="731520"/>
            <a:ext cx="11064240" cy="777240"/>
          </a:xfrm>
          <a:prstGeom prst="rect">
            <a:avLst/>
          </a:prstGeom>
          <a:noFill/>
        </p:spPr>
        <p:txBody>
          <a:bodyPr wrap="square" anchor="t" lIns="0" rIns="0" tIns="0" bIns="0">
            <a:spAutoFit/>
          </a:bodyPr>
          <a:lstStyle/>
          <a:p>
            <a:pPr algn="l">
              <a:lnSpc>
                <a:spcPct val="105000"/>
              </a:lnSpc>
            </a:pPr>
            <a:r>
              <a:rPr sz="3000" b="1" i="0">
                <a:solidFill>
                  <a:srgbClr val="082618"/>
                </a:solidFill>
                <a:latin typeface="Georgia"/>
              </a:rPr>
              <a:t>Nuclear is the safest energy we don't yet use.</a:t>
            </a:r>
          </a:p>
        </p:txBody>
      </p:sp>
      <p:cxnSp>
        <p:nvCxnSpPr>
          <p:cNvPr id="4" name="Connector 3"/>
          <p:cNvCxnSpPr/>
          <p:nvPr/>
        </p:nvCxnSpPr>
        <p:spPr>
          <a:xfrm>
            <a:off x="548640" y="150876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27632"/>
            <a:ext cx="11064240" cy="365760"/>
          </a:xfrm>
          <a:prstGeom prst="rect">
            <a:avLst/>
          </a:prstGeom>
          <a:noFill/>
        </p:spPr>
        <p:txBody>
          <a:bodyPr wrap="square" anchor="t" lIns="0" rIns="0" tIns="0" bIns="0">
            <a:spAutoFit/>
          </a:bodyPr>
          <a:lstStyle/>
          <a:p>
            <a:pPr algn="l">
              <a:lnSpc>
                <a:spcPct val="125000"/>
              </a:lnSpc>
            </a:pPr>
            <a:r>
              <a:rPr sz="1300" b="0" i="1">
                <a:solidFill>
                  <a:srgbClr val="3A404A"/>
                </a:solidFill>
                <a:latin typeface="Calibri"/>
              </a:rPr>
              <a:t>A decade of U.S. DOE data — the playbook Zambia would inherit.</a:t>
            </a:r>
          </a:p>
        </p:txBody>
      </p:sp>
      <p:graphicFrame>
        <p:nvGraphicFramePr>
          <p:cNvPr id="6" name="Chart 5"/>
          <p:cNvGraphicFramePr>
            <a:graphicFrameLocks noGrp="1"/>
          </p:cNvGraphicFramePr>
          <p:nvPr/>
        </p:nvGraphicFramePr>
        <p:xfrm>
          <a:off x="548640" y="2103120"/>
          <a:ext cx="6766560" cy="4069080"/>
        </p:xfrm>
        <a:graphic>
          <a:graphicData uri="http://schemas.openxmlformats.org/drawingml/2006/chart">
            <c:chart xmlns:c="http://schemas.openxmlformats.org/drawingml/2006/chart" r:id="rId2"/>
          </a:graphicData>
        </a:graphic>
      </p:graphicFrame>
      <p:sp>
        <p:nvSpPr>
          <p:cNvPr id="7" name="TextBox 6"/>
          <p:cNvSpPr txBox="1"/>
          <p:nvPr/>
        </p:nvSpPr>
        <p:spPr>
          <a:xfrm>
            <a:off x="548640" y="6263640"/>
            <a:ext cx="6766560" cy="274320"/>
          </a:xfrm>
          <a:prstGeom prst="rect">
            <a:avLst/>
          </a:prstGeom>
          <a:noFill/>
        </p:spPr>
        <p:txBody>
          <a:bodyPr wrap="square" anchor="t" lIns="0" rIns="0" tIns="0" bIns="0">
            <a:spAutoFit/>
          </a:bodyPr>
          <a:lstStyle/>
          <a:p>
            <a:pPr algn="ctr">
              <a:lnSpc>
                <a:spcPct val="125000"/>
              </a:lnSpc>
            </a:pPr>
            <a:r>
              <a:rPr sz="900" b="0" i="1">
                <a:solidFill>
                  <a:srgbClr val="6B7078"/>
                </a:solidFill>
                <a:latin typeface="Calibri"/>
              </a:rPr>
              <a:t>Annual radiation exposure (mrem). Source: U.S. DOE REMS 2024.</a:t>
            </a:r>
          </a:p>
        </p:txBody>
      </p:sp>
      <p:sp>
        <p:nvSpPr>
          <p:cNvPr id="8" name="Rectangle 7"/>
          <p:cNvSpPr/>
          <p:nvPr/>
        </p:nvSpPr>
        <p:spPr>
          <a:xfrm>
            <a:off x="7543800" y="2103120"/>
            <a:ext cx="4160520" cy="178308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43800" y="2103120"/>
            <a:ext cx="109728" cy="178308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212848"/>
            <a:ext cx="3840480" cy="274320"/>
          </a:xfrm>
          <a:prstGeom prst="rect">
            <a:avLst/>
          </a:prstGeom>
          <a:noFill/>
        </p:spPr>
        <p:txBody>
          <a:bodyPr wrap="square" anchor="t" lIns="0" rIns="0" tIns="0" bIns="0">
            <a:spAutoFit/>
          </a:bodyPr>
          <a:lstStyle/>
          <a:p>
            <a:pPr algn="l">
              <a:lnSpc>
                <a:spcPct val="125000"/>
              </a:lnSpc>
            </a:pPr>
            <a:r>
              <a:rPr sz="1000" b="1" i="0">
                <a:solidFill>
                  <a:srgbClr val="CFA33C"/>
                </a:solidFill>
                <a:latin typeface="Calibri"/>
              </a:rPr>
              <a:t>OF THE FEDERAL LIMIT</a:t>
            </a:r>
          </a:p>
        </p:txBody>
      </p:sp>
      <p:sp>
        <p:nvSpPr>
          <p:cNvPr id="11" name="TextBox 10"/>
          <p:cNvSpPr txBox="1"/>
          <p:nvPr/>
        </p:nvSpPr>
        <p:spPr>
          <a:xfrm>
            <a:off x="7772400" y="2487168"/>
            <a:ext cx="3840480" cy="914400"/>
          </a:xfrm>
          <a:prstGeom prst="rect">
            <a:avLst/>
          </a:prstGeom>
          <a:noFill/>
        </p:spPr>
        <p:txBody>
          <a:bodyPr wrap="square" anchor="t" lIns="0" rIns="0" tIns="0" bIns="0">
            <a:spAutoFit/>
          </a:bodyPr>
          <a:lstStyle/>
          <a:p>
            <a:pPr algn="l">
              <a:lnSpc>
                <a:spcPct val="125000"/>
              </a:lnSpc>
            </a:pPr>
            <a:r>
              <a:rPr sz="7200" b="1" i="0">
                <a:solidFill>
                  <a:srgbClr val="FFFFFF"/>
                </a:solidFill>
                <a:latin typeface="Georgia"/>
              </a:rPr>
              <a:t>1.2%</a:t>
            </a:r>
          </a:p>
        </p:txBody>
      </p:sp>
      <p:sp>
        <p:nvSpPr>
          <p:cNvPr id="12" name="TextBox 11"/>
          <p:cNvSpPr txBox="1"/>
          <p:nvPr/>
        </p:nvSpPr>
        <p:spPr>
          <a:xfrm>
            <a:off x="7772400" y="3456432"/>
            <a:ext cx="3840480" cy="274320"/>
          </a:xfrm>
          <a:prstGeom prst="rect">
            <a:avLst/>
          </a:prstGeom>
          <a:noFill/>
        </p:spPr>
        <p:txBody>
          <a:bodyPr wrap="square" anchor="t" lIns="0" rIns="0" tIns="0" bIns="0">
            <a:spAutoFit/>
          </a:bodyPr>
          <a:lstStyle/>
          <a:p>
            <a:pPr algn="l">
              <a:lnSpc>
                <a:spcPct val="125000"/>
              </a:lnSpc>
            </a:pPr>
            <a:r>
              <a:rPr sz="1100" b="0" i="0">
                <a:solidFill>
                  <a:srgbClr val="CFE0D2"/>
                </a:solidFill>
                <a:latin typeface="Calibri"/>
              </a:rPr>
              <a:t>59.12 ÷ 5,000 mrem</a:t>
            </a:r>
          </a:p>
        </p:txBody>
      </p:sp>
      <p:sp>
        <p:nvSpPr>
          <p:cNvPr id="13" name="Rectangle 12"/>
          <p:cNvSpPr/>
          <p:nvPr/>
        </p:nvSpPr>
        <p:spPr>
          <a:xfrm>
            <a:off x="7543800" y="4023360"/>
            <a:ext cx="4160520" cy="676656"/>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4023360"/>
            <a:ext cx="73152" cy="676656"/>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4078224"/>
            <a:ext cx="3931920" cy="22860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SCALABLE</a:t>
            </a:r>
          </a:p>
        </p:txBody>
      </p:sp>
      <p:sp>
        <p:nvSpPr>
          <p:cNvPr id="16" name="TextBox 15"/>
          <p:cNvSpPr txBox="1"/>
          <p:nvPr/>
        </p:nvSpPr>
        <p:spPr>
          <a:xfrm>
            <a:off x="7726679" y="4315968"/>
            <a:ext cx="3931920" cy="384048"/>
          </a:xfrm>
          <a:prstGeom prst="rect">
            <a:avLst/>
          </a:prstGeom>
          <a:noFill/>
        </p:spPr>
        <p:txBody>
          <a:bodyPr wrap="square" anchor="t" lIns="0" rIns="0" tIns="0" bIns="0">
            <a:spAutoFit/>
          </a:bodyPr>
          <a:lstStyle/>
          <a:p>
            <a:pPr algn="l">
              <a:lnSpc>
                <a:spcPct val="120000"/>
              </a:lnSpc>
            </a:pPr>
            <a:r>
              <a:rPr sz="1000" b="0" i="0">
                <a:solidFill>
                  <a:srgbClr val="14181F"/>
                </a:solidFill>
                <a:latin typeface="Calibri"/>
              </a:rPr>
              <a:t>Workforce grew 1,133 → 1,167. Average dose did not move.</a:t>
            </a:r>
          </a:p>
        </p:txBody>
      </p:sp>
      <p:sp>
        <p:nvSpPr>
          <p:cNvPr id="17" name="Rectangle 16"/>
          <p:cNvSpPr/>
          <p:nvPr/>
        </p:nvSpPr>
        <p:spPr>
          <a:xfrm>
            <a:off x="7543800" y="4754880"/>
            <a:ext cx="4160520" cy="676656"/>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543800" y="4754880"/>
            <a:ext cx="73152" cy="676656"/>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79" y="4809744"/>
            <a:ext cx="3931920" cy="22860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CONTAINED</a:t>
            </a:r>
          </a:p>
        </p:txBody>
      </p:sp>
      <p:sp>
        <p:nvSpPr>
          <p:cNvPr id="20" name="TextBox 19"/>
          <p:cNvSpPr txBox="1"/>
          <p:nvPr/>
        </p:nvSpPr>
        <p:spPr>
          <a:xfrm>
            <a:off x="7726679" y="5047488"/>
            <a:ext cx="3931920" cy="384048"/>
          </a:xfrm>
          <a:prstGeom prst="rect">
            <a:avLst/>
          </a:prstGeom>
          <a:noFill/>
        </p:spPr>
        <p:txBody>
          <a:bodyPr wrap="square" anchor="t" lIns="0" rIns="0" tIns="0" bIns="0">
            <a:spAutoFit/>
          </a:bodyPr>
          <a:lstStyle/>
          <a:p>
            <a:pPr algn="l">
              <a:lnSpc>
                <a:spcPct val="120000"/>
              </a:lnSpc>
            </a:pPr>
            <a:r>
              <a:rPr sz="1000" b="0" i="0">
                <a:solidFill>
                  <a:srgbClr val="14181F"/>
                </a:solidFill>
                <a:latin typeface="Calibri"/>
              </a:rPr>
              <a:t>98% external (shielding). 2% internal (protocol).</a:t>
            </a:r>
          </a:p>
        </p:txBody>
      </p:sp>
      <p:sp>
        <p:nvSpPr>
          <p:cNvPr id="21" name="Rectangle 20"/>
          <p:cNvSpPr/>
          <p:nvPr/>
        </p:nvSpPr>
        <p:spPr>
          <a:xfrm>
            <a:off x="7543800" y="5486400"/>
            <a:ext cx="4160520" cy="676656"/>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43800" y="5486400"/>
            <a:ext cx="73152" cy="676656"/>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5541264"/>
            <a:ext cx="3931920" cy="22860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REPLICABLE</a:t>
            </a:r>
          </a:p>
        </p:txBody>
      </p:sp>
      <p:sp>
        <p:nvSpPr>
          <p:cNvPr id="24" name="TextBox 23"/>
          <p:cNvSpPr txBox="1"/>
          <p:nvPr/>
        </p:nvSpPr>
        <p:spPr>
          <a:xfrm>
            <a:off x="7726679" y="5779008"/>
            <a:ext cx="3931920" cy="384048"/>
          </a:xfrm>
          <a:prstGeom prst="rect">
            <a:avLst/>
          </a:prstGeom>
          <a:noFill/>
        </p:spPr>
        <p:txBody>
          <a:bodyPr wrap="square" anchor="t" lIns="0" rIns="0" tIns="0" bIns="0">
            <a:spAutoFit/>
          </a:bodyPr>
          <a:lstStyle/>
          <a:p>
            <a:pPr algn="l">
              <a:lnSpc>
                <a:spcPct val="120000"/>
              </a:lnSpc>
            </a:pPr>
            <a:r>
              <a:rPr sz="1000" b="0" i="0">
                <a:solidFill>
                  <a:srgbClr val="14181F"/>
                </a:solidFill>
                <a:latin typeface="Calibri"/>
              </a:rPr>
              <a:t>IAEA Milestones — the regulatory path Zambia (RPA → NSPA) is already on.</a:t>
            </a:r>
          </a:p>
        </p:txBody>
      </p:sp>
      <p:cxnSp>
        <p:nvCxnSpPr>
          <p:cNvPr id="25" name="Connector 24"/>
          <p:cNvCxnSpPr/>
          <p:nvPr/>
        </p:nvCxnSpPr>
        <p:spPr>
          <a:xfrm>
            <a:off x="548640" y="6565392"/>
            <a:ext cx="1106424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6620256"/>
            <a:ext cx="9601200" cy="182880"/>
          </a:xfrm>
          <a:prstGeom prst="rect">
            <a:avLst/>
          </a:prstGeom>
          <a:noFill/>
        </p:spPr>
        <p:txBody>
          <a:bodyPr wrap="square" anchor="t" lIns="0" rIns="0" tIns="0" bIns="0">
            <a:spAutoFit/>
          </a:bodyPr>
          <a:lstStyle/>
          <a:p>
            <a:pPr algn="l">
              <a:lnSpc>
                <a:spcPct val="125000"/>
              </a:lnSpc>
            </a:pPr>
            <a:r>
              <a:rPr sz="800" b="0" i="1">
                <a:solidFill>
                  <a:srgbClr val="6B7078"/>
                </a:solidFill>
                <a:latin typeface="Calibri"/>
              </a:rPr>
              <a:t>SOURCES: U.S. DOE REMS 2024 Report · IAEA Milestone Approach</a:t>
            </a:r>
          </a:p>
        </p:txBody>
      </p:sp>
      <p:sp>
        <p:nvSpPr>
          <p:cNvPr id="27" name="TextBox 26"/>
          <p:cNvSpPr txBox="1"/>
          <p:nvPr/>
        </p:nvSpPr>
        <p:spPr>
          <a:xfrm>
            <a:off x="10332720" y="6620256"/>
            <a:ext cx="1645920" cy="182880"/>
          </a:xfrm>
          <a:prstGeom prst="rect">
            <a:avLst/>
          </a:prstGeom>
          <a:noFill/>
        </p:spPr>
        <p:txBody>
          <a:bodyPr wrap="square" anchor="t" lIns="0" rIns="0" tIns="0" bIns="0">
            <a:spAutoFit/>
          </a:bodyPr>
          <a:lstStyle/>
          <a:p>
            <a:pPr algn="r">
              <a:lnSpc>
                <a:spcPct val="125000"/>
              </a:lnSpc>
            </a:pPr>
            <a:r>
              <a:rPr sz="800" b="1" i="0">
                <a:solidFill>
                  <a:srgbClr val="3A404A"/>
                </a:solidFill>
                <a:latin typeface="Calibri"/>
              </a:rPr>
              <a:t>5 / 8   E. MWABA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TextBox 1"/>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04  ·  STRATEGIC RESOURCE</a:t>
            </a:r>
          </a:p>
        </p:txBody>
      </p:sp>
      <p:sp>
        <p:nvSpPr>
          <p:cNvPr id="3" name="TextBox 2"/>
          <p:cNvSpPr txBox="1"/>
          <p:nvPr/>
        </p:nvSpPr>
        <p:spPr>
          <a:xfrm>
            <a:off x="548640" y="731520"/>
            <a:ext cx="11064240" cy="777240"/>
          </a:xfrm>
          <a:prstGeom prst="rect">
            <a:avLst/>
          </a:prstGeom>
          <a:noFill/>
        </p:spPr>
        <p:txBody>
          <a:bodyPr wrap="square" anchor="t" lIns="0" rIns="0" tIns="0" bIns="0">
            <a:spAutoFit/>
          </a:bodyPr>
          <a:lstStyle/>
          <a:p>
            <a:pPr algn="l">
              <a:lnSpc>
                <a:spcPct val="105000"/>
              </a:lnSpc>
            </a:pPr>
            <a:r>
              <a:rPr sz="3000" b="1" i="0">
                <a:solidFill>
                  <a:srgbClr val="082618"/>
                </a:solidFill>
                <a:latin typeface="Georgia"/>
              </a:rPr>
              <a:t>We are exporting our future.</a:t>
            </a:r>
          </a:p>
        </p:txBody>
      </p:sp>
      <p:cxnSp>
        <p:nvCxnSpPr>
          <p:cNvPr id="4" name="Connector 3"/>
          <p:cNvCxnSpPr/>
          <p:nvPr/>
        </p:nvCxnSpPr>
        <p:spPr>
          <a:xfrm>
            <a:off x="548640" y="150876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27632"/>
            <a:ext cx="11064240" cy="365760"/>
          </a:xfrm>
          <a:prstGeom prst="rect">
            <a:avLst/>
          </a:prstGeom>
          <a:noFill/>
        </p:spPr>
        <p:txBody>
          <a:bodyPr wrap="square" anchor="t" lIns="0" rIns="0" tIns="0" bIns="0">
            <a:spAutoFit/>
          </a:bodyPr>
          <a:lstStyle/>
          <a:p>
            <a:pPr algn="l">
              <a:lnSpc>
                <a:spcPct val="125000"/>
              </a:lnSpc>
            </a:pPr>
            <a:r>
              <a:rPr sz="1300" b="0" i="1">
                <a:solidFill>
                  <a:srgbClr val="3A404A"/>
                </a:solidFill>
                <a:latin typeface="Calibri"/>
              </a:rPr>
              <a:t>Zambian uranium fuels other countries' reactors. We import the electricity it makes.</a:t>
            </a:r>
          </a:p>
        </p:txBody>
      </p:sp>
      <p:sp>
        <p:nvSpPr>
          <p:cNvPr id="6" name="Rectangle 5"/>
          <p:cNvSpPr/>
          <p:nvPr/>
        </p:nvSpPr>
        <p:spPr>
          <a:xfrm>
            <a:off x="548640" y="2103120"/>
            <a:ext cx="5943600" cy="411480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03120"/>
            <a:ext cx="5943600" cy="9144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5486400" cy="274320"/>
          </a:xfrm>
          <a:prstGeom prst="rect">
            <a:avLst/>
          </a:prstGeom>
          <a:noFill/>
        </p:spPr>
        <p:txBody>
          <a:bodyPr wrap="square" anchor="t" lIns="0" rIns="0" tIns="0" bIns="0">
            <a:spAutoFit/>
          </a:bodyPr>
          <a:lstStyle/>
          <a:p>
            <a:pPr algn="l">
              <a:lnSpc>
                <a:spcPct val="125000"/>
              </a:lnSpc>
            </a:pPr>
            <a:r>
              <a:rPr sz="1000" b="1" i="0">
                <a:solidFill>
                  <a:srgbClr val="CFA33C"/>
                </a:solidFill>
                <a:latin typeface="Calibri"/>
              </a:rPr>
              <a:t>KNOWN URANIUM-BEARING ZONES  ·  ZAMBIA</a:t>
            </a:r>
          </a:p>
        </p:txBody>
      </p:sp>
      <p:sp>
        <p:nvSpPr>
          <p:cNvPr id="9" name="Rectangle 8"/>
          <p:cNvSpPr/>
          <p:nvPr/>
        </p:nvSpPr>
        <p:spPr>
          <a:xfrm>
            <a:off x="777240" y="2670048"/>
            <a:ext cx="5486400" cy="1005840"/>
          </a:xfrm>
          <a:prstGeom prst="rect">
            <a:avLst/>
          </a:prstGeom>
          <a:solidFill>
            <a:srgbClr val="1036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73152" cy="100584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743200"/>
            <a:ext cx="5303520" cy="274320"/>
          </a:xfrm>
          <a:prstGeom prst="rect">
            <a:avLst/>
          </a:prstGeom>
          <a:noFill/>
        </p:spPr>
        <p:txBody>
          <a:bodyPr wrap="square" anchor="t" lIns="0" rIns="0" tIns="0" bIns="0">
            <a:spAutoFit/>
          </a:bodyPr>
          <a:lstStyle/>
          <a:p>
            <a:pPr algn="l">
              <a:lnSpc>
                <a:spcPct val="125000"/>
              </a:lnSpc>
            </a:pPr>
            <a:r>
              <a:rPr sz="1300" b="1" i="0">
                <a:solidFill>
                  <a:srgbClr val="FFFFFF"/>
                </a:solidFill>
                <a:latin typeface="Georgia"/>
              </a:rPr>
              <a:t>LUMWANA  /  KANYEMBA</a:t>
            </a:r>
          </a:p>
        </p:txBody>
      </p:sp>
      <p:sp>
        <p:nvSpPr>
          <p:cNvPr id="12" name="TextBox 11"/>
          <p:cNvSpPr txBox="1"/>
          <p:nvPr/>
        </p:nvSpPr>
        <p:spPr>
          <a:xfrm>
            <a:off x="960120" y="2999232"/>
            <a:ext cx="5303520" cy="274320"/>
          </a:xfrm>
          <a:prstGeom prst="rect">
            <a:avLst/>
          </a:prstGeom>
          <a:noFill/>
        </p:spPr>
        <p:txBody>
          <a:bodyPr wrap="square" anchor="t" lIns="0" rIns="0" tIns="0" bIns="0">
            <a:spAutoFit/>
          </a:bodyPr>
          <a:lstStyle/>
          <a:p>
            <a:pPr algn="l">
              <a:lnSpc>
                <a:spcPct val="125000"/>
              </a:lnSpc>
            </a:pPr>
            <a:r>
              <a:rPr sz="1000" b="0" i="1">
                <a:solidFill>
                  <a:srgbClr val="CFA33C"/>
                </a:solidFill>
                <a:latin typeface="Calibri"/>
              </a:rPr>
              <a:t>North-Western Province</a:t>
            </a:r>
          </a:p>
        </p:txBody>
      </p:sp>
      <p:sp>
        <p:nvSpPr>
          <p:cNvPr id="13" name="TextBox 12"/>
          <p:cNvSpPr txBox="1"/>
          <p:nvPr/>
        </p:nvSpPr>
        <p:spPr>
          <a:xfrm>
            <a:off x="960120" y="3218688"/>
            <a:ext cx="5303520" cy="457200"/>
          </a:xfrm>
          <a:prstGeom prst="rect">
            <a:avLst/>
          </a:prstGeom>
          <a:noFill/>
        </p:spPr>
        <p:txBody>
          <a:bodyPr wrap="square" anchor="t" lIns="0" rIns="0" tIns="0" bIns="0">
            <a:spAutoFit/>
          </a:bodyPr>
          <a:lstStyle/>
          <a:p>
            <a:pPr algn="l">
              <a:lnSpc>
                <a:spcPct val="130000"/>
              </a:lnSpc>
            </a:pPr>
            <a:r>
              <a:rPr sz="1100" b="0" i="0">
                <a:solidFill>
                  <a:srgbClr val="D5E0D5"/>
                </a:solidFill>
                <a:latin typeface="Calibri"/>
              </a:rPr>
              <a:t>Uranium recovered as by-product of copper mining; stockpiled historically by Barrick.</a:t>
            </a:r>
          </a:p>
        </p:txBody>
      </p:sp>
      <p:sp>
        <p:nvSpPr>
          <p:cNvPr id="14" name="Rectangle 13"/>
          <p:cNvSpPr/>
          <p:nvPr/>
        </p:nvSpPr>
        <p:spPr>
          <a:xfrm>
            <a:off x="777240" y="3785615"/>
            <a:ext cx="5486400" cy="1005840"/>
          </a:xfrm>
          <a:prstGeom prst="rect">
            <a:avLst/>
          </a:prstGeom>
          <a:solidFill>
            <a:srgbClr val="1036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73152" cy="100584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58768"/>
            <a:ext cx="5303520" cy="274320"/>
          </a:xfrm>
          <a:prstGeom prst="rect">
            <a:avLst/>
          </a:prstGeom>
          <a:noFill/>
        </p:spPr>
        <p:txBody>
          <a:bodyPr wrap="square" anchor="t" lIns="0" rIns="0" tIns="0" bIns="0">
            <a:spAutoFit/>
          </a:bodyPr>
          <a:lstStyle/>
          <a:p>
            <a:pPr algn="l">
              <a:lnSpc>
                <a:spcPct val="125000"/>
              </a:lnSpc>
            </a:pPr>
            <a:r>
              <a:rPr sz="1300" b="1" i="0">
                <a:solidFill>
                  <a:srgbClr val="FFFFFF"/>
                </a:solidFill>
                <a:latin typeface="Georgia"/>
              </a:rPr>
              <a:t>GWEMBE  /  SIAVONGA BELT</a:t>
            </a:r>
          </a:p>
        </p:txBody>
      </p:sp>
      <p:sp>
        <p:nvSpPr>
          <p:cNvPr id="17" name="TextBox 16"/>
          <p:cNvSpPr txBox="1"/>
          <p:nvPr/>
        </p:nvSpPr>
        <p:spPr>
          <a:xfrm>
            <a:off x="960120" y="4114800"/>
            <a:ext cx="5303520" cy="274320"/>
          </a:xfrm>
          <a:prstGeom prst="rect">
            <a:avLst/>
          </a:prstGeom>
          <a:noFill/>
        </p:spPr>
        <p:txBody>
          <a:bodyPr wrap="square" anchor="t" lIns="0" rIns="0" tIns="0" bIns="0">
            <a:spAutoFit/>
          </a:bodyPr>
          <a:lstStyle/>
          <a:p>
            <a:pPr algn="l">
              <a:lnSpc>
                <a:spcPct val="125000"/>
              </a:lnSpc>
            </a:pPr>
            <a:r>
              <a:rPr sz="1000" b="0" i="1">
                <a:solidFill>
                  <a:srgbClr val="CFA33C"/>
                </a:solidFill>
                <a:latin typeface="Calibri"/>
              </a:rPr>
              <a:t>Southern Province</a:t>
            </a:r>
          </a:p>
        </p:txBody>
      </p:sp>
      <p:sp>
        <p:nvSpPr>
          <p:cNvPr id="18" name="TextBox 17"/>
          <p:cNvSpPr txBox="1"/>
          <p:nvPr/>
        </p:nvSpPr>
        <p:spPr>
          <a:xfrm>
            <a:off x="960120" y="4334255"/>
            <a:ext cx="5303520" cy="457200"/>
          </a:xfrm>
          <a:prstGeom prst="rect">
            <a:avLst/>
          </a:prstGeom>
          <a:noFill/>
        </p:spPr>
        <p:txBody>
          <a:bodyPr wrap="square" anchor="t" lIns="0" rIns="0" tIns="0" bIns="0">
            <a:spAutoFit/>
          </a:bodyPr>
          <a:lstStyle/>
          <a:p>
            <a:pPr algn="l">
              <a:lnSpc>
                <a:spcPct val="130000"/>
              </a:lnSpc>
            </a:pPr>
            <a:r>
              <a:rPr sz="1100" b="0" i="0">
                <a:solidFill>
                  <a:srgbClr val="D5E0D5"/>
                </a:solidFill>
                <a:latin typeface="Calibri"/>
              </a:rPr>
              <a:t>Karoo-type sandstone uranium — site of the 2024 Siavonga Baseline Survey.</a:t>
            </a:r>
          </a:p>
        </p:txBody>
      </p:sp>
      <p:sp>
        <p:nvSpPr>
          <p:cNvPr id="19" name="Rectangle 18"/>
          <p:cNvSpPr/>
          <p:nvPr/>
        </p:nvSpPr>
        <p:spPr>
          <a:xfrm>
            <a:off x="777240" y="4901183"/>
            <a:ext cx="5486400" cy="1005840"/>
          </a:xfrm>
          <a:prstGeom prst="rect">
            <a:avLst/>
          </a:prstGeom>
          <a:solidFill>
            <a:srgbClr val="1036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901183"/>
            <a:ext cx="73152" cy="100584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974336"/>
            <a:ext cx="5303520" cy="274320"/>
          </a:xfrm>
          <a:prstGeom prst="rect">
            <a:avLst/>
          </a:prstGeom>
          <a:noFill/>
        </p:spPr>
        <p:txBody>
          <a:bodyPr wrap="square" anchor="t" lIns="0" rIns="0" tIns="0" bIns="0">
            <a:spAutoFit/>
          </a:bodyPr>
          <a:lstStyle/>
          <a:p>
            <a:pPr algn="l">
              <a:lnSpc>
                <a:spcPct val="125000"/>
              </a:lnSpc>
            </a:pPr>
            <a:r>
              <a:rPr sz="1300" b="1" i="0">
                <a:solidFill>
                  <a:srgbClr val="FFFFFF"/>
                </a:solidFill>
                <a:latin typeface="Georgia"/>
              </a:rPr>
              <a:t>MUTANGA  /  DIBWE</a:t>
            </a:r>
          </a:p>
        </p:txBody>
      </p:sp>
      <p:sp>
        <p:nvSpPr>
          <p:cNvPr id="22" name="TextBox 21"/>
          <p:cNvSpPr txBox="1"/>
          <p:nvPr/>
        </p:nvSpPr>
        <p:spPr>
          <a:xfrm>
            <a:off x="960120" y="5230368"/>
            <a:ext cx="5303520" cy="274320"/>
          </a:xfrm>
          <a:prstGeom prst="rect">
            <a:avLst/>
          </a:prstGeom>
          <a:noFill/>
        </p:spPr>
        <p:txBody>
          <a:bodyPr wrap="square" anchor="t" lIns="0" rIns="0" tIns="0" bIns="0">
            <a:spAutoFit/>
          </a:bodyPr>
          <a:lstStyle/>
          <a:p>
            <a:pPr algn="l">
              <a:lnSpc>
                <a:spcPct val="125000"/>
              </a:lnSpc>
            </a:pPr>
            <a:r>
              <a:rPr sz="1000" b="0" i="1">
                <a:solidFill>
                  <a:srgbClr val="CFA33C"/>
                </a:solidFill>
                <a:latin typeface="Calibri"/>
              </a:rPr>
              <a:t>Southern Province</a:t>
            </a:r>
          </a:p>
        </p:txBody>
      </p:sp>
      <p:sp>
        <p:nvSpPr>
          <p:cNvPr id="23" name="TextBox 22"/>
          <p:cNvSpPr txBox="1"/>
          <p:nvPr/>
        </p:nvSpPr>
        <p:spPr>
          <a:xfrm>
            <a:off x="960120" y="5449823"/>
            <a:ext cx="5303520" cy="457200"/>
          </a:xfrm>
          <a:prstGeom prst="rect">
            <a:avLst/>
          </a:prstGeom>
          <a:noFill/>
        </p:spPr>
        <p:txBody>
          <a:bodyPr wrap="square" anchor="t" lIns="0" rIns="0" tIns="0" bIns="0">
            <a:spAutoFit/>
          </a:bodyPr>
          <a:lstStyle/>
          <a:p>
            <a:pPr algn="l">
              <a:lnSpc>
                <a:spcPct val="130000"/>
              </a:lnSpc>
            </a:pPr>
            <a:r>
              <a:rPr sz="1100" b="0" i="0">
                <a:solidFill>
                  <a:srgbClr val="D5E0D5"/>
                </a:solidFill>
                <a:latin typeface="Calibri"/>
              </a:rPr>
              <a:t>Defined uranium resource under historical GoviEx / African Energy permits.</a:t>
            </a:r>
          </a:p>
        </p:txBody>
      </p:sp>
      <p:sp>
        <p:nvSpPr>
          <p:cNvPr id="24" name="TextBox 23"/>
          <p:cNvSpPr txBox="1"/>
          <p:nvPr/>
        </p:nvSpPr>
        <p:spPr>
          <a:xfrm>
            <a:off x="6766560" y="2240280"/>
            <a:ext cx="4937760" cy="36576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THE  VALUE-CHAIN  PIVOT</a:t>
            </a:r>
          </a:p>
        </p:txBody>
      </p:sp>
      <p:cxnSp>
        <p:nvCxnSpPr>
          <p:cNvPr id="25" name="Connector 24"/>
          <p:cNvCxnSpPr/>
          <p:nvPr/>
        </p:nvCxnSpPr>
        <p:spPr>
          <a:xfrm>
            <a:off x="6766560" y="2542032"/>
            <a:ext cx="548640" cy="0"/>
          </a:xfrm>
          <a:prstGeom prst="line">
            <a:avLst/>
          </a:prstGeom>
          <a:ln w="19050">
            <a:solidFill>
              <a:srgbClr val="B54C1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766560" y="2743200"/>
            <a:ext cx="4937760" cy="274320"/>
          </a:xfrm>
          <a:prstGeom prst="rect">
            <a:avLst/>
          </a:prstGeom>
          <a:noFill/>
        </p:spPr>
        <p:txBody>
          <a:bodyPr wrap="square" anchor="t" lIns="0" rIns="0" tIns="0" bIns="0">
            <a:spAutoFit/>
          </a:bodyPr>
          <a:lstStyle/>
          <a:p>
            <a:pPr algn="l">
              <a:lnSpc>
                <a:spcPct val="125000"/>
              </a:lnSpc>
            </a:pPr>
            <a:r>
              <a:rPr sz="1100" b="1" i="0">
                <a:solidFill>
                  <a:srgbClr val="8C1F1F"/>
                </a:solidFill>
                <a:latin typeface="Calibri"/>
              </a:rPr>
              <a:t>TODAY</a:t>
            </a:r>
          </a:p>
        </p:txBody>
      </p:sp>
      <p:sp>
        <p:nvSpPr>
          <p:cNvPr id="27" name="TextBox 26"/>
          <p:cNvSpPr txBox="1"/>
          <p:nvPr/>
        </p:nvSpPr>
        <p:spPr>
          <a:xfrm>
            <a:off x="6766560" y="3017520"/>
            <a:ext cx="4937760" cy="1005840"/>
          </a:xfrm>
          <a:prstGeom prst="rect">
            <a:avLst/>
          </a:prstGeom>
          <a:noFill/>
        </p:spPr>
        <p:txBody>
          <a:bodyPr wrap="square" anchor="t" lIns="0" rIns="0" tIns="0" bIns="0">
            <a:spAutoFit/>
          </a:bodyPr>
          <a:lstStyle/>
          <a:p>
            <a:pPr algn="l">
              <a:lnSpc>
                <a:spcPct val="132000"/>
              </a:lnSpc>
            </a:pPr>
            <a:r>
              <a:rPr sz="1150" b="0" i="0">
                <a:solidFill>
                  <a:srgbClr val="14181F"/>
                </a:solidFill>
                <a:latin typeface="Calibri"/>
              </a:rPr>
              <a:t>Raw-mineral exporter. Uranium leaves Zambia for enrichment abroad; we capture wellhead value only.</a:t>
            </a:r>
          </a:p>
        </p:txBody>
      </p:sp>
      <p:sp>
        <p:nvSpPr>
          <p:cNvPr id="28" name="TextBox 27"/>
          <p:cNvSpPr txBox="1"/>
          <p:nvPr/>
        </p:nvSpPr>
        <p:spPr>
          <a:xfrm>
            <a:off x="6766560" y="3931920"/>
            <a:ext cx="4937760" cy="274320"/>
          </a:xfrm>
          <a:prstGeom prst="rect">
            <a:avLst/>
          </a:prstGeom>
          <a:noFill/>
        </p:spPr>
        <p:txBody>
          <a:bodyPr wrap="square" anchor="t" lIns="0" rIns="0" tIns="0" bIns="0">
            <a:spAutoFit/>
          </a:bodyPr>
          <a:lstStyle/>
          <a:p>
            <a:pPr algn="l">
              <a:lnSpc>
                <a:spcPct val="125000"/>
              </a:lnSpc>
            </a:pPr>
            <a:r>
              <a:rPr sz="1100" b="1" i="0">
                <a:solidFill>
                  <a:srgbClr val="082618"/>
                </a:solidFill>
                <a:latin typeface="Calibri"/>
              </a:rPr>
              <a:t>WITH NUCLEAR POWER</a:t>
            </a:r>
          </a:p>
        </p:txBody>
      </p:sp>
      <p:sp>
        <p:nvSpPr>
          <p:cNvPr id="29" name="TextBox 28"/>
          <p:cNvSpPr txBox="1"/>
          <p:nvPr/>
        </p:nvSpPr>
        <p:spPr>
          <a:xfrm>
            <a:off x="6766560" y="4206240"/>
            <a:ext cx="4937760" cy="1005840"/>
          </a:xfrm>
          <a:prstGeom prst="rect">
            <a:avLst/>
          </a:prstGeom>
          <a:noFill/>
        </p:spPr>
        <p:txBody>
          <a:bodyPr wrap="square" anchor="t" lIns="0" rIns="0" tIns="0" bIns="0">
            <a:spAutoFit/>
          </a:bodyPr>
          <a:lstStyle/>
          <a:p>
            <a:pPr algn="l">
              <a:lnSpc>
                <a:spcPct val="132000"/>
              </a:lnSpc>
            </a:pPr>
            <a:r>
              <a:rPr sz="1150" b="0" i="0">
                <a:solidFill>
                  <a:srgbClr val="14181F"/>
                </a:solidFill>
                <a:latin typeface="Calibri"/>
              </a:rPr>
              <a:t>High-tech energy producer. Domestic fuel feeds domestic baseload — mines, smelters, hospitals, factories.</a:t>
            </a:r>
          </a:p>
        </p:txBody>
      </p:sp>
      <p:sp>
        <p:nvSpPr>
          <p:cNvPr id="30" name="TextBox 29"/>
          <p:cNvSpPr txBox="1"/>
          <p:nvPr/>
        </p:nvSpPr>
        <p:spPr>
          <a:xfrm>
            <a:off x="6766560" y="5120640"/>
            <a:ext cx="4937760" cy="274320"/>
          </a:xfrm>
          <a:prstGeom prst="rect">
            <a:avLst/>
          </a:prstGeom>
          <a:noFill/>
        </p:spPr>
        <p:txBody>
          <a:bodyPr wrap="square" anchor="t" lIns="0" rIns="0" tIns="0" bIns="0">
            <a:spAutoFit/>
          </a:bodyPr>
          <a:lstStyle/>
          <a:p>
            <a:pPr algn="l">
              <a:lnSpc>
                <a:spcPct val="125000"/>
              </a:lnSpc>
            </a:pPr>
            <a:r>
              <a:rPr sz="1100" b="1" i="0">
                <a:solidFill>
                  <a:srgbClr val="B54C1A"/>
                </a:solidFill>
                <a:latin typeface="Calibri"/>
              </a:rPr>
              <a:t>STRATEGIC UPSIDE</a:t>
            </a:r>
          </a:p>
        </p:txBody>
      </p:sp>
      <p:sp>
        <p:nvSpPr>
          <p:cNvPr id="31" name="TextBox 30"/>
          <p:cNvSpPr txBox="1"/>
          <p:nvPr/>
        </p:nvSpPr>
        <p:spPr>
          <a:xfrm>
            <a:off x="6766560" y="5394959"/>
            <a:ext cx="4937760" cy="1005840"/>
          </a:xfrm>
          <a:prstGeom prst="rect">
            <a:avLst/>
          </a:prstGeom>
          <a:noFill/>
        </p:spPr>
        <p:txBody>
          <a:bodyPr wrap="square" anchor="t" lIns="0" rIns="0" tIns="0" bIns="0">
            <a:spAutoFit/>
          </a:bodyPr>
          <a:lstStyle/>
          <a:p>
            <a:pPr algn="l">
              <a:lnSpc>
                <a:spcPct val="132000"/>
              </a:lnSpc>
            </a:pPr>
            <a:r>
              <a:rPr sz="1150" b="0" i="0">
                <a:solidFill>
                  <a:srgbClr val="14181F"/>
                </a:solidFill>
                <a:latin typeface="Calibri"/>
              </a:rPr>
              <a:t>Import independence. Price-stable electricity. High-skill jobs anchored to a regulated, exportable competency.</a:t>
            </a:r>
          </a:p>
        </p:txBody>
      </p:sp>
      <p:cxnSp>
        <p:nvCxnSpPr>
          <p:cNvPr id="32" name="Connector 31"/>
          <p:cNvCxnSpPr/>
          <p:nvPr/>
        </p:nvCxnSpPr>
        <p:spPr>
          <a:xfrm>
            <a:off x="548640" y="6565392"/>
            <a:ext cx="1106424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620256"/>
            <a:ext cx="9601200" cy="182880"/>
          </a:xfrm>
          <a:prstGeom prst="rect">
            <a:avLst/>
          </a:prstGeom>
          <a:noFill/>
        </p:spPr>
        <p:txBody>
          <a:bodyPr wrap="square" anchor="t" lIns="0" rIns="0" tIns="0" bIns="0">
            <a:spAutoFit/>
          </a:bodyPr>
          <a:lstStyle/>
          <a:p>
            <a:pPr algn="l">
              <a:lnSpc>
                <a:spcPct val="125000"/>
              </a:lnSpc>
            </a:pPr>
            <a:r>
              <a:rPr sz="800" b="0" i="1">
                <a:solidFill>
                  <a:srgbClr val="6B7078"/>
                </a:solidFill>
                <a:latin typeface="Calibri"/>
              </a:rPr>
              <a:t>SOURCES: Zambia Ministry of Mines — Annual Mining Statistics · World Nuclear Association Country Profiles (2024) · Zambia 7NDP &amp; Vision 2030</a:t>
            </a:r>
          </a:p>
        </p:txBody>
      </p:sp>
      <p:sp>
        <p:nvSpPr>
          <p:cNvPr id="34" name="TextBox 33"/>
          <p:cNvSpPr txBox="1"/>
          <p:nvPr/>
        </p:nvSpPr>
        <p:spPr>
          <a:xfrm>
            <a:off x="10332720" y="6620256"/>
            <a:ext cx="1645920" cy="182880"/>
          </a:xfrm>
          <a:prstGeom prst="rect">
            <a:avLst/>
          </a:prstGeom>
          <a:noFill/>
        </p:spPr>
        <p:txBody>
          <a:bodyPr wrap="square" anchor="t" lIns="0" rIns="0" tIns="0" bIns="0">
            <a:spAutoFit/>
          </a:bodyPr>
          <a:lstStyle/>
          <a:p>
            <a:pPr algn="r">
              <a:lnSpc>
                <a:spcPct val="125000"/>
              </a:lnSpc>
            </a:pPr>
            <a:r>
              <a:rPr sz="800" b="1" i="0">
                <a:solidFill>
                  <a:srgbClr val="3A404A"/>
                </a:solidFill>
                <a:latin typeface="Calibri"/>
              </a:rPr>
              <a:t>6 / 8   E. MWABA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sp>
        <p:nvSpPr>
          <p:cNvPr id="2" name="TextBox 1"/>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05  ·  ECONOMIC IMPACT</a:t>
            </a:r>
          </a:p>
        </p:txBody>
      </p:sp>
      <p:sp>
        <p:nvSpPr>
          <p:cNvPr id="3" name="TextBox 2"/>
          <p:cNvSpPr txBox="1"/>
          <p:nvPr/>
        </p:nvSpPr>
        <p:spPr>
          <a:xfrm>
            <a:off x="548640" y="731520"/>
            <a:ext cx="11064240" cy="777240"/>
          </a:xfrm>
          <a:prstGeom prst="rect">
            <a:avLst/>
          </a:prstGeom>
          <a:noFill/>
        </p:spPr>
        <p:txBody>
          <a:bodyPr wrap="square" anchor="t" lIns="0" rIns="0" tIns="0" bIns="0">
            <a:spAutoFit/>
          </a:bodyPr>
          <a:lstStyle/>
          <a:p>
            <a:pPr algn="l">
              <a:lnSpc>
                <a:spcPct val="105000"/>
              </a:lnSpc>
            </a:pPr>
            <a:r>
              <a:rPr sz="3000" b="1" i="0">
                <a:solidFill>
                  <a:srgbClr val="082618"/>
                </a:solidFill>
                <a:latin typeface="Georgia"/>
              </a:rPr>
              <a:t>3 million tonnes of copper need a power source. Rain isn't it.</a:t>
            </a:r>
          </a:p>
        </p:txBody>
      </p:sp>
      <p:cxnSp>
        <p:nvCxnSpPr>
          <p:cNvPr id="4" name="Connector 3"/>
          <p:cNvCxnSpPr/>
          <p:nvPr/>
        </p:nvCxnSpPr>
        <p:spPr>
          <a:xfrm>
            <a:off x="548640" y="150876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27632"/>
            <a:ext cx="11064240" cy="365760"/>
          </a:xfrm>
          <a:prstGeom prst="rect">
            <a:avLst/>
          </a:prstGeom>
          <a:noFill/>
        </p:spPr>
        <p:txBody>
          <a:bodyPr wrap="square" anchor="t" lIns="0" rIns="0" tIns="0" bIns="0">
            <a:spAutoFit/>
          </a:bodyPr>
          <a:lstStyle/>
          <a:p>
            <a:pPr algn="l">
              <a:lnSpc>
                <a:spcPct val="125000"/>
              </a:lnSpc>
            </a:pPr>
            <a:r>
              <a:rPr sz="1300" b="0" i="1">
                <a:solidFill>
                  <a:srgbClr val="3A404A"/>
                </a:solidFill>
                <a:latin typeface="Calibri"/>
              </a:rPr>
              <a:t>Zambia's flagship industrial target needs high-density, weather-proof power — now.</a:t>
            </a:r>
          </a:p>
        </p:txBody>
      </p:sp>
      <p:graphicFrame>
        <p:nvGraphicFramePr>
          <p:cNvPr id="6" name="Chart 5"/>
          <p:cNvGraphicFramePr>
            <a:graphicFrameLocks noGrp="1"/>
          </p:cNvGraphicFramePr>
          <p:nvPr/>
        </p:nvGraphicFramePr>
        <p:xfrm>
          <a:off x="548640" y="2103120"/>
          <a:ext cx="6766560" cy="3017520"/>
        </p:xfrm>
        <a:graphic>
          <a:graphicData uri="http://schemas.openxmlformats.org/drawingml/2006/chart">
            <c:chart xmlns:c="http://schemas.openxmlformats.org/drawingml/2006/chart" r:id="rId2"/>
          </a:graphicData>
        </a:graphic>
      </p:graphicFrame>
      <p:sp>
        <p:nvSpPr>
          <p:cNvPr id="7" name="TextBox 6"/>
          <p:cNvSpPr txBox="1"/>
          <p:nvPr/>
        </p:nvSpPr>
        <p:spPr>
          <a:xfrm>
            <a:off x="548640" y="5166360"/>
            <a:ext cx="6766560" cy="274320"/>
          </a:xfrm>
          <a:prstGeom prst="rect">
            <a:avLst/>
          </a:prstGeom>
          <a:noFill/>
        </p:spPr>
        <p:txBody>
          <a:bodyPr wrap="square" anchor="t" lIns="0" rIns="0" tIns="0" bIns="0">
            <a:spAutoFit/>
          </a:bodyPr>
          <a:lstStyle/>
          <a:p>
            <a:pPr algn="ctr">
              <a:lnSpc>
                <a:spcPct val="125000"/>
              </a:lnSpc>
            </a:pPr>
            <a:r>
              <a:rPr sz="900" b="0" i="1">
                <a:solidFill>
                  <a:srgbClr val="6B7078"/>
                </a:solidFill>
                <a:latin typeface="Calibri"/>
              </a:rPr>
              <a:t>Continuous power for copper mining at ~3,500 kWh/t. Sources: MoMMD; ZESCO.</a:t>
            </a:r>
          </a:p>
        </p:txBody>
      </p:sp>
      <p:sp>
        <p:nvSpPr>
          <p:cNvPr id="8" name="Rectangle 7"/>
          <p:cNvSpPr/>
          <p:nvPr/>
        </p:nvSpPr>
        <p:spPr>
          <a:xfrm>
            <a:off x="548640" y="5532120"/>
            <a:ext cx="6766560" cy="960120"/>
          </a:xfrm>
          <a:prstGeom prst="rect">
            <a:avLst/>
          </a:prstGeom>
          <a:solidFill>
            <a:srgbClr val="082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5532120"/>
            <a:ext cx="91440" cy="96012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623560"/>
            <a:ext cx="6400800" cy="274320"/>
          </a:xfrm>
          <a:prstGeom prst="rect">
            <a:avLst/>
          </a:prstGeom>
          <a:noFill/>
        </p:spPr>
        <p:txBody>
          <a:bodyPr wrap="square" anchor="t" lIns="0" rIns="0" tIns="0" bIns="0">
            <a:spAutoFit/>
          </a:bodyPr>
          <a:lstStyle/>
          <a:p>
            <a:pPr algn="l">
              <a:lnSpc>
                <a:spcPct val="125000"/>
              </a:lnSpc>
            </a:pPr>
            <a:r>
              <a:rPr sz="1000" b="1" i="0">
                <a:solidFill>
                  <a:srgbClr val="CFA33C"/>
                </a:solidFill>
                <a:latin typeface="Calibri"/>
              </a:rPr>
              <a:t>MEANWHILE,  ACROSS  AFRICA</a:t>
            </a:r>
          </a:p>
        </p:txBody>
      </p:sp>
      <p:sp>
        <p:nvSpPr>
          <p:cNvPr id="11" name="TextBox 10"/>
          <p:cNvSpPr txBox="1"/>
          <p:nvPr/>
        </p:nvSpPr>
        <p:spPr>
          <a:xfrm>
            <a:off x="777240" y="5897880"/>
            <a:ext cx="6400800" cy="548640"/>
          </a:xfrm>
          <a:prstGeom prst="rect">
            <a:avLst/>
          </a:prstGeom>
          <a:noFill/>
        </p:spPr>
        <p:txBody>
          <a:bodyPr wrap="square" anchor="t" lIns="0" rIns="0" tIns="0" bIns="0">
            <a:spAutoFit/>
          </a:bodyPr>
          <a:lstStyle/>
          <a:p>
            <a:pPr algn="l">
              <a:lnSpc>
                <a:spcPct val="130000"/>
              </a:lnSpc>
            </a:pPr>
            <a:r>
              <a:rPr sz="1100" b="1" i="0">
                <a:solidFill>
                  <a:srgbClr val="D97933"/>
                </a:solidFill>
                <a:latin typeface="Calibri"/>
              </a:rPr>
              <a:t>Egypt: </a:t>
            </a:r>
            <a:r>
              <a:rPr sz="1100" b="0" i="0">
                <a:solidFill>
                  <a:srgbClr val="FFFFFF"/>
                </a:solidFill>
                <a:latin typeface="Calibri"/>
              </a:rPr>
              <a:t>4 reactors under construction at El Dabaa.  </a:t>
            </a:r>
            <a:r>
              <a:rPr sz="1100" b="1" i="0">
                <a:solidFill>
                  <a:srgbClr val="D97933"/>
                </a:solidFill>
                <a:latin typeface="Calibri"/>
              </a:rPr>
              <a:t>Kenya: </a:t>
            </a:r>
            <a:r>
              <a:rPr sz="1100" b="0" i="0">
                <a:solidFill>
                  <a:srgbClr val="FFFFFF"/>
                </a:solidFill>
                <a:latin typeface="Calibri"/>
              </a:rPr>
              <a:t>first criticality target 2034.  </a:t>
            </a:r>
            <a:r>
              <a:rPr sz="1100" b="1" i="0">
                <a:solidFill>
                  <a:srgbClr val="D97933"/>
                </a:solidFill>
                <a:latin typeface="Calibri"/>
              </a:rPr>
              <a:t>South Africa: </a:t>
            </a:r>
            <a:r>
              <a:rPr sz="1100" b="0" i="0">
                <a:solidFill>
                  <a:srgbClr val="FFFFFF"/>
                </a:solidFill>
                <a:latin typeface="Calibri"/>
              </a:rPr>
              <a:t>Koeberg, 40+ years.</a:t>
            </a:r>
          </a:p>
        </p:txBody>
      </p:sp>
      <p:sp>
        <p:nvSpPr>
          <p:cNvPr id="12" name="Rectangle 11"/>
          <p:cNvSpPr/>
          <p:nvPr/>
        </p:nvSpPr>
        <p:spPr>
          <a:xfrm>
            <a:off x="7543800" y="2103120"/>
            <a:ext cx="4160520" cy="43891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43800" y="2103120"/>
            <a:ext cx="109728" cy="438912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2240280"/>
            <a:ext cx="3749039" cy="274320"/>
          </a:xfrm>
          <a:prstGeom prst="rect">
            <a:avLst/>
          </a:prstGeom>
          <a:noFill/>
        </p:spPr>
        <p:txBody>
          <a:bodyPr wrap="square" anchor="t" lIns="0" rIns="0" tIns="0" bIns="0">
            <a:spAutoFit/>
          </a:bodyPr>
          <a:lstStyle/>
          <a:p>
            <a:pPr algn="l">
              <a:lnSpc>
                <a:spcPct val="125000"/>
              </a:lnSpc>
            </a:pPr>
            <a:r>
              <a:rPr sz="1000" b="1" i="0">
                <a:solidFill>
                  <a:srgbClr val="B54C1A"/>
                </a:solidFill>
                <a:latin typeface="Calibri"/>
              </a:rPr>
              <a:t>WHAT THIS MEANS</a:t>
            </a:r>
          </a:p>
        </p:txBody>
      </p:sp>
      <p:sp>
        <p:nvSpPr>
          <p:cNvPr id="15" name="TextBox 14"/>
          <p:cNvSpPr txBox="1"/>
          <p:nvPr/>
        </p:nvSpPr>
        <p:spPr>
          <a:xfrm>
            <a:off x="7772400" y="2606040"/>
            <a:ext cx="3749039" cy="27432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MINING INTENSITY</a:t>
            </a:r>
          </a:p>
        </p:txBody>
      </p:sp>
      <p:sp>
        <p:nvSpPr>
          <p:cNvPr id="16" name="TextBox 15"/>
          <p:cNvSpPr txBox="1"/>
          <p:nvPr/>
        </p:nvSpPr>
        <p:spPr>
          <a:xfrm>
            <a:off x="7772400" y="2862072"/>
            <a:ext cx="3749039" cy="777240"/>
          </a:xfrm>
          <a:prstGeom prst="rect">
            <a:avLst/>
          </a:prstGeom>
          <a:noFill/>
        </p:spPr>
        <p:txBody>
          <a:bodyPr wrap="square" anchor="t" lIns="0" rIns="0" tIns="0" bIns="0">
            <a:spAutoFit/>
          </a:bodyPr>
          <a:lstStyle/>
          <a:p>
            <a:pPr algn="l">
              <a:lnSpc>
                <a:spcPct val="130000"/>
              </a:lnSpc>
            </a:pPr>
            <a:r>
              <a:rPr sz="1050" b="0" i="0">
                <a:solidFill>
                  <a:srgbClr val="14181F"/>
                </a:solidFill>
                <a:latin typeface="Calibri"/>
              </a:rPr>
              <a:t>Deep-level copper needs ~1,200 MW continuous at full 3 Mt output — hydropower cannot deliver this reliably.</a:t>
            </a:r>
          </a:p>
        </p:txBody>
      </p:sp>
      <p:sp>
        <p:nvSpPr>
          <p:cNvPr id="17" name="TextBox 16"/>
          <p:cNvSpPr txBox="1"/>
          <p:nvPr/>
        </p:nvSpPr>
        <p:spPr>
          <a:xfrm>
            <a:off x="7772400" y="3566160"/>
            <a:ext cx="3749039" cy="27432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COST STABILITY</a:t>
            </a:r>
          </a:p>
        </p:txBody>
      </p:sp>
      <p:sp>
        <p:nvSpPr>
          <p:cNvPr id="18" name="TextBox 17"/>
          <p:cNvSpPr txBox="1"/>
          <p:nvPr/>
        </p:nvSpPr>
        <p:spPr>
          <a:xfrm>
            <a:off x="7772400" y="3822192"/>
            <a:ext cx="3749039" cy="777240"/>
          </a:xfrm>
          <a:prstGeom prst="rect">
            <a:avLst/>
          </a:prstGeom>
          <a:noFill/>
        </p:spPr>
        <p:txBody>
          <a:bodyPr wrap="square" anchor="t" lIns="0" rIns="0" tIns="0" bIns="0">
            <a:spAutoFit/>
          </a:bodyPr>
          <a:lstStyle/>
          <a:p>
            <a:pPr algn="l">
              <a:lnSpc>
                <a:spcPct val="130000"/>
              </a:lnSpc>
            </a:pPr>
            <a:r>
              <a:rPr sz="1050" b="0" i="0">
                <a:solidFill>
                  <a:srgbClr val="14181F"/>
                </a:solidFill>
                <a:latin typeface="Calibri"/>
              </a:rPr>
              <a:t>Nuclear fuel costs are decade-stable. Drought imports cost us $0.50+/kWh in emergency buys.</a:t>
            </a:r>
          </a:p>
        </p:txBody>
      </p:sp>
      <p:sp>
        <p:nvSpPr>
          <p:cNvPr id="19" name="TextBox 18"/>
          <p:cNvSpPr txBox="1"/>
          <p:nvPr/>
        </p:nvSpPr>
        <p:spPr>
          <a:xfrm>
            <a:off x="7772400" y="4526280"/>
            <a:ext cx="3749039" cy="27432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STRATEGIC FIT</a:t>
            </a:r>
          </a:p>
        </p:txBody>
      </p:sp>
      <p:sp>
        <p:nvSpPr>
          <p:cNvPr id="20" name="TextBox 19"/>
          <p:cNvSpPr txBox="1"/>
          <p:nvPr/>
        </p:nvSpPr>
        <p:spPr>
          <a:xfrm>
            <a:off x="7772400" y="4782312"/>
            <a:ext cx="3749039" cy="777240"/>
          </a:xfrm>
          <a:prstGeom prst="rect">
            <a:avLst/>
          </a:prstGeom>
          <a:noFill/>
        </p:spPr>
        <p:txBody>
          <a:bodyPr wrap="square" anchor="t" lIns="0" rIns="0" tIns="0" bIns="0">
            <a:spAutoFit/>
          </a:bodyPr>
          <a:lstStyle/>
          <a:p>
            <a:pPr algn="l">
              <a:lnSpc>
                <a:spcPct val="130000"/>
              </a:lnSpc>
            </a:pPr>
            <a:r>
              <a:rPr sz="1050" b="0" i="0">
                <a:solidFill>
                  <a:srgbClr val="14181F"/>
                </a:solidFill>
                <a:latin typeface="Calibri"/>
              </a:rPr>
              <a:t>Zambia's 2,000 MW nuclear target maps almost exactly onto the 3 Mt copper power gap.</a:t>
            </a:r>
          </a:p>
        </p:txBody>
      </p:sp>
      <p:sp>
        <p:nvSpPr>
          <p:cNvPr id="21" name="TextBox 20"/>
          <p:cNvSpPr txBox="1"/>
          <p:nvPr/>
        </p:nvSpPr>
        <p:spPr>
          <a:xfrm>
            <a:off x="7772400" y="5486400"/>
            <a:ext cx="3749039" cy="274320"/>
          </a:xfrm>
          <a:prstGeom prst="rect">
            <a:avLst/>
          </a:prstGeom>
          <a:noFill/>
        </p:spPr>
        <p:txBody>
          <a:bodyPr wrap="square" anchor="t" lIns="0" rIns="0" tIns="0" bIns="0">
            <a:spAutoFit/>
          </a:bodyPr>
          <a:lstStyle/>
          <a:p>
            <a:pPr algn="l">
              <a:lnSpc>
                <a:spcPct val="125000"/>
              </a:lnSpc>
            </a:pPr>
            <a:r>
              <a:rPr sz="1000" b="1" i="0">
                <a:solidFill>
                  <a:srgbClr val="082618"/>
                </a:solidFill>
                <a:latin typeface="Calibri"/>
              </a:rPr>
              <a:t>THE WINDOW</a:t>
            </a:r>
          </a:p>
        </p:txBody>
      </p:sp>
      <p:sp>
        <p:nvSpPr>
          <p:cNvPr id="22" name="TextBox 21"/>
          <p:cNvSpPr txBox="1"/>
          <p:nvPr/>
        </p:nvSpPr>
        <p:spPr>
          <a:xfrm>
            <a:off x="7772400" y="5742432"/>
            <a:ext cx="3749039" cy="777240"/>
          </a:xfrm>
          <a:prstGeom prst="rect">
            <a:avLst/>
          </a:prstGeom>
          <a:noFill/>
        </p:spPr>
        <p:txBody>
          <a:bodyPr wrap="square" anchor="t" lIns="0" rIns="0" tIns="0" bIns="0">
            <a:spAutoFit/>
          </a:bodyPr>
          <a:lstStyle/>
          <a:p>
            <a:pPr algn="l">
              <a:lnSpc>
                <a:spcPct val="130000"/>
              </a:lnSpc>
            </a:pPr>
            <a:r>
              <a:rPr sz="1050" b="0" i="0">
                <a:solidFill>
                  <a:srgbClr val="14181F"/>
                </a:solidFill>
                <a:latin typeface="Calibri"/>
              </a:rPr>
              <a:t>Egypt's first reactor enters service ~2026-28. If we wait, we buy that power from them.</a:t>
            </a:r>
          </a:p>
        </p:txBody>
      </p:sp>
      <p:cxnSp>
        <p:nvCxnSpPr>
          <p:cNvPr id="23" name="Connector 22"/>
          <p:cNvCxnSpPr/>
          <p:nvPr/>
        </p:nvCxnSpPr>
        <p:spPr>
          <a:xfrm>
            <a:off x="548640" y="6565392"/>
            <a:ext cx="11064240" cy="0"/>
          </a:xfrm>
          <a:prstGeom prst="line">
            <a:avLst/>
          </a:prstGeom>
          <a:ln w="6350">
            <a:solidFill>
              <a:srgbClr val="C2B8A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620256"/>
            <a:ext cx="9601200" cy="182880"/>
          </a:xfrm>
          <a:prstGeom prst="rect">
            <a:avLst/>
          </a:prstGeom>
          <a:noFill/>
        </p:spPr>
        <p:txBody>
          <a:bodyPr wrap="square" anchor="t" lIns="0" rIns="0" tIns="0" bIns="0">
            <a:spAutoFit/>
          </a:bodyPr>
          <a:lstStyle/>
          <a:p>
            <a:pPr algn="l">
              <a:lnSpc>
                <a:spcPct val="125000"/>
              </a:lnSpc>
            </a:pPr>
            <a:r>
              <a:rPr sz="800" b="0" i="1">
                <a:solidFill>
                  <a:srgbClr val="6B7078"/>
                </a:solidFill>
                <a:latin typeface="Calibri"/>
              </a:rPr>
              <a:t>SOURCES: Zambia Ministry of Mines — Annual Mining Statistics · World Nuclear Association Country Profiles (2024) · ZESCO Annual Reports 2023-2024</a:t>
            </a:r>
          </a:p>
        </p:txBody>
      </p:sp>
      <p:sp>
        <p:nvSpPr>
          <p:cNvPr id="25" name="TextBox 24"/>
          <p:cNvSpPr txBox="1"/>
          <p:nvPr/>
        </p:nvSpPr>
        <p:spPr>
          <a:xfrm>
            <a:off x="10332720" y="6620256"/>
            <a:ext cx="1645920" cy="182880"/>
          </a:xfrm>
          <a:prstGeom prst="rect">
            <a:avLst/>
          </a:prstGeom>
          <a:noFill/>
        </p:spPr>
        <p:txBody>
          <a:bodyPr wrap="square" anchor="t" lIns="0" rIns="0" tIns="0" bIns="0">
            <a:spAutoFit/>
          </a:bodyPr>
          <a:lstStyle/>
          <a:p>
            <a:pPr algn="r">
              <a:lnSpc>
                <a:spcPct val="125000"/>
              </a:lnSpc>
            </a:pPr>
            <a:r>
              <a:rPr sz="800" b="1" i="0">
                <a:solidFill>
                  <a:srgbClr val="3A404A"/>
                </a:solidFill>
                <a:latin typeface="Calibri"/>
              </a:rPr>
              <a:t>7 / 8   E. MWABA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2618"/>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
            <a:ext cx="12191695" cy="36576"/>
          </a:xfrm>
          <a:prstGeom prst="rect">
            <a:avLst/>
          </a:prstGeom>
          <a:solidFill>
            <a:srgbClr val="CFA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9144000" cy="274320"/>
          </a:xfrm>
          <a:prstGeom prst="rect">
            <a:avLst/>
          </a:prstGeom>
          <a:noFill/>
        </p:spPr>
        <p:txBody>
          <a:bodyPr wrap="square" anchor="t" lIns="0" rIns="0" tIns="0" bIns="0">
            <a:spAutoFit/>
          </a:bodyPr>
          <a:lstStyle/>
          <a:p>
            <a:pPr algn="l">
              <a:lnSpc>
                <a:spcPct val="125000"/>
              </a:lnSpc>
            </a:pPr>
            <a:r>
              <a:rPr sz="1100" b="1" i="0">
                <a:solidFill>
                  <a:srgbClr val="CFA33C"/>
                </a:solidFill>
                <a:latin typeface="Calibri"/>
              </a:rPr>
              <a:t>06  ·  THE ASK</a:t>
            </a:r>
          </a:p>
        </p:txBody>
      </p:sp>
      <p:sp>
        <p:nvSpPr>
          <p:cNvPr id="5" name="TextBox 4"/>
          <p:cNvSpPr txBox="1"/>
          <p:nvPr/>
        </p:nvSpPr>
        <p:spPr>
          <a:xfrm>
            <a:off x="548640" y="731520"/>
            <a:ext cx="11064240" cy="822960"/>
          </a:xfrm>
          <a:prstGeom prst="rect">
            <a:avLst/>
          </a:prstGeom>
          <a:noFill/>
        </p:spPr>
        <p:txBody>
          <a:bodyPr wrap="square" anchor="t" lIns="0" rIns="0" tIns="0" bIns="0">
            <a:spAutoFit/>
          </a:bodyPr>
          <a:lstStyle/>
          <a:p>
            <a:pPr algn="l">
              <a:lnSpc>
                <a:spcPct val="125000"/>
              </a:lnSpc>
            </a:pPr>
            <a:r>
              <a:rPr sz="3600" b="1" i="0">
                <a:solidFill>
                  <a:srgbClr val="FFFFFF"/>
                </a:solidFill>
                <a:latin typeface="Georgia"/>
              </a:rPr>
              <a:t>Three decisions. One generation.</a:t>
            </a:r>
          </a:p>
        </p:txBody>
      </p:sp>
      <p:cxnSp>
        <p:nvCxnSpPr>
          <p:cNvPr id="6" name="Connector 5"/>
          <p:cNvCxnSpPr/>
          <p:nvPr/>
        </p:nvCxnSpPr>
        <p:spPr>
          <a:xfrm>
            <a:off x="548640" y="1554480"/>
            <a:ext cx="731520" cy="0"/>
          </a:xfrm>
          <a:prstGeom prst="line">
            <a:avLst/>
          </a:prstGeom>
          <a:ln w="25400">
            <a:solidFill>
              <a:srgbClr val="B54C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1691640"/>
            <a:ext cx="11064240" cy="365760"/>
          </a:xfrm>
          <a:prstGeom prst="rect">
            <a:avLst/>
          </a:prstGeom>
          <a:noFill/>
        </p:spPr>
        <p:txBody>
          <a:bodyPr wrap="square" anchor="t" lIns="0" rIns="0" tIns="0" bIns="0">
            <a:spAutoFit/>
          </a:bodyPr>
          <a:lstStyle/>
          <a:p>
            <a:pPr algn="l">
              <a:lnSpc>
                <a:spcPct val="125000"/>
              </a:lnSpc>
            </a:pPr>
            <a:r>
              <a:rPr sz="1300" b="0" i="1">
                <a:solidFill>
                  <a:srgbClr val="CFE0D2"/>
                </a:solidFill>
                <a:latin typeface="Calibri"/>
              </a:rPr>
              <a:t>From radiological fear to industrial mastery — the choice is legislative, not technical.</a:t>
            </a:r>
          </a:p>
        </p:txBody>
      </p:sp>
      <p:sp>
        <p:nvSpPr>
          <p:cNvPr id="8" name="Rectangle 7"/>
          <p:cNvSpPr/>
          <p:nvPr/>
        </p:nvSpPr>
        <p:spPr>
          <a:xfrm>
            <a:off x="548640" y="2423160"/>
            <a:ext cx="1051560" cy="109728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697479"/>
            <a:ext cx="1051560" cy="640080"/>
          </a:xfrm>
          <a:prstGeom prst="rect">
            <a:avLst/>
          </a:prstGeom>
          <a:noFill/>
        </p:spPr>
        <p:txBody>
          <a:bodyPr wrap="square" anchor="t" lIns="0" rIns="0" tIns="0" bIns="0">
            <a:spAutoFit/>
          </a:bodyPr>
          <a:lstStyle/>
          <a:p>
            <a:pPr algn="ctr">
              <a:lnSpc>
                <a:spcPct val="125000"/>
              </a:lnSpc>
            </a:pPr>
            <a:r>
              <a:rPr sz="3600" b="1" i="0">
                <a:solidFill>
                  <a:srgbClr val="082618"/>
                </a:solidFill>
                <a:latin typeface="Georgia"/>
              </a:rPr>
              <a:t>01</a:t>
            </a:r>
          </a:p>
        </p:txBody>
      </p:sp>
      <p:sp>
        <p:nvSpPr>
          <p:cNvPr id="10" name="Rectangle 9"/>
          <p:cNvSpPr/>
          <p:nvPr/>
        </p:nvSpPr>
        <p:spPr>
          <a:xfrm>
            <a:off x="1600200" y="2423160"/>
            <a:ext cx="10058400" cy="1097280"/>
          </a:xfrm>
          <a:prstGeom prst="rect">
            <a:avLst/>
          </a:prstGeom>
          <a:solidFill>
            <a:srgbClr val="0C3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00200" y="2423160"/>
            <a:ext cx="10058400" cy="36576"/>
          </a:xfrm>
          <a:prstGeom prst="rect">
            <a:avLst/>
          </a:prstGeom>
          <a:solidFill>
            <a:srgbClr val="CFA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2532888"/>
            <a:ext cx="9601200" cy="320040"/>
          </a:xfrm>
          <a:prstGeom prst="rect">
            <a:avLst/>
          </a:prstGeom>
          <a:noFill/>
        </p:spPr>
        <p:txBody>
          <a:bodyPr wrap="square" anchor="t" lIns="0" rIns="0" tIns="0" bIns="0">
            <a:spAutoFit/>
          </a:bodyPr>
          <a:lstStyle/>
          <a:p>
            <a:pPr algn="l">
              <a:lnSpc>
                <a:spcPct val="125000"/>
              </a:lnSpc>
            </a:pPr>
            <a:r>
              <a:rPr sz="1800" b="1" i="0">
                <a:solidFill>
                  <a:srgbClr val="CFA33C"/>
                </a:solidFill>
                <a:latin typeface="Georgia"/>
              </a:rPr>
              <a:t>ENACT</a:t>
            </a:r>
          </a:p>
        </p:txBody>
      </p:sp>
      <p:sp>
        <p:nvSpPr>
          <p:cNvPr id="13" name="TextBox 12"/>
          <p:cNvSpPr txBox="1"/>
          <p:nvPr/>
        </p:nvSpPr>
        <p:spPr>
          <a:xfrm>
            <a:off x="1828800" y="2880360"/>
            <a:ext cx="9601200" cy="594360"/>
          </a:xfrm>
          <a:prstGeom prst="rect">
            <a:avLst/>
          </a:prstGeom>
          <a:noFill/>
        </p:spPr>
        <p:txBody>
          <a:bodyPr wrap="square" anchor="t" lIns="0" rIns="0" tIns="0" bIns="0">
            <a:spAutoFit/>
          </a:bodyPr>
          <a:lstStyle/>
          <a:p>
            <a:pPr algn="l">
              <a:lnSpc>
                <a:spcPct val="130000"/>
              </a:lnSpc>
            </a:pPr>
            <a:r>
              <a:rPr sz="1200" b="0" i="0">
                <a:solidFill>
                  <a:srgbClr val="FFFFFF"/>
                </a:solidFill>
                <a:latin typeface="Calibri"/>
              </a:rPr>
              <a:t>Pass the Nuclear Bill — empower NSPA as an IAEA-aligned independent regulator. Without this signature, every other step is symbolic.</a:t>
            </a:r>
          </a:p>
        </p:txBody>
      </p:sp>
      <p:sp>
        <p:nvSpPr>
          <p:cNvPr id="14" name="Rectangle 13"/>
          <p:cNvSpPr/>
          <p:nvPr/>
        </p:nvSpPr>
        <p:spPr>
          <a:xfrm>
            <a:off x="548640" y="3611880"/>
            <a:ext cx="1051560" cy="109728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886200"/>
            <a:ext cx="1051560" cy="640080"/>
          </a:xfrm>
          <a:prstGeom prst="rect">
            <a:avLst/>
          </a:prstGeom>
          <a:noFill/>
        </p:spPr>
        <p:txBody>
          <a:bodyPr wrap="square" anchor="t" lIns="0" rIns="0" tIns="0" bIns="0">
            <a:spAutoFit/>
          </a:bodyPr>
          <a:lstStyle/>
          <a:p>
            <a:pPr algn="ctr">
              <a:lnSpc>
                <a:spcPct val="125000"/>
              </a:lnSpc>
            </a:pPr>
            <a:r>
              <a:rPr sz="3600" b="1" i="0">
                <a:solidFill>
                  <a:srgbClr val="082618"/>
                </a:solidFill>
                <a:latin typeface="Georgia"/>
              </a:rPr>
              <a:t>02</a:t>
            </a:r>
          </a:p>
        </p:txBody>
      </p:sp>
      <p:sp>
        <p:nvSpPr>
          <p:cNvPr id="16" name="Rectangle 15"/>
          <p:cNvSpPr/>
          <p:nvPr/>
        </p:nvSpPr>
        <p:spPr>
          <a:xfrm>
            <a:off x="1600200" y="3611880"/>
            <a:ext cx="10058400" cy="1097280"/>
          </a:xfrm>
          <a:prstGeom prst="rect">
            <a:avLst/>
          </a:prstGeom>
          <a:solidFill>
            <a:srgbClr val="0C3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600200" y="3611880"/>
            <a:ext cx="10058400" cy="36576"/>
          </a:xfrm>
          <a:prstGeom prst="rect">
            <a:avLst/>
          </a:prstGeom>
          <a:solidFill>
            <a:srgbClr val="CFA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0" y="3721608"/>
            <a:ext cx="9601200" cy="320040"/>
          </a:xfrm>
          <a:prstGeom prst="rect">
            <a:avLst/>
          </a:prstGeom>
          <a:noFill/>
        </p:spPr>
        <p:txBody>
          <a:bodyPr wrap="square" anchor="t" lIns="0" rIns="0" tIns="0" bIns="0">
            <a:spAutoFit/>
          </a:bodyPr>
          <a:lstStyle/>
          <a:p>
            <a:pPr algn="l">
              <a:lnSpc>
                <a:spcPct val="125000"/>
              </a:lnSpc>
            </a:pPr>
            <a:r>
              <a:rPr sz="1800" b="1" i="0">
                <a:solidFill>
                  <a:srgbClr val="CFA33C"/>
                </a:solidFill>
                <a:latin typeface="Georgia"/>
              </a:rPr>
              <a:t>EQUIP</a:t>
            </a:r>
          </a:p>
        </p:txBody>
      </p:sp>
      <p:sp>
        <p:nvSpPr>
          <p:cNvPr id="19" name="TextBox 18"/>
          <p:cNvSpPr txBox="1"/>
          <p:nvPr/>
        </p:nvSpPr>
        <p:spPr>
          <a:xfrm>
            <a:off x="1828800" y="4069080"/>
            <a:ext cx="9601200" cy="594360"/>
          </a:xfrm>
          <a:prstGeom prst="rect">
            <a:avLst/>
          </a:prstGeom>
          <a:noFill/>
        </p:spPr>
        <p:txBody>
          <a:bodyPr wrap="square" anchor="t" lIns="0" rIns="0" tIns="0" bIns="0">
            <a:spAutoFit/>
          </a:bodyPr>
          <a:lstStyle/>
          <a:p>
            <a:pPr algn="l">
              <a:lnSpc>
                <a:spcPct val="130000"/>
              </a:lnSpc>
            </a:pPr>
            <a:r>
              <a:rPr sz="1200" b="0" i="0">
                <a:solidFill>
                  <a:srgbClr val="FFFFFF"/>
                </a:solidFill>
                <a:latin typeface="Calibri"/>
              </a:rPr>
              <a:t>Fund radiological monitoring nationwide — starting in Siavonga. No Zambian community should live next to uranium without instruments.</a:t>
            </a:r>
          </a:p>
        </p:txBody>
      </p:sp>
      <p:sp>
        <p:nvSpPr>
          <p:cNvPr id="20" name="Rectangle 19"/>
          <p:cNvSpPr/>
          <p:nvPr/>
        </p:nvSpPr>
        <p:spPr>
          <a:xfrm>
            <a:off x="548640" y="4800600"/>
            <a:ext cx="1051560" cy="1097280"/>
          </a:xfrm>
          <a:prstGeom prst="rect">
            <a:avLst/>
          </a:prstGeom>
          <a:solidFill>
            <a:srgbClr val="B54C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074920"/>
            <a:ext cx="1051560" cy="640080"/>
          </a:xfrm>
          <a:prstGeom prst="rect">
            <a:avLst/>
          </a:prstGeom>
          <a:noFill/>
        </p:spPr>
        <p:txBody>
          <a:bodyPr wrap="square" anchor="t" lIns="0" rIns="0" tIns="0" bIns="0">
            <a:spAutoFit/>
          </a:bodyPr>
          <a:lstStyle/>
          <a:p>
            <a:pPr algn="ctr">
              <a:lnSpc>
                <a:spcPct val="125000"/>
              </a:lnSpc>
            </a:pPr>
            <a:r>
              <a:rPr sz="3600" b="1" i="0">
                <a:solidFill>
                  <a:srgbClr val="082618"/>
                </a:solidFill>
                <a:latin typeface="Georgia"/>
              </a:rPr>
              <a:t>03</a:t>
            </a:r>
          </a:p>
        </p:txBody>
      </p:sp>
      <p:sp>
        <p:nvSpPr>
          <p:cNvPr id="22" name="Rectangle 21"/>
          <p:cNvSpPr/>
          <p:nvPr/>
        </p:nvSpPr>
        <p:spPr>
          <a:xfrm>
            <a:off x="1600200" y="4800600"/>
            <a:ext cx="10058400" cy="1097280"/>
          </a:xfrm>
          <a:prstGeom prst="rect">
            <a:avLst/>
          </a:prstGeom>
          <a:solidFill>
            <a:srgbClr val="0C3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00200" y="4800600"/>
            <a:ext cx="10058400" cy="36576"/>
          </a:xfrm>
          <a:prstGeom prst="rect">
            <a:avLst/>
          </a:prstGeom>
          <a:solidFill>
            <a:srgbClr val="CFA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28800" y="4910328"/>
            <a:ext cx="9601200" cy="320040"/>
          </a:xfrm>
          <a:prstGeom prst="rect">
            <a:avLst/>
          </a:prstGeom>
          <a:noFill/>
        </p:spPr>
        <p:txBody>
          <a:bodyPr wrap="square" anchor="t" lIns="0" rIns="0" tIns="0" bIns="0">
            <a:spAutoFit/>
          </a:bodyPr>
          <a:lstStyle/>
          <a:p>
            <a:pPr algn="l">
              <a:lnSpc>
                <a:spcPct val="125000"/>
              </a:lnSpc>
            </a:pPr>
            <a:r>
              <a:rPr sz="1800" b="1" i="0">
                <a:solidFill>
                  <a:srgbClr val="CFA33C"/>
                </a:solidFill>
                <a:latin typeface="Georgia"/>
              </a:rPr>
              <a:t>EXECUTE</a:t>
            </a:r>
          </a:p>
        </p:txBody>
      </p:sp>
      <p:sp>
        <p:nvSpPr>
          <p:cNvPr id="25" name="TextBox 24"/>
          <p:cNvSpPr txBox="1"/>
          <p:nvPr/>
        </p:nvSpPr>
        <p:spPr>
          <a:xfrm>
            <a:off x="1828800" y="5257800"/>
            <a:ext cx="9601200" cy="594360"/>
          </a:xfrm>
          <a:prstGeom prst="rect">
            <a:avLst/>
          </a:prstGeom>
          <a:noFill/>
        </p:spPr>
        <p:txBody>
          <a:bodyPr wrap="square" anchor="t" lIns="0" rIns="0" tIns="0" bIns="0">
            <a:spAutoFit/>
          </a:bodyPr>
          <a:lstStyle/>
          <a:p>
            <a:pPr algn="l">
              <a:lnSpc>
                <a:spcPct val="130000"/>
              </a:lnSpc>
            </a:pPr>
            <a:r>
              <a:rPr sz="1200" b="0" i="0">
                <a:solidFill>
                  <a:srgbClr val="FFFFFF"/>
                </a:solidFill>
                <a:latin typeface="Calibri"/>
              </a:rPr>
              <a:t>Greenlight CNST and SMR pre-feasibility — partner with ROSATOM, NuScale, or Westinghouse using the agreements Cabinet already approved in 2020.</a:t>
            </a:r>
          </a:p>
        </p:txBody>
      </p:sp>
      <p:cxnSp>
        <p:nvCxnSpPr>
          <p:cNvPr id="26" name="Connector 25"/>
          <p:cNvCxnSpPr/>
          <p:nvPr/>
        </p:nvCxnSpPr>
        <p:spPr>
          <a:xfrm>
            <a:off x="548640" y="6080760"/>
            <a:ext cx="11064240" cy="0"/>
          </a:xfrm>
          <a:prstGeom prst="line">
            <a:avLst/>
          </a:prstGeom>
          <a:ln w="6350">
            <a:solidFill>
              <a:srgbClr val="33554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172200"/>
            <a:ext cx="11064240" cy="411480"/>
          </a:xfrm>
          <a:prstGeom prst="rect">
            <a:avLst/>
          </a:prstGeom>
          <a:noFill/>
        </p:spPr>
        <p:txBody>
          <a:bodyPr wrap="square" anchor="t" lIns="0" rIns="0" tIns="0" bIns="0">
            <a:spAutoFit/>
          </a:bodyPr>
          <a:lstStyle/>
          <a:p>
            <a:pPr algn="ctr">
              <a:lnSpc>
                <a:spcPct val="115000"/>
              </a:lnSpc>
            </a:pPr>
            <a:r>
              <a:rPr sz="1400" b="0" i="1">
                <a:solidFill>
                  <a:srgbClr val="FFFFFF"/>
                </a:solidFill>
                <a:latin typeface="Georgia"/>
              </a:rPr>
              <a:t>The fuel is under our feet. </a:t>
            </a:r>
            <a:r>
              <a:rPr sz="1400" b="0" i="1">
                <a:solidFill>
                  <a:srgbClr val="FFFFFF"/>
                </a:solidFill>
                <a:latin typeface="Georgia"/>
              </a:rPr>
              <a:t>The expertise is on our payroll. </a:t>
            </a:r>
            <a:r>
              <a:rPr sz="1600" b="1" i="0">
                <a:solidFill>
                  <a:srgbClr val="CFA33C"/>
                </a:solidFill>
                <a:latin typeface="Georgia"/>
              </a:rPr>
              <a:t>Sign the bill.</a:t>
            </a:r>
          </a:p>
        </p:txBody>
      </p:sp>
      <p:sp>
        <p:nvSpPr>
          <p:cNvPr id="28" name="TextBox 27"/>
          <p:cNvSpPr txBox="1"/>
          <p:nvPr/>
        </p:nvSpPr>
        <p:spPr>
          <a:xfrm>
            <a:off x="548640" y="6583680"/>
            <a:ext cx="11064240" cy="228600"/>
          </a:xfrm>
          <a:prstGeom prst="rect">
            <a:avLst/>
          </a:prstGeom>
          <a:noFill/>
        </p:spPr>
        <p:txBody>
          <a:bodyPr wrap="square" anchor="t" lIns="0" rIns="0" tIns="0" bIns="0">
            <a:spAutoFit/>
          </a:bodyPr>
          <a:lstStyle/>
          <a:p>
            <a:pPr algn="ctr">
              <a:lnSpc>
                <a:spcPct val="125000"/>
              </a:lnSpc>
            </a:pPr>
            <a:r>
              <a:rPr sz="800" b="0" i="1">
                <a:solidFill>
                  <a:srgbClr val="8B9790"/>
                </a:solidFill>
                <a:latin typeface="Calibri"/>
              </a:rPr>
              <a:t>8 / 8   ·   E. MWABA   ·   SOURCES: DOE REMS 2024 · IAEA Milestones · 7NDP &amp; Vision 2030 · ZESCO · MoMMD · Siavonga 2024 · IMF · WNA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