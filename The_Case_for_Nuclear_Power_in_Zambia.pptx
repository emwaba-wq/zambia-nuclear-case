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Levelised Cost of Electricity (USD/MWh)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LCOE (USD/MWh)</c:v>
                </c:pt>
              </c:strCache>
            </c:strRef>
          </c:tx>
          <c:dPt>
            <c:idx val="0"/>
            <c:spPr>
              <a:solidFill>
                <a:srgbClr val="8BA3B8"/>
              </a:solidFill>
              <a:ln>
                <a:noFill/>
              </a:ln>
            </c:spPr>
          </c:dPt>
          <c:dPt>
            <c:idx val="1"/>
            <c:spPr>
              <a:solidFill>
                <a:srgbClr val="8BA3B8"/>
              </a:solidFill>
              <a:ln>
                <a:noFill/>
              </a:ln>
            </c:spPr>
          </c:dPt>
          <c:dPt>
            <c:idx val="2"/>
            <c:spPr>
              <a:solidFill>
                <a:srgbClr val="14A085"/>
              </a:solidFill>
              <a:ln>
                <a:noFill/>
              </a:ln>
            </c:spPr>
          </c:dPt>
          <c:dPt>
            <c:idx val="3"/>
            <c:spPr>
              <a:solidFill>
                <a:srgbClr val="8BA3B8"/>
              </a:solidFill>
              <a:ln>
                <a:noFill/>
              </a:ln>
            </c:spPr>
          </c:dPt>
          <c:dPt>
            <c:idx val="4"/>
            <c:spPr>
              <a:solidFill>
                <a:srgbClr val="8BA3B8"/>
              </a:solidFill>
              <a:ln>
                <a:noFill/>
              </a:ln>
            </c:spPr>
          </c:dPt>
          <c:cat>
            <c:strRef>
              <c:f>Sheet1!$A$2:$A$6</c:f>
              <c:strCache>
                <c:ptCount val="5"/>
                <c:pt idx="0">
                  <c:v>Coal</c:v>
                </c:pt>
                <c:pt idx="1">
                  <c:v>Gas</c:v>
                </c:pt>
                <c:pt idx="2">
                  <c:v>Nuclear</c:v>
                </c:pt>
                <c:pt idx="3">
                  <c:v>Solar+Storage</c:v>
                </c:pt>
                <c:pt idx="4">
                  <c:v>Hydro (new)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110</c:v>
                </c:pt>
                <c:pt idx="1">
                  <c:v>95</c:v>
                </c:pt>
                <c:pt idx="2">
                  <c:v>80</c:v>
                </c:pt>
                <c:pt idx="3">
                  <c:v>145</c:v>
                </c:pt>
                <c:pt idx="4">
                  <c:v>90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FFFFF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FFFFF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-1371600"/>
            <a:ext cx="5943600" cy="59436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914400"/>
            <a:ext cx="1463040" cy="1463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040" y="82296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D4A017"/>
                </a:solidFill>
                <a:latin typeface="Calibri"/>
              </a:rPr>
              <a:t>NATIONAL ENERGY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280160"/>
            <a:ext cx="7772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Zambia Needs</a:t>
            </a:r>
          </a:p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Nuclear Power.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3246120"/>
            <a:ext cx="6217920" cy="731520"/>
          </a:xfrm>
          <a:prstGeom prst="rect">
            <a:avLst/>
          </a:prstGeom>
          <a:solidFill>
            <a:srgbClr val="0D7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291840"/>
            <a:ext cx="5943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FFFFFF"/>
                </a:solidFill>
                <a:latin typeface="Calibri"/>
              </a:rPr>
              <a:t>The Big Idea: Zambia's chronic power deficit is strangling economic growth — nuclear power is the reliable, scalable, low-carbon solution that hydro and solar alone cannot provide.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45262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8BA3B8"/>
                </a:solidFill>
                <a:latin typeface="Calibri"/>
              </a:rPr>
              <a:t>A Case Built on Evidence · Economics · Science · Policy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D4A017"/>
                </a:solidFill>
                <a:latin typeface="Calibri"/>
              </a:rPr>
              <a:t>ACT I —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FFFFFF"/>
                </a:solidFill>
                <a:latin typeface="Georgia"/>
              </a:rPr>
              <a:t>Zambia Is Running on Empty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278892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2788920" cy="10972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-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417320"/>
            <a:ext cx="640080" cy="640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2148840"/>
            <a:ext cx="2606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>
                <a:solidFill>
                  <a:srgbClr val="C0392B"/>
                </a:solidFill>
                <a:latin typeface="Georgia"/>
              </a:rPr>
              <a:t>8–16 hrs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83464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B1D2E"/>
                </a:solidFill>
                <a:latin typeface="Calibri"/>
              </a:rPr>
              <a:t>Daily Load-Shedding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4612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BA3B8"/>
                </a:solidFill>
                <a:latin typeface="Calibri"/>
              </a:rPr>
              <a:t>Households &amp; industry cut off daily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188720"/>
            <a:ext cx="278892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46120" y="1188720"/>
            <a:ext cx="2788920" cy="109728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2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79" y="1417320"/>
            <a:ext cx="640080" cy="64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337560" y="2148840"/>
            <a:ext cx="2606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>
                <a:solidFill>
                  <a:srgbClr val="E67E22"/>
                </a:solidFill>
                <a:latin typeface="Georgia"/>
              </a:rPr>
              <a:t>43%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283464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B1D2E"/>
                </a:solidFill>
                <a:latin typeface="Calibri"/>
              </a:rPr>
              <a:t>Electricity Access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324612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BA3B8"/>
                </a:solidFill>
                <a:latin typeface="Calibri"/>
              </a:rPr>
              <a:t>Among the lowest in Southern Africa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188720"/>
            <a:ext cx="278892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1188720"/>
            <a:ext cx="2788920" cy="109728"/>
          </a:xfrm>
          <a:prstGeom prst="rect">
            <a:avLst/>
          </a:prstGeom>
          <a:solidFill>
            <a:srgbClr val="0D7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-2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79" y="1417320"/>
            <a:ext cx="640080" cy="64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309359" y="2148840"/>
            <a:ext cx="2606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>
                <a:solidFill>
                  <a:srgbClr val="0D7377"/>
                </a:solidFill>
                <a:latin typeface="Georgia"/>
              </a:rPr>
              <a:t>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283464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B1D2E"/>
                </a:solidFill>
                <a:latin typeface="Calibri"/>
              </a:rPr>
              <a:t>GDP Growth Target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59" y="324612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BA3B8"/>
                </a:solidFill>
                <a:latin typeface="Calibri"/>
              </a:rPr>
              <a:t>Impossible without reliable power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251960"/>
            <a:ext cx="8595360" cy="594360"/>
          </a:xfrm>
          <a:prstGeom prst="rect">
            <a:avLst/>
          </a:prstGeom>
          <a:solidFill>
            <a:srgbClr val="0B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315968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Over 99% of Zambia's generation capacity is hydropower — and climate change is drying up the Kariba Dam year after year.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7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WHY ALTERNATIVES FALL SHORT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FFFFFF"/>
                </a:solidFill>
                <a:latin typeface="Georgia"/>
              </a:rPr>
              <a:t>The Alternatives: Necessary but Not Sufficient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143000"/>
            <a:ext cx="2148840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3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1234440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1828800"/>
            <a:ext cx="1965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B1D2E"/>
                </a:solidFill>
                <a:latin typeface="Georgia"/>
              </a:rPr>
              <a:t>Hydro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0D7377"/>
                </a:solidFill>
                <a:latin typeface="Calibri"/>
              </a:rPr>
              <a:t>✓ Strengths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578608"/>
            <a:ext cx="1874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B1D2E"/>
                </a:solidFill>
                <a:latin typeface="Calibri"/>
              </a:rPr>
              <a:t>Already installed (2,800 MW)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926079"/>
            <a:ext cx="1874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B1D2E"/>
                </a:solidFill>
                <a:latin typeface="Calibri"/>
              </a:rPr>
              <a:t>Low operating cost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310128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C0392B"/>
                </a:solidFill>
                <a:latin typeface="Calibri"/>
              </a:rPr>
              <a:t>✗ Limitations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611880"/>
            <a:ext cx="1874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Calibri"/>
              </a:rPr>
              <a:t>Drought-dependent: Kariba at 12% capacity (2024)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3904488"/>
            <a:ext cx="1874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Calibri"/>
              </a:rPr>
              <a:t>Near maximum expansion potential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4197096"/>
            <a:ext cx="1874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Calibri"/>
              </a:rPr>
              <a:t>Climate risk worsening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23160" y="1143000"/>
            <a:ext cx="2148840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-3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688" y="1234440"/>
            <a:ext cx="548640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514600" y="1828800"/>
            <a:ext cx="1965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B1D2E"/>
                </a:solidFill>
                <a:latin typeface="Georgia"/>
              </a:rPr>
              <a:t>Solar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228600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0D7377"/>
                </a:solidFill>
                <a:latin typeface="Calibri"/>
              </a:rPr>
              <a:t>✓ Strengths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2578608"/>
            <a:ext cx="1874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B1D2E"/>
                </a:solidFill>
                <a:latin typeface="Calibri"/>
              </a:rPr>
              <a:t>High resource potential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0" y="2926079"/>
            <a:ext cx="1874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B1D2E"/>
                </a:solidFill>
                <a:latin typeface="Calibri"/>
              </a:rPr>
              <a:t>Falling panel costs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4600" y="3310128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C0392B"/>
                </a:solidFill>
                <a:latin typeface="Calibri"/>
              </a:rPr>
              <a:t>✗ Limitations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3611880"/>
            <a:ext cx="1874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Calibri"/>
              </a:rPr>
              <a:t>Intermittent — no sun at night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3904488"/>
            <a:ext cx="1874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Calibri"/>
              </a:rPr>
              <a:t>Requires expensive storage at scale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4197096"/>
            <a:ext cx="1874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Calibri"/>
              </a:rPr>
              <a:t>Cannot meet industrial baseload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63440" y="1143000"/>
            <a:ext cx="2148840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-3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8968" y="1234440"/>
            <a:ext cx="548640" cy="5486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754879" y="1828800"/>
            <a:ext cx="1965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B1D2E"/>
                </a:solidFill>
                <a:latin typeface="Georgia"/>
              </a:rPr>
              <a:t>Coal / Gas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79" y="228600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0D7377"/>
                </a:solidFill>
                <a:latin typeface="Calibri"/>
              </a:rPr>
              <a:t>✓ Strengths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2578608"/>
            <a:ext cx="1874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B1D2E"/>
                </a:solidFill>
                <a:latin typeface="Calibri"/>
              </a:rPr>
              <a:t>Reliable baseload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600" y="2926079"/>
            <a:ext cx="1874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B1D2E"/>
                </a:solidFill>
                <a:latin typeface="Calibri"/>
              </a:rPr>
              <a:t>Short build 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79" y="3310128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C0392B"/>
                </a:solidFill>
                <a:latin typeface="Calibri"/>
              </a:rPr>
              <a:t>✗ Limitations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00600" y="3611880"/>
            <a:ext cx="1874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Calibri"/>
              </a:rPr>
              <a:t>High CO₂ emissions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00600" y="3904488"/>
            <a:ext cx="1874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Calibri"/>
              </a:rPr>
              <a:t>Climate financing blocked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00600" y="4197096"/>
            <a:ext cx="1874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Calibri"/>
              </a:rPr>
              <a:t>Fuel import dependency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03720" y="1143000"/>
            <a:ext cx="2148840" cy="3657600"/>
          </a:xfrm>
          <a:prstGeom prst="rect">
            <a:avLst/>
          </a:prstGeom>
          <a:solidFill>
            <a:srgbClr val="0D7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image-3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9248" y="1234440"/>
            <a:ext cx="548640" cy="54864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995159" y="1828800"/>
            <a:ext cx="1965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FFFFFF"/>
                </a:solidFill>
                <a:latin typeface="Georgia"/>
              </a:rPr>
              <a:t>Nuclear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59" y="228600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A8F0E8"/>
                </a:solidFill>
                <a:latin typeface="Calibri"/>
              </a:rPr>
              <a:t>✓ Strengths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0" y="2578608"/>
            <a:ext cx="1874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24/7 baseload — weather-independent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0880" y="2926079"/>
            <a:ext cx="1874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Lowest lifecycle carbon (12g CO₂/kWh)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3273551"/>
            <a:ext cx="1874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Smallest land footprint per kWh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95159" y="3310128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FFB3B3"/>
                </a:solidFill>
                <a:latin typeface="Calibri"/>
              </a:rPr>
              <a:t>✗ Limitations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40880" y="3611880"/>
            <a:ext cx="1874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FFE0E0"/>
                </a:solidFill>
                <a:latin typeface="Calibri"/>
              </a:rPr>
              <a:t>High upfront capital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40880" y="3904488"/>
            <a:ext cx="1874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FFE0E0"/>
                </a:solidFill>
                <a:latin typeface="Calibri"/>
              </a:rPr>
              <a:t>Long build time (10–15 yrs)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0880" y="4197096"/>
            <a:ext cx="1874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FFE0E0"/>
                </a:solidFill>
                <a:latin typeface="Calibri"/>
              </a:rPr>
              <a:t>Requires regulatory capacity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0B1D2E"/>
                </a:solidFill>
                <a:latin typeface="Calibri"/>
              </a:rPr>
              <a:t>ACT II — THE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0B1D2E"/>
                </a:solidFill>
                <a:latin typeface="Georgia"/>
              </a:rPr>
              <a:t>The Cost of Doing Nothing Is Greater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274320" y="1143000"/>
          <a:ext cx="502920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5577840" y="1143000"/>
            <a:ext cx="3337560" cy="9144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-4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371600"/>
            <a:ext cx="411480" cy="411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72200" y="1216152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D4A017"/>
                </a:solidFill>
                <a:latin typeface="Calibri"/>
              </a:rPr>
              <a:t>$2B+ annual GDP loss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563624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8BA3B8"/>
                </a:solidFill>
                <a:latin typeface="Calibri"/>
              </a:rPr>
              <a:t>from load-shedding — Zambia's economy loses more every year than a nuclear plant costs to operate.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77840" y="2194560"/>
            <a:ext cx="3337560" cy="9144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-4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2423160"/>
            <a:ext cx="411480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72200" y="2267712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4A085"/>
                </a:solidFill>
                <a:latin typeface="Calibri"/>
              </a:rPr>
              <a:t>Green financing unlocked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2615184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8BA3B8"/>
                </a:solidFill>
                <a:latin typeface="Calibri"/>
              </a:rPr>
              <a:t>Nuclear qualifies for climate financing, SDG bonds &amp; development bank funding unavailable for coal.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77840" y="3246120"/>
            <a:ext cx="3337560" cy="9144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-4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3474720"/>
            <a:ext cx="411480" cy="4114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72200" y="3319272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D7377"/>
                </a:solidFill>
                <a:latin typeface="Calibri"/>
              </a:rPr>
              <a:t>50–60 year asset life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3666744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8BA3B8"/>
                </a:solidFill>
                <a:latin typeface="Calibri"/>
              </a:rPr>
              <a:t>Once built, nuclear provides generations of cheap, stable baseload power at $20–30/MWh operational cost.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4526280"/>
            <a:ext cx="9144000" cy="594360"/>
          </a:xfrm>
          <a:prstGeom prst="rect">
            <a:avLst/>
          </a:prstGeom>
          <a:solidFill>
            <a:srgbClr val="0D7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4590288"/>
            <a:ext cx="8595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FFFFFF"/>
                </a:solidFill>
                <a:latin typeface="Calibri"/>
              </a:rPr>
              <a:t>Morocco, Egypt, South Africa &amp; Ghana are all actively pursuing nuclear — Zambia risks being left behind in the energy transition.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D4A017"/>
                </a:solidFill>
                <a:latin typeface="Calibri"/>
              </a:rPr>
              <a:t>SAFETY &amp; 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FFFFFF"/>
                </a:solidFill>
                <a:latin typeface="Georgia"/>
              </a:rPr>
              <a:t>Is Zambia Ready? Yes — With the Right Foundation.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43000"/>
            <a:ext cx="3977639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3611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A3A5C"/>
                </a:solidFill>
                <a:latin typeface="Calibri"/>
              </a:rPr>
              <a:t>Zambia's Existing Foundations</a:t>
            </a:r>
          </a:p>
        </p:txBody>
      </p:sp>
      <p:pic>
        <p:nvPicPr>
          <p:cNvPr id="7" name="Picture 6" descr="image-5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737360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B1D2E"/>
                </a:solidFill>
                <a:latin typeface="Calibri"/>
              </a:rPr>
              <a:t>IAEA member state since 1965</a:t>
            </a:r>
          </a:p>
        </p:txBody>
      </p:sp>
      <p:pic>
        <p:nvPicPr>
          <p:cNvPr id="9" name="Picture 8" descr="image-5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85415"/>
            <a:ext cx="27432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2139696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B1D2E"/>
                </a:solidFill>
                <a:latin typeface="Calibri"/>
              </a:rPr>
              <a:t>Zambia Centre for Energy Research (ZCER) operational</a:t>
            </a:r>
          </a:p>
        </p:txBody>
      </p:sp>
      <p:pic>
        <p:nvPicPr>
          <p:cNvPr id="11" name="Picture 10" descr="image-5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87751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2542032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B1D2E"/>
                </a:solidFill>
                <a:latin typeface="Calibri"/>
              </a:rPr>
              <a:t>Uranium deposits — Zambia has the raw material</a:t>
            </a:r>
          </a:p>
        </p:txBody>
      </p:sp>
      <p:pic>
        <p:nvPicPr>
          <p:cNvPr id="13" name="Picture 12" descr="image-5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90087"/>
            <a:ext cx="274320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2944368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B1D2E"/>
                </a:solidFill>
                <a:latin typeface="Calibri"/>
              </a:rPr>
              <a:t>Active nuclear medicine programme (ZMC)</a:t>
            </a:r>
          </a:p>
        </p:txBody>
      </p:sp>
      <p:pic>
        <p:nvPicPr>
          <p:cNvPr id="15" name="Picture 14" descr="image-5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392423"/>
            <a:ext cx="27432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22960" y="3346703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B1D2E"/>
                </a:solidFill>
                <a:latin typeface="Calibri"/>
              </a:rPr>
              <a:t>Bilateral agreements with Russia (Rosatom) &amp; China</a:t>
            </a:r>
          </a:p>
        </p:txBody>
      </p:sp>
      <p:pic>
        <p:nvPicPr>
          <p:cNvPr id="17" name="Picture 16" descr="image-5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794759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2960" y="3749039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B1D2E"/>
                </a:solidFill>
                <a:latin typeface="Calibri"/>
              </a:rPr>
              <a:t>Engineers trained at SA NNR and regional programs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0" y="1143000"/>
            <a:ext cx="4251960" cy="3657600"/>
          </a:xfrm>
          <a:prstGeom prst="rect">
            <a:avLst/>
          </a:prstGeom>
          <a:solidFill>
            <a:srgbClr val="0D7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1234440"/>
            <a:ext cx="38862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Small Modular Reactors (SMRs): The Right-Size Solution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1920240"/>
            <a:ext cx="38862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C8E8E4"/>
                </a:solidFill>
                <a:latin typeface="Calibri"/>
              </a:rPr>
              <a:t>Zambia doesn't need a 1,000 MW Chernobyl-era reactor. Modern SMRs are purpose-built for developing nations: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2606040"/>
            <a:ext cx="3840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FFFFFF"/>
                </a:solidFill>
                <a:latin typeface="Calibri"/>
              </a:rPr>
              <a:t>→  50–300 MW output — scalable to Zambia's grid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3008376"/>
            <a:ext cx="3840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FFFFFF"/>
                </a:solidFill>
                <a:latin typeface="Calibri"/>
              </a:rPr>
              <a:t>→  Factory-built, modular — lower build risk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3410712"/>
            <a:ext cx="3840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FFFFFF"/>
                </a:solidFill>
                <a:latin typeface="Calibri"/>
              </a:rPr>
              <a:t>→  Passive safety systems — no meltdown without power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3813048"/>
            <a:ext cx="3840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FFFFFF"/>
                </a:solidFill>
                <a:latin typeface="Calibri"/>
              </a:rPr>
              <a:t>→  Generation IV designs produce 80% less waste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0" y="4215384"/>
            <a:ext cx="3840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FFFFFF"/>
                </a:solidFill>
                <a:latin typeface="Calibri"/>
              </a:rPr>
              <a:t>→  Countries like Jordan, Ghana, and Kenya are already in advanced planning stages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HONEST CHALLENGES — AND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FFFFFF"/>
                </a:solidFill>
                <a:latin typeface="Georgia"/>
              </a:rPr>
              <a:t>The Risks Are Real — and Manageable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4206240" cy="11887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91440" cy="1188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-6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00200"/>
            <a:ext cx="32004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216152"/>
            <a:ext cx="3474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0B1D2E"/>
                </a:solidFill>
                <a:latin typeface="Calibri"/>
              </a:rPr>
              <a:t>High Capital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527048"/>
            <a:ext cx="34747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C0392B"/>
                </a:solidFill>
                <a:latin typeface="Calibri"/>
              </a:rPr>
              <a:t>⚠  A 300 MW SMR costs $1–2B upfront — significant for Zambia's budget.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92807"/>
            <a:ext cx="34747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0D7377"/>
                </a:solidFill>
                <a:latin typeface="Calibri"/>
              </a:rPr>
              <a:t>✓  Phased financing via World Bank, AIIB, AfDB, and bilateral loans (Russia, China, UAE). Public-private partnerships spread the risk.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2441448"/>
            <a:ext cx="4206240" cy="11887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600" y="2441448"/>
            <a:ext cx="91440" cy="1188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6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898648"/>
            <a:ext cx="320040" cy="3200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2514600"/>
            <a:ext cx="3474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0B1D2E"/>
                </a:solidFill>
                <a:latin typeface="Calibri"/>
              </a:rPr>
              <a:t>Skills Shortage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825496"/>
            <a:ext cx="34747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C0392B"/>
                </a:solidFill>
                <a:latin typeface="Calibri"/>
              </a:rPr>
              <a:t>⚠  Nuclear engineering requires specialist expertise Zambia currently lacks at scale.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191256"/>
            <a:ext cx="34747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0D7377"/>
                </a:solidFill>
                <a:latin typeface="Calibri"/>
              </a:rPr>
              <a:t>✓  Begin NOW: scholarship programs, partner with IAEA's nuclear training centres, UNZA nuclear curriculum. Build the pipeline over 10 years.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3739896"/>
            <a:ext cx="4206240" cy="11887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8600" y="3739896"/>
            <a:ext cx="9144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-6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197096"/>
            <a:ext cx="320040" cy="3200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22960" y="3813048"/>
            <a:ext cx="3474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0B1D2E"/>
                </a:solidFill>
                <a:latin typeface="Calibri"/>
              </a:rPr>
              <a:t>Waste Management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123944"/>
            <a:ext cx="34747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C0392B"/>
                </a:solidFill>
                <a:latin typeface="Calibri"/>
              </a:rPr>
              <a:t>⚠  Radioactive waste must be stored safely for centuries.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489704"/>
            <a:ext cx="34747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0D7377"/>
                </a:solidFill>
                <a:latin typeface="Calibri"/>
              </a:rPr>
              <a:t>✓  SMRs produce far less waste. Dry cask storage is proven. IAEA provides full technical guidance. Zambia has suitable geological sites.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63440" y="1143000"/>
            <a:ext cx="4206240" cy="11887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63440" y="1143000"/>
            <a:ext cx="91440" cy="118872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-6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1600200"/>
            <a:ext cx="320040" cy="3200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257800" y="1216152"/>
            <a:ext cx="3474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0B1D2E"/>
                </a:solidFill>
                <a:latin typeface="Calibri"/>
              </a:rPr>
              <a:t>Safety &amp; Public Perception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7800" y="1527048"/>
            <a:ext cx="34747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C0392B"/>
                </a:solidFill>
                <a:latin typeface="Calibri"/>
              </a:rPr>
              <a:t>⚠  Public fear (Chernobyl, Fukushima) and political opposition are real barriers.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1892807"/>
            <a:ext cx="34747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0D7377"/>
                </a:solidFill>
                <a:latin typeface="Calibri"/>
              </a:rPr>
              <a:t>✓  Independent regulator (like SA's NNR), full transparency, and data: nuclear is statistically safer per kWh than coal, gas, or even rooftop solar.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63440" y="2441448"/>
            <a:ext cx="4206240" cy="11887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63440" y="2441448"/>
            <a:ext cx="91440" cy="1188720"/>
          </a:xfrm>
          <a:prstGeom prst="rect">
            <a:avLst/>
          </a:prstGeom>
          <a:solidFill>
            <a:srgbClr val="0D7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mage-6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898648"/>
            <a:ext cx="320040" cy="32004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257800" y="2514600"/>
            <a:ext cx="3474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0B1D2E"/>
                </a:solidFill>
                <a:latin typeface="Calibri"/>
              </a:rPr>
              <a:t>Long Build Timeline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7800" y="2825496"/>
            <a:ext cx="34747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C0392B"/>
                </a:solidFill>
                <a:latin typeface="Calibri"/>
              </a:rPr>
              <a:t>⚠  10–15 years from decision to first power — a long time to wait.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3191256"/>
            <a:ext cx="34747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0D7377"/>
                </a:solidFill>
                <a:latin typeface="Calibri"/>
              </a:rPr>
              <a:t>✓  Start today. The grid won't fix itself. Every year of delay is another decade of load-shedding. Parallel solar/wind investments fill the gap.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3739896"/>
            <a:ext cx="4206240" cy="11887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3739896"/>
            <a:ext cx="91440" cy="118872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image-6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6320" y="4197096"/>
            <a:ext cx="320040" cy="32004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257800" y="3813048"/>
            <a:ext cx="3474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0B1D2E"/>
                </a:solidFill>
                <a:latin typeface="Calibri"/>
              </a:rPr>
              <a:t>Regulatory Gaps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57800" y="4123944"/>
            <a:ext cx="34747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C0392B"/>
                </a:solidFill>
                <a:latin typeface="Calibri"/>
              </a:rPr>
              <a:t>⚠  Zambia lacks a standalone nuclear regulatory authority.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57800" y="4489704"/>
            <a:ext cx="34747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0D7377"/>
                </a:solidFill>
                <a:latin typeface="Calibri"/>
              </a:rPr>
              <a:t>✓  Establish the Zambia Nuclear Regulatory Authority (ZaNRA) now. Model on Kenya's KNEB or SA's NNR. IAEA will assist.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7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ACT II — NATIONAL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FFFFFF"/>
                </a:solidFill>
                <a:latin typeface="Georgia"/>
              </a:rPr>
              <a:t>Nuclear Powers More Than the Grid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88720"/>
            <a:ext cx="4160520" cy="1600200"/>
          </a:xfrm>
          <a:prstGeom prst="rect">
            <a:avLst/>
          </a:prstGeom>
          <a:solidFill>
            <a:srgbClr val="142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88720"/>
            <a:ext cx="4160520" cy="9144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-4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63040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05840" y="1353312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4A085"/>
                </a:solidFill>
                <a:latin typeface="Calibri"/>
              </a:rPr>
              <a:t>Vision 2030 &amp; 8NDP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755648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8BA3B8"/>
                </a:solidFill>
                <a:latin typeface="Calibri"/>
              </a:rPr>
              <a:t>The 8th National Development Plan calls for industrialisation and economic transformation. This is impossible without reliable, affordable power at scale.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09160" y="1188720"/>
            <a:ext cx="4160520" cy="1600200"/>
          </a:xfrm>
          <a:prstGeom prst="rect">
            <a:avLst/>
          </a:prstGeom>
          <a:solidFill>
            <a:srgbClr val="142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09160" y="1188720"/>
            <a:ext cx="4160520" cy="9144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-7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463040"/>
            <a:ext cx="457200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0" y="1353312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D4A017"/>
                </a:solidFill>
                <a:latin typeface="Calibri"/>
              </a:rPr>
              <a:t>Climate Commitments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1755648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8BA3B8"/>
                </a:solidFill>
                <a:latin typeface="Calibri"/>
              </a:rPr>
              <a:t>Zambia's NDC pledges low-carbon growth. Nuclear = 12g CO₂/kWh vs coal at 820g. Meeting climate goals AND economic growth requires nuclear.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3063240"/>
            <a:ext cx="4160520" cy="1600200"/>
          </a:xfrm>
          <a:prstGeom prst="rect">
            <a:avLst/>
          </a:prstGeom>
          <a:solidFill>
            <a:srgbClr val="142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8600" y="3063240"/>
            <a:ext cx="4160520" cy="91440"/>
          </a:xfrm>
          <a:prstGeom prst="rect">
            <a:avLst/>
          </a:prstGeom>
          <a:solidFill>
            <a:srgbClr val="0D7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-7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337560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05840" y="3227832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D7377"/>
                </a:solidFill>
                <a:latin typeface="Calibri"/>
              </a:rPr>
              <a:t>Mining &amp; Industrialisation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630168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8BA3B8"/>
                </a:solidFill>
                <a:latin typeface="Calibri"/>
              </a:rPr>
              <a:t>Copper mining, fertiliser production, and manufacturing all need 24/7 baseload power. Nuclear anchors Zambia's industrial future.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09160" y="3063240"/>
            <a:ext cx="4160520" cy="1600200"/>
          </a:xfrm>
          <a:prstGeom prst="rect">
            <a:avLst/>
          </a:prstGeom>
          <a:solidFill>
            <a:srgbClr val="142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09160" y="3063240"/>
            <a:ext cx="4160520" cy="9144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-7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3337560"/>
            <a:ext cx="457200" cy="457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486400" y="3227832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E67E22"/>
                </a:solidFill>
                <a:latin typeface="Calibri"/>
              </a:rPr>
              <a:t>STEM &amp; Human Capital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630168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8BA3B8"/>
                </a:solidFill>
                <a:latin typeface="Calibri"/>
              </a:rPr>
              <a:t>A nuclear programme creates 10,000+ skilled jobs, elevates Zambia's universities, and builds a generation of scientists and engineers.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D4A017"/>
                </a:solidFill>
                <a:latin typeface="Calibri"/>
              </a:rPr>
              <a:t>ACT III —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FFFFFF"/>
                </a:solidFill>
                <a:latin typeface="Georgia"/>
              </a:rPr>
              <a:t>A 3-Phase Roadmap to Nuclear Power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88720"/>
            <a:ext cx="283464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88720"/>
            <a:ext cx="2834640" cy="777240"/>
          </a:xfrm>
          <a:prstGeom prst="rect">
            <a:avLst/>
          </a:prstGeom>
          <a:solidFill>
            <a:srgbClr val="0D7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2560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57276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E8F8F5"/>
                </a:solidFill>
                <a:latin typeface="Calibri"/>
              </a:rPr>
              <a:t>2025–2030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01168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D7377"/>
                </a:solidFill>
                <a:latin typeface="Georgia"/>
              </a:rPr>
              <a:t>Foundations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450592"/>
            <a:ext cx="25603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D7377"/>
                </a:solidFill>
                <a:latin typeface="Calibri"/>
              </a:rPr>
              <a:t>→  </a:t>
            </a:r>
            <a:r>
              <a:rPr sz="1000" b="0" i="0">
                <a:solidFill>
                  <a:srgbClr val="0B1D2E"/>
                </a:solidFill>
                <a:latin typeface="Calibri"/>
              </a:rPr>
              <a:t>Establish ZaNRA (Regulatory Authority)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9504"/>
            <a:ext cx="25603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D7377"/>
                </a:solidFill>
                <a:latin typeface="Calibri"/>
              </a:rPr>
              <a:t>→  </a:t>
            </a:r>
            <a:r>
              <a:rPr sz="1000" b="0" i="0">
                <a:solidFill>
                  <a:srgbClr val="0B1D2E"/>
                </a:solidFill>
                <a:latin typeface="Calibri"/>
              </a:rPr>
              <a:t>Join IAEA milestone process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328416"/>
            <a:ext cx="25603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D7377"/>
                </a:solidFill>
                <a:latin typeface="Calibri"/>
              </a:rPr>
              <a:t>→  </a:t>
            </a:r>
            <a:r>
              <a:rPr sz="1000" b="0" i="0">
                <a:solidFill>
                  <a:srgbClr val="0B1D2E"/>
                </a:solidFill>
                <a:latin typeface="Calibri"/>
              </a:rPr>
              <a:t>Launch nuclear engineering scholarships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767328"/>
            <a:ext cx="25603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D7377"/>
                </a:solidFill>
                <a:latin typeface="Calibri"/>
              </a:rPr>
              <a:t>→  </a:t>
            </a:r>
            <a:r>
              <a:rPr sz="1000" b="0" i="0">
                <a:solidFill>
                  <a:srgbClr val="0B1D2E"/>
                </a:solidFill>
                <a:latin typeface="Calibri"/>
              </a:rPr>
              <a:t>Conduct site surveys &amp; feasibility studies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206240"/>
            <a:ext cx="25603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D7377"/>
                </a:solidFill>
                <a:latin typeface="Calibri"/>
              </a:rPr>
              <a:t>→  </a:t>
            </a:r>
            <a:r>
              <a:rPr sz="1000" b="0" i="0">
                <a:solidFill>
                  <a:srgbClr val="0B1D2E"/>
                </a:solidFill>
                <a:latin typeface="Calibri"/>
              </a:rPr>
              <a:t>Build public awareness campaign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1188720"/>
            <a:ext cx="283464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0" y="1188720"/>
            <a:ext cx="2834640" cy="77724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37560" y="1234440"/>
            <a:ext cx="2560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57276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E8F8F5"/>
                </a:solidFill>
                <a:latin typeface="Calibri"/>
              </a:rPr>
              <a:t>2030–2038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7560" y="201168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D4A017"/>
                </a:solidFill>
                <a:latin typeface="Georgia"/>
              </a:rPr>
              <a:t>Construction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2450592"/>
            <a:ext cx="25603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D4A017"/>
                </a:solidFill>
                <a:latin typeface="Calibri"/>
              </a:rPr>
              <a:t>→  </a:t>
            </a:r>
            <a:r>
              <a:rPr sz="1000" b="0" i="0">
                <a:solidFill>
                  <a:srgbClr val="0B1D2E"/>
                </a:solidFill>
                <a:latin typeface="Calibri"/>
              </a:rPr>
              <a:t>Select SMR technology &amp; partner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37560" y="2889504"/>
            <a:ext cx="25603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D4A017"/>
                </a:solidFill>
                <a:latin typeface="Calibri"/>
              </a:rPr>
              <a:t>→  </a:t>
            </a:r>
            <a:r>
              <a:rPr sz="1000" b="0" i="0">
                <a:solidFill>
                  <a:srgbClr val="0B1D2E"/>
                </a:solidFill>
                <a:latin typeface="Calibri"/>
              </a:rPr>
              <a:t>Secure financing package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37560" y="3328416"/>
            <a:ext cx="25603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D4A017"/>
                </a:solidFill>
                <a:latin typeface="Calibri"/>
              </a:rPr>
              <a:t>→  </a:t>
            </a:r>
            <a:r>
              <a:rPr sz="1000" b="0" i="0">
                <a:solidFill>
                  <a:srgbClr val="0B1D2E"/>
                </a:solidFill>
                <a:latin typeface="Calibri"/>
              </a:rPr>
              <a:t>Begin construction of first 300 MW SMR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37560" y="3767328"/>
            <a:ext cx="25603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D4A017"/>
                </a:solidFill>
                <a:latin typeface="Calibri"/>
              </a:rPr>
              <a:t>→  </a:t>
            </a:r>
            <a:r>
              <a:rPr sz="1000" b="0" i="0">
                <a:solidFill>
                  <a:srgbClr val="0B1D2E"/>
                </a:solidFill>
                <a:latin typeface="Calibri"/>
              </a:rPr>
              <a:t>Build local supply chain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4206240"/>
            <a:ext cx="25603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D4A017"/>
                </a:solidFill>
                <a:latin typeface="Calibri"/>
              </a:rPr>
              <a:t>→  </a:t>
            </a:r>
            <a:r>
              <a:rPr sz="1000" b="0" i="0">
                <a:solidFill>
                  <a:srgbClr val="0B1D2E"/>
                </a:solidFill>
                <a:latin typeface="Calibri"/>
              </a:rPr>
              <a:t>Train 500+ nuclear technicians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1188720"/>
            <a:ext cx="283464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1188720"/>
            <a:ext cx="2834640" cy="77724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1234440"/>
            <a:ext cx="2560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PHASE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157276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E8F8F5"/>
                </a:solidFill>
                <a:latin typeface="Calibri"/>
              </a:rPr>
              <a:t>2038–2050+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201168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4A085"/>
                </a:solidFill>
                <a:latin typeface="Georgia"/>
              </a:rPr>
              <a:t>Operation &amp; Expansion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2450592"/>
            <a:ext cx="25603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A085"/>
                </a:solidFill>
                <a:latin typeface="Calibri"/>
              </a:rPr>
              <a:t>→  </a:t>
            </a:r>
            <a:r>
              <a:rPr sz="1000" b="0" i="0">
                <a:solidFill>
                  <a:srgbClr val="0B1D2E"/>
                </a:solidFill>
                <a:latin typeface="Calibri"/>
              </a:rPr>
              <a:t>First power to the grid (~2038)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2889504"/>
            <a:ext cx="25603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A085"/>
                </a:solidFill>
                <a:latin typeface="Calibri"/>
              </a:rPr>
              <a:t>→  </a:t>
            </a:r>
            <a:r>
              <a:rPr sz="1000" b="0" i="0">
                <a:solidFill>
                  <a:srgbClr val="0B1D2E"/>
                </a:solidFill>
                <a:latin typeface="Calibri"/>
              </a:rPr>
              <a:t>Expand to 1,000+ MW by 2045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328416"/>
            <a:ext cx="25603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A085"/>
                </a:solidFill>
                <a:latin typeface="Calibri"/>
              </a:rPr>
              <a:t>→  </a:t>
            </a:r>
            <a:r>
              <a:rPr sz="1000" b="0" i="0">
                <a:solidFill>
                  <a:srgbClr val="0B1D2E"/>
                </a:solidFill>
                <a:latin typeface="Calibri"/>
              </a:rPr>
              <a:t>Export surplus power regionally via SAPP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3767328"/>
            <a:ext cx="25603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A085"/>
                </a:solidFill>
                <a:latin typeface="Calibri"/>
              </a:rPr>
              <a:t>→  </a:t>
            </a:r>
            <a:r>
              <a:rPr sz="1000" b="0" i="0">
                <a:solidFill>
                  <a:srgbClr val="0B1D2E"/>
                </a:solidFill>
                <a:latin typeface="Calibri"/>
              </a:rPr>
              <a:t>Fund second plant from revenues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4206240"/>
            <a:ext cx="25603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A085"/>
                </a:solidFill>
                <a:latin typeface="Calibri"/>
              </a:rPr>
              <a:t>→  </a:t>
            </a:r>
            <a:r>
              <a:rPr sz="1000" b="0" i="0">
                <a:solidFill>
                  <a:srgbClr val="0B1D2E"/>
                </a:solidFill>
                <a:latin typeface="Calibri"/>
              </a:rPr>
              <a:t>Become a regional nuclear hub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2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9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2880"/>
            <a:ext cx="4114800" cy="4114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D4A017"/>
                </a:solidFill>
                <a:latin typeface="Calibri"/>
              </a:rPr>
              <a:t>THE BIG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914400"/>
            <a:ext cx="80467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FFFFFF"/>
                </a:solidFill>
                <a:latin typeface="Georgia"/>
              </a:rPr>
              <a:t>"Zambia cannot achieve its Vision 2030 development goals on a grid powered by rain alone — nuclear power is the decisive investment that ends load-shedding, anchors industrialisation, and positions Zambia as Africa's next energy leader."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3246120"/>
            <a:ext cx="457200" cy="41148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3291839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B1D2E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3300984"/>
            <a:ext cx="73152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Commission a national nuclear feasibility study NOW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3776472"/>
            <a:ext cx="457200" cy="411480"/>
          </a:xfrm>
          <a:prstGeom prst="rect">
            <a:avLst/>
          </a:prstGeom>
          <a:solidFill>
            <a:srgbClr val="0D7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3822191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B1D2E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831335"/>
            <a:ext cx="73152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Establish the Zambia Nuclear Regulatory Authority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4306824"/>
            <a:ext cx="457200" cy="41148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4352544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B1D2E"/>
                </a:solidFill>
                <a:latin typeface="Calibr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4361688"/>
            <a:ext cx="73152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Begin IAEA milestone consultations within 12 months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77316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1">
                <a:solidFill>
                  <a:srgbClr val="8BA3B8"/>
                </a:solidFill>
                <a:latin typeface="Calibri"/>
              </a:rPr>
              <a:t>The lights don't have to keep going off.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4688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KEY EVIDENCE SOURCES &amp; DATA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60120"/>
            <a:ext cx="84124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0B1D2E"/>
                </a:solidFill>
                <a:latin typeface="Calibri"/>
              </a:rPr>
              <a:t>1.  International Atomic Energy Agency (IAEA) — Nuclear Energy Basic Principles &amp; SMR Technology Catalogue 2023</a:t>
            </a:r>
          </a:p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0B1D2E"/>
                </a:solidFill>
                <a:latin typeface="Calibri"/>
              </a:rPr>
              <a:t>2.  World Nuclear Association — Nuclear Power Economics 2024; LCOE comparisons</a:t>
            </a:r>
          </a:p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0B1D2E"/>
                </a:solidFill>
                <a:latin typeface="Calibri"/>
              </a:rPr>
              <a:t>3.  Zambia Electricity Supply Corporation (ZESCO) — Annual Reports 2022–2024; Generation capacity statistics</a:t>
            </a:r>
          </a:p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0B1D2E"/>
                </a:solidFill>
                <a:latin typeface="Calibri"/>
              </a:rPr>
              <a:t>4.  International Energy Agency (IEA) — Africa Energy Outlook 2023; Zambia grid access data (43%)</a:t>
            </a:r>
          </a:p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0B1D2E"/>
                </a:solidFill>
                <a:latin typeface="Calibri"/>
              </a:rPr>
              <a:t>5.  World Bank — Zambia Energy Sector Assessment 2023; Load-shedding economic impact ($2B+ GDP)</a:t>
            </a:r>
          </a:p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0B1D2E"/>
                </a:solidFill>
                <a:latin typeface="Calibri"/>
              </a:rPr>
              <a:t>6.  IPCC AR6 — Life-cycle GHG emissions by technology: Nuclear 12 gCO₂eq/kWh vs. Coal 820g</a:t>
            </a:r>
          </a:p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0B1D2E"/>
                </a:solidFill>
                <a:latin typeface="Calibri"/>
              </a:rPr>
              <a:t>7.  Zambia Ministry of Energy — 8th National Development Plan (8NDP) energy targets; Vision 2030</a:t>
            </a:r>
          </a:p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0B1D2E"/>
                </a:solidFill>
                <a:latin typeface="Calibri"/>
              </a:rPr>
              <a:t>8.  IAEA — Country Nuclear Power Profiles: Ghana, Kenya, Egypt — SMR development timelines</a:t>
            </a:r>
          </a:p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0B1D2E"/>
                </a:solidFill>
                <a:latin typeface="Calibri"/>
              </a:rPr>
              <a:t>9.  Rosatom International — Small Modular Reactor technical specifications &amp; cost estimates</a:t>
            </a:r>
          </a:p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0B1D2E"/>
                </a:solidFill>
                <a:latin typeface="Calibri"/>
              </a:rPr>
              <a:t>10.  African Development Bank — Renewable energy financing and NDC green bond frameworks, 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736592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1">
                <a:solidFill>
                  <a:srgbClr val="8BA3B8"/>
                </a:solidFill>
                <a:latin typeface="Calibri"/>
              </a:rPr>
              <a:t>Data points where noted are approximations based on published ranges. Specific Zambia statistics sourced from ZESCO and Ministry of Energy publications.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