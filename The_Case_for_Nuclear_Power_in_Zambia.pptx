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 0:00 to 0:30] Good afternoon. The story I want to tell you today is not about reactors. It is about a choice: between a future powered by drought, and a future powered by uranium Zambia already owns. My Big Idea is simple: Zambia must leverage its existing radiological safety expertise and uranium resources to transition to nuclear power as a drought-proof solution for national energy security. Over the next three minutes I'll walk you from an invisible danger in Siavonga, to a proven safety record in the United States, to an actionable policy ask here at home. The destination is industrial mastery.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[CONFLICT — 0:30 to 1:15] Picture two scenes. Scene one: Siavonga, Zambia. The 2024 Uranium Baseline Survey found uranium in the water and in the dust — unmonitored, untracked, in a community that lives on top of the resource. An invisible ghost. Scene two: the U.S. nuclear security enterprise. Twenty-two thousand workers. Every measurable dose recorded. The average technician absorbs 59.12 mrem a year — less than two percent of the federal limit, and comparable to routine medical imaging. Same element. Same physics. Two completely different societal outcomes. The difference is not the uranium. The difference is the system around it. That is the gap Zambia must close — and the expertise to close it already lives inside our Radiation Protection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 1:15 to 2:00] So can a radiological system actually be trusted? The data says yes. Across a decade — 2014 to 2024 — the U.S. DOE Radiation Exposure Monitoring System recorded an average individual dose of 59.12 mrem per technician per year. The federal limit is 5,000. We are operating at less than two percent of that ceiling. And here is the line that matters most for Zambia: between 2021 and 2024 the monitored workforce grew, and the individual dose did not. Safety scales. Ninety-eight percent of exposure is external photon radiation — managed by shielding we already understand. The IAEA Milestone Approach gives us the exact same playbook, and our Radiation Protection Authority — soon the Nuclear Safety and Protection Authority — already speaks this language. We are not starting from zero. We are starting from competence.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[CONFLICT DEEPENS — 2:00 to 2:30] Now bring it home. Eighty-four percent of Zambia's electricity comes from hydropower. In the 2015/16 drought we lost a thousand megawatts of generation and spent roughly four hundred and forty million U.S. dollars on unbudgeted imports. The 2023-2024 ZESCO reports show the Kariba crisis is not a one-off — it is the new climate baseline. Meanwhile Vision 2030 and the Seventh National Development Plan commit us to a two thousand megawatt nuclear target, the National Nuclear Policy was approved in 2020, and partnerships with ROSATOM, IP3, and KAERI are already signed. The fuel is literally under our feet. The strategy is on paper. The missing piece is enactment.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[RESOLUTION — 2:30 to 3:00] So what do I want you to take away? Three actions. First, enact: pass the Nuclear Bill and formalise the Nuclear Safety and Protection Authority as an independent regulator under the IAEA Milestone Approach. Second, equip: fund the radiological monitoring expansion, starting in Siavonga, so that no community lives next to uranium without instruments. Third, execute: advance the Centre for Nuclear Science and Technology and the pre-feasibility studies for the two thousand megawatt programme. The fifty-nine point one two mrem U.S. record proves the safety model is real. Our 2020 Nuclear Policy proves the political will is real. Our uranium proves the fuel is real. The only thing standing between Zambia and a drought-proof grid is the signature on a bill. Let us move from fear to mastery.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E4F"/>
        </a:solidFill>
        <a:effectLst/>
      </p:bgPr>
    </p:bg>
    <p:spTree>
      <p:nvGrpSpPr>
        <p:cNvPr id="1" name=""/>
        <p:cNvGrpSpPr/>
        <p:nvPr/>
      </p:nvGrpSpPr>
      <p:grpSpPr/>
      <p:sp>
        <p:nvSpPr>
          <p:cNvPr id="2" name="Rectangle 1"/>
          <p:cNvSpPr/>
          <p:nvPr/>
        </p:nvSpPr>
        <p:spPr>
          <a:xfrm>
            <a:off x="0" y="3291840"/>
            <a:ext cx="12191695" cy="73152"/>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698480" cy="1097280"/>
          </a:xfrm>
          <a:prstGeom prst="rect">
            <a:avLst/>
          </a:prstGeom>
          <a:noFill/>
        </p:spPr>
        <p:txBody>
          <a:bodyPr wrap="square" lIns="45720" rIns="45720" tIns="18288" bIns="18288">
            <a:spAutoFit/>
          </a:bodyPr>
          <a:lstStyle/>
          <a:p>
            <a:pPr algn="l"/>
            <a:r>
              <a:rPr sz="4800" b="1">
                <a:solidFill>
                  <a:srgbClr val="FFFFFF"/>
                </a:solidFill>
                <a:latin typeface="Calibri"/>
              </a:rPr>
              <a:t>The Case for Nuclear Power in Zambia</a:t>
            </a:r>
          </a:p>
        </p:txBody>
      </p:sp>
      <p:sp>
        <p:nvSpPr>
          <p:cNvPr id="4" name="TextBox 3"/>
          <p:cNvSpPr txBox="1"/>
          <p:nvPr/>
        </p:nvSpPr>
        <p:spPr>
          <a:xfrm>
            <a:off x="731520" y="2468880"/>
            <a:ext cx="10698480" cy="731520"/>
          </a:xfrm>
          <a:prstGeom prst="rect">
            <a:avLst/>
          </a:prstGeom>
          <a:noFill/>
        </p:spPr>
        <p:txBody>
          <a:bodyPr wrap="square" lIns="45720" rIns="45720" tIns="18288" bIns="18288">
            <a:spAutoFit/>
          </a:bodyPr>
          <a:lstStyle/>
          <a:p>
            <a:pPr algn="l"/>
            <a:r>
              <a:rPr sz="2400" b="0">
                <a:solidFill>
                  <a:srgbClr val="B86B2A"/>
                </a:solidFill>
                <a:latin typeface="Calibri"/>
              </a:rPr>
              <a:t>From Radiological Fear to Industrial Mastery</a:t>
            </a:r>
          </a:p>
        </p:txBody>
      </p:sp>
      <p:sp>
        <p:nvSpPr>
          <p:cNvPr id="5" name="TextBox 4"/>
          <p:cNvSpPr txBox="1"/>
          <p:nvPr/>
        </p:nvSpPr>
        <p:spPr>
          <a:xfrm>
            <a:off x="731520" y="3611880"/>
            <a:ext cx="10698480" cy="1828800"/>
          </a:xfrm>
          <a:prstGeom prst="rect">
            <a:avLst/>
          </a:prstGeom>
          <a:noFill/>
        </p:spPr>
        <p:txBody>
          <a:bodyPr wrap="square" lIns="45720" rIns="45720" tIns="18288" bIns="18288">
            <a:spAutoFit/>
          </a:bodyPr>
          <a:lstStyle/>
          <a:p>
            <a:pPr algn="l"/>
            <a:r>
              <a:rPr sz="1800" b="0">
                <a:solidFill>
                  <a:srgbClr val="E6ECF2"/>
                </a:solidFill>
                <a:latin typeface="Calibri"/>
              </a:rPr>
              <a:t>Zambia must leverage its existing radiological safety expertise and uranium resources to transition to nuclear power as a drought-proof solution for national energy security.</a:t>
            </a:r>
          </a:p>
        </p:txBody>
      </p:sp>
      <p:sp>
        <p:nvSpPr>
          <p:cNvPr id="6" name="TextBox 5"/>
          <p:cNvSpPr txBox="1"/>
          <p:nvPr/>
        </p:nvSpPr>
        <p:spPr>
          <a:xfrm>
            <a:off x="731520" y="5669280"/>
            <a:ext cx="10698480" cy="365760"/>
          </a:xfrm>
          <a:prstGeom prst="rect">
            <a:avLst/>
          </a:prstGeom>
          <a:noFill/>
        </p:spPr>
        <p:txBody>
          <a:bodyPr wrap="square" lIns="45720" rIns="45720" tIns="18288" bIns="18288">
            <a:spAutoFit/>
          </a:bodyPr>
          <a:lstStyle/>
          <a:p>
            <a:pPr algn="l"/>
            <a:r>
              <a:rPr sz="1400" b="1">
                <a:solidFill>
                  <a:srgbClr val="FFFFFF"/>
                </a:solidFill>
                <a:latin typeface="Calibri"/>
              </a:rPr>
              <a:t>Prepared by: Elizabeth Mwaba</a:t>
            </a:r>
          </a:p>
        </p:txBody>
      </p:sp>
      <p:sp>
        <p:nvSpPr>
          <p:cNvPr id="7" name="TextBox 6"/>
          <p:cNvSpPr txBox="1"/>
          <p:nvPr/>
        </p:nvSpPr>
        <p:spPr>
          <a:xfrm>
            <a:off x="731520" y="5989320"/>
            <a:ext cx="10698480" cy="365760"/>
          </a:xfrm>
          <a:prstGeom prst="rect">
            <a:avLst/>
          </a:prstGeom>
          <a:noFill/>
        </p:spPr>
        <p:txBody>
          <a:bodyPr wrap="square" lIns="45720" rIns="45720" tIns="18288" bIns="18288">
            <a:spAutoFit/>
          </a:bodyPr>
          <a:lstStyle/>
          <a:p>
            <a:pPr algn="l"/>
            <a:r>
              <a:rPr sz="1200" b="0">
                <a:solidFill>
                  <a:srgbClr val="CFD8E3"/>
                </a:solidFill>
                <a:latin typeface="Calibri"/>
              </a:rPr>
              <a:t>A data-driven advocacy brief</a:t>
            </a:r>
          </a:p>
        </p:txBody>
      </p:sp>
      <p:sp>
        <p:nvSpPr>
          <p:cNvPr id="8" name="Rectangle 7"/>
          <p:cNvSpPr/>
          <p:nvPr/>
        </p:nvSpPr>
        <p:spPr>
          <a:xfrm>
            <a:off x="0" y="6446520"/>
            <a:ext cx="12191695" cy="41148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492240"/>
            <a:ext cx="10515600" cy="365760"/>
          </a:xfrm>
          <a:prstGeom prst="rect">
            <a:avLst/>
          </a:prstGeom>
          <a:noFill/>
        </p:spPr>
        <p:txBody>
          <a:bodyPr wrap="square" lIns="45720" rIns="45720" tIns="18288" bIns="18288">
            <a:spAutoFit/>
          </a:bodyPr>
          <a:lstStyle/>
          <a:p>
            <a:pPr algn="l"/>
            <a:r>
              <a:rPr sz="900" b="0">
                <a:solidFill>
                  <a:srgbClr val="FFFFFF"/>
                </a:solidFill>
                <a:latin typeface="Calibri"/>
              </a:rPr>
              <a:t>Sources: Zambia 7th National Development Plan (7NDP) &amp; Vision 2030 | IAEA Milestone Approach for New Nuclear Programs</a:t>
            </a:r>
          </a:p>
        </p:txBody>
      </p:sp>
      <p:sp>
        <p:nvSpPr>
          <p:cNvPr id="10" name="TextBox 9"/>
          <p:cNvSpPr txBox="1"/>
          <p:nvPr/>
        </p:nvSpPr>
        <p:spPr>
          <a:xfrm>
            <a:off x="11247120" y="6492240"/>
            <a:ext cx="822960" cy="365760"/>
          </a:xfrm>
          <a:prstGeom prst="rect">
            <a:avLst/>
          </a:prstGeom>
          <a:noFill/>
        </p:spPr>
        <p:txBody>
          <a:bodyPr wrap="square" lIns="45720" rIns="45720" tIns="18288" bIns="18288">
            <a:spAutoFit/>
          </a:bodyPr>
          <a:lstStyle/>
          <a:p>
            <a:pPr algn="r"/>
            <a:r>
              <a:rPr sz="1000" b="1">
                <a:solidFill>
                  <a:srgbClr val="B86B2A"/>
                </a:solidFill>
                <a:latin typeface="Calibri"/>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73152"/>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430000" cy="548640"/>
          </a:xfrm>
          <a:prstGeom prst="rect">
            <a:avLst/>
          </a:prstGeom>
          <a:noFill/>
        </p:spPr>
        <p:txBody>
          <a:bodyPr wrap="square" lIns="45720" rIns="45720" tIns="18288" bIns="18288">
            <a:spAutoFit/>
          </a:bodyPr>
          <a:lstStyle/>
          <a:p>
            <a:pPr algn="l"/>
            <a:r>
              <a:rPr sz="2800" b="1">
                <a:solidFill>
                  <a:srgbClr val="FFFFFF"/>
                </a:solidFill>
                <a:latin typeface="Calibri"/>
              </a:rPr>
              <a:t>The Hook: Siavonga's Invisible Ghost</a:t>
            </a:r>
          </a:p>
        </p:txBody>
      </p:sp>
      <p:sp>
        <p:nvSpPr>
          <p:cNvPr id="5" name="TextBox 4"/>
          <p:cNvSpPr txBox="1"/>
          <p:nvPr/>
        </p:nvSpPr>
        <p:spPr>
          <a:xfrm>
            <a:off x="457200" y="594360"/>
            <a:ext cx="11430000" cy="320040"/>
          </a:xfrm>
          <a:prstGeom prst="rect">
            <a:avLst/>
          </a:prstGeom>
          <a:noFill/>
        </p:spPr>
        <p:txBody>
          <a:bodyPr wrap="square" lIns="45720" rIns="45720" tIns="18288" bIns="18288">
            <a:spAutoFit/>
          </a:bodyPr>
          <a:lstStyle/>
          <a:p>
            <a:pPr algn="l"/>
            <a:r>
              <a:rPr sz="1400" b="0">
                <a:solidFill>
                  <a:srgbClr val="CFD8E3"/>
                </a:solidFill>
                <a:latin typeface="Calibri"/>
              </a:rPr>
              <a:t>The paradox we already live with</a:t>
            </a:r>
          </a:p>
        </p:txBody>
      </p:sp>
      <p:sp>
        <p:nvSpPr>
          <p:cNvPr id="6" name="Rectangle 5"/>
          <p:cNvSpPr/>
          <p:nvPr/>
        </p:nvSpPr>
        <p:spPr>
          <a:xfrm>
            <a:off x="457200" y="1371600"/>
            <a:ext cx="5394960"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5394960" cy="457200"/>
          </a:xfrm>
          <a:prstGeom prst="rect">
            <a:avLst/>
          </a:prstGeom>
          <a:noFill/>
        </p:spPr>
        <p:txBody>
          <a:bodyPr wrap="square" lIns="45720" rIns="45720" tIns="18288" bIns="18288">
            <a:spAutoFit/>
          </a:bodyPr>
          <a:lstStyle/>
          <a:p>
            <a:pPr algn="l"/>
            <a:r>
              <a:rPr sz="1800" b="1">
                <a:solidFill>
                  <a:srgbClr val="FFFFFF"/>
                </a:solidFill>
                <a:latin typeface="Calibri"/>
              </a:rPr>
              <a:t>  INVISIBLE DANGER</a:t>
            </a:r>
          </a:p>
        </p:txBody>
      </p:sp>
      <p:sp>
        <p:nvSpPr>
          <p:cNvPr id="8" name="Rectangle 7"/>
          <p:cNvSpPr/>
          <p:nvPr/>
        </p:nvSpPr>
        <p:spPr>
          <a:xfrm>
            <a:off x="457200" y="1874519"/>
            <a:ext cx="5394960" cy="4251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11680"/>
            <a:ext cx="5120640" cy="4389120"/>
          </a:xfrm>
          <a:prstGeom prst="rect">
            <a:avLst/>
          </a:prstGeom>
          <a:noFill/>
        </p:spPr>
        <p:txBody>
          <a:bodyPr wrap="square">
            <a:spAutoFit/>
          </a:bodyPr>
          <a:lstStyle/>
          <a:p>
            <a:pPr>
              <a:spcAft>
                <a:spcPts val="600"/>
              </a:spcAft>
            </a:pPr>
            <a:r>
              <a:rPr sz="1500">
                <a:solidFill>
                  <a:srgbClr val="1A1A1A"/>
                </a:solidFill>
                <a:latin typeface="Calibri"/>
              </a:rPr>
              <a:t>•  Unmonitored environmental uranium detected in Siavonga water and dust samples.</a:t>
            </a:r>
          </a:p>
          <a:p>
            <a:pPr>
              <a:spcAft>
                <a:spcPts val="600"/>
              </a:spcAft>
            </a:pPr>
            <a:r>
              <a:rPr sz="1500">
                <a:solidFill>
                  <a:srgbClr val="1A1A1A"/>
                </a:solidFill>
                <a:latin typeface="Calibri"/>
              </a:rPr>
              <a:t>•  Communities exposed daily — without dosimetry, without baseline data, without recourse.</a:t>
            </a:r>
          </a:p>
          <a:p>
            <a:pPr>
              <a:spcAft>
                <a:spcPts val="600"/>
              </a:spcAft>
            </a:pPr>
            <a:r>
              <a:rPr sz="1500">
                <a:solidFill>
                  <a:srgbClr val="1A1A1A"/>
                </a:solidFill>
                <a:latin typeface="Calibri"/>
              </a:rPr>
              <a:t>•  Risk is real, but invisible: no instrumentation, no regulator presence, no accountability.</a:t>
            </a:r>
          </a:p>
          <a:p>
            <a:pPr>
              <a:spcAft>
                <a:spcPts val="600"/>
              </a:spcAft>
            </a:pPr>
            <a:r>
              <a:rPr sz="1500">
                <a:solidFill>
                  <a:srgbClr val="1A1A1A"/>
                </a:solidFill>
                <a:latin typeface="Calibri"/>
              </a:rPr>
              <a:t>•  This is the status quo of radiological FEAR — exposure without measurement.</a:t>
            </a:r>
          </a:p>
        </p:txBody>
      </p:sp>
      <p:sp>
        <p:nvSpPr>
          <p:cNvPr id="10" name="Rectangle 9"/>
          <p:cNvSpPr/>
          <p:nvPr/>
        </p:nvSpPr>
        <p:spPr>
          <a:xfrm>
            <a:off x="6355080" y="1371600"/>
            <a:ext cx="5394960" cy="50292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17320"/>
            <a:ext cx="5394960" cy="457200"/>
          </a:xfrm>
          <a:prstGeom prst="rect">
            <a:avLst/>
          </a:prstGeom>
          <a:noFill/>
        </p:spPr>
        <p:txBody>
          <a:bodyPr wrap="square" lIns="45720" rIns="45720" tIns="18288" bIns="18288">
            <a:spAutoFit/>
          </a:bodyPr>
          <a:lstStyle/>
          <a:p>
            <a:pPr algn="l"/>
            <a:r>
              <a:rPr sz="1800" b="1">
                <a:solidFill>
                  <a:srgbClr val="FFFFFF"/>
                </a:solidFill>
                <a:latin typeface="Calibri"/>
              </a:rPr>
              <a:t>  PRECISION MONITORING</a:t>
            </a:r>
          </a:p>
        </p:txBody>
      </p:sp>
      <p:sp>
        <p:nvSpPr>
          <p:cNvPr id="12" name="Rectangle 11"/>
          <p:cNvSpPr/>
          <p:nvPr/>
        </p:nvSpPr>
        <p:spPr>
          <a:xfrm>
            <a:off x="6355080" y="1874519"/>
            <a:ext cx="5394960" cy="4251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5120640" cy="4389120"/>
          </a:xfrm>
          <a:prstGeom prst="rect">
            <a:avLst/>
          </a:prstGeom>
          <a:noFill/>
        </p:spPr>
        <p:txBody>
          <a:bodyPr wrap="square">
            <a:spAutoFit/>
          </a:bodyPr>
          <a:lstStyle/>
          <a:p>
            <a:pPr>
              <a:spcAft>
                <a:spcPts val="600"/>
              </a:spcAft>
            </a:pPr>
            <a:r>
              <a:rPr sz="1500">
                <a:solidFill>
                  <a:srgbClr val="1A1A1A"/>
                </a:solidFill>
                <a:latin typeface="Calibri"/>
              </a:rPr>
              <a:t>•  U.S. nuclear enterprise: ~22,000 workers, 11,000 with measurable dose, tracked annually.</a:t>
            </a:r>
          </a:p>
          <a:p>
            <a:pPr>
              <a:spcAft>
                <a:spcPts val="600"/>
              </a:spcAft>
            </a:pPr>
            <a:r>
              <a:rPr sz="1500">
                <a:solidFill>
                  <a:srgbClr val="1A1A1A"/>
                </a:solidFill>
                <a:latin typeface="Calibri"/>
              </a:rPr>
              <a:t>•  Average individual dose: 59.12 mrem — under 2% of the 5,000 mrem federal limit.</a:t>
            </a:r>
          </a:p>
          <a:p>
            <a:pPr>
              <a:spcAft>
                <a:spcPts val="600"/>
              </a:spcAft>
            </a:pPr>
            <a:r>
              <a:rPr sz="1500">
                <a:solidFill>
                  <a:srgbClr val="1A1A1A"/>
                </a:solidFill>
                <a:latin typeface="Calibri"/>
              </a:rPr>
              <a:t>•  Workforce grew (1,133 → 1,167) with NO rise in individual exposure. Safety is scalable.</a:t>
            </a:r>
          </a:p>
          <a:p>
            <a:pPr>
              <a:spcAft>
                <a:spcPts val="600"/>
              </a:spcAft>
            </a:pPr>
            <a:r>
              <a:rPr sz="1500">
                <a:solidFill>
                  <a:srgbClr val="1A1A1A"/>
                </a:solidFill>
                <a:latin typeface="Calibri"/>
              </a:rPr>
              <a:t>•  This is industrial MASTERY — exposure rigorously measured, managed, and minimised.</a:t>
            </a:r>
          </a:p>
        </p:txBody>
      </p:sp>
      <p:sp>
        <p:nvSpPr>
          <p:cNvPr id="14" name="TextBox 13"/>
          <p:cNvSpPr txBox="1"/>
          <p:nvPr/>
        </p:nvSpPr>
        <p:spPr>
          <a:xfrm>
            <a:off x="457200" y="5989320"/>
            <a:ext cx="11247120" cy="365760"/>
          </a:xfrm>
          <a:prstGeom prst="rect">
            <a:avLst/>
          </a:prstGeom>
          <a:noFill/>
        </p:spPr>
        <p:txBody>
          <a:bodyPr wrap="square" lIns="45720" rIns="45720" tIns="18288" bIns="18288">
            <a:spAutoFit/>
          </a:bodyPr>
          <a:lstStyle/>
          <a:p>
            <a:pPr algn="ctr"/>
            <a:r>
              <a:rPr sz="1600" b="1">
                <a:solidFill>
                  <a:srgbClr val="C0392B"/>
                </a:solidFill>
                <a:latin typeface="Calibri"/>
              </a:rPr>
              <a:t>The transition Zambia must make: from FEAR to MASTERY.</a:t>
            </a:r>
          </a:p>
        </p:txBody>
      </p:sp>
      <p:sp>
        <p:nvSpPr>
          <p:cNvPr id="15" name="Rectangle 14"/>
          <p:cNvSpPr/>
          <p:nvPr/>
        </p:nvSpPr>
        <p:spPr>
          <a:xfrm>
            <a:off x="0" y="6446520"/>
            <a:ext cx="12191695" cy="41148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492240"/>
            <a:ext cx="10515600" cy="365760"/>
          </a:xfrm>
          <a:prstGeom prst="rect">
            <a:avLst/>
          </a:prstGeom>
          <a:noFill/>
        </p:spPr>
        <p:txBody>
          <a:bodyPr wrap="square" lIns="45720" rIns="45720" tIns="18288" bIns="18288">
            <a:spAutoFit/>
          </a:bodyPr>
          <a:lstStyle/>
          <a:p>
            <a:pPr algn="l"/>
            <a:r>
              <a:rPr sz="900" b="0">
                <a:solidFill>
                  <a:srgbClr val="FFFFFF"/>
                </a:solidFill>
                <a:latin typeface="Calibri"/>
              </a:rPr>
              <a:t>Sources: Siavonga Uranium Baseline Survey (2024) | U.S. DOE REMS 2024 Report</a:t>
            </a:r>
          </a:p>
        </p:txBody>
      </p:sp>
      <p:sp>
        <p:nvSpPr>
          <p:cNvPr id="17" name="TextBox 16"/>
          <p:cNvSpPr txBox="1"/>
          <p:nvPr/>
        </p:nvSpPr>
        <p:spPr>
          <a:xfrm>
            <a:off x="11247120" y="6492240"/>
            <a:ext cx="822960" cy="365760"/>
          </a:xfrm>
          <a:prstGeom prst="rect">
            <a:avLst/>
          </a:prstGeom>
          <a:noFill/>
        </p:spPr>
        <p:txBody>
          <a:bodyPr wrap="square" lIns="45720" rIns="45720" tIns="18288" bIns="18288">
            <a:spAutoFit/>
          </a:bodyPr>
          <a:lstStyle/>
          <a:p>
            <a:pPr algn="r"/>
            <a:r>
              <a:rPr sz="1000" b="1">
                <a:solidFill>
                  <a:srgbClr val="B86B2A"/>
                </a:solidFill>
                <a:latin typeface="Calibri"/>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73152"/>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430000" cy="548640"/>
          </a:xfrm>
          <a:prstGeom prst="rect">
            <a:avLst/>
          </a:prstGeom>
          <a:noFill/>
        </p:spPr>
        <p:txBody>
          <a:bodyPr wrap="square" lIns="45720" rIns="45720" tIns="18288" bIns="18288">
            <a:spAutoFit/>
          </a:bodyPr>
          <a:lstStyle/>
          <a:p>
            <a:pPr algn="l"/>
            <a:r>
              <a:rPr sz="2800" b="1">
                <a:solidFill>
                  <a:srgbClr val="FFFFFF"/>
                </a:solidFill>
                <a:latin typeface="Calibri"/>
              </a:rPr>
              <a:t>Safety Evidence: 59.12 mrem Proves Mastery</a:t>
            </a:r>
          </a:p>
        </p:txBody>
      </p:sp>
      <p:sp>
        <p:nvSpPr>
          <p:cNvPr id="5" name="TextBox 4"/>
          <p:cNvSpPr txBox="1"/>
          <p:nvPr/>
        </p:nvSpPr>
        <p:spPr>
          <a:xfrm>
            <a:off x="457200" y="594360"/>
            <a:ext cx="11430000" cy="320040"/>
          </a:xfrm>
          <a:prstGeom prst="rect">
            <a:avLst/>
          </a:prstGeom>
          <a:noFill/>
        </p:spPr>
        <p:txBody>
          <a:bodyPr wrap="square" lIns="45720" rIns="45720" tIns="18288" bIns="18288">
            <a:spAutoFit/>
          </a:bodyPr>
          <a:lstStyle/>
          <a:p>
            <a:pPr algn="l"/>
            <a:r>
              <a:rPr sz="1400" b="0">
                <a:solidFill>
                  <a:srgbClr val="CFD8E3"/>
                </a:solidFill>
                <a:latin typeface="Calibri"/>
              </a:rPr>
              <a:t>A decade of data (2014-2024) vs. the IAEA benchmark</a:t>
            </a:r>
          </a:p>
        </p:txBody>
      </p:sp>
      <p:sp>
        <p:nvSpPr>
          <p:cNvPr id="6" name="Rectangle 5"/>
          <p:cNvSpPr/>
          <p:nvPr/>
        </p:nvSpPr>
        <p:spPr>
          <a:xfrm>
            <a:off x="457200" y="1371600"/>
            <a:ext cx="3840480" cy="228600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3840480" cy="457200"/>
          </a:xfrm>
          <a:prstGeom prst="rect">
            <a:avLst/>
          </a:prstGeom>
          <a:noFill/>
        </p:spPr>
        <p:txBody>
          <a:bodyPr wrap="square" lIns="45720" rIns="45720" tIns="18288" bIns="18288">
            <a:spAutoFit/>
          </a:bodyPr>
          <a:lstStyle/>
          <a:p>
            <a:pPr algn="ctr"/>
            <a:r>
              <a:rPr sz="1200" b="1">
                <a:solidFill>
                  <a:srgbClr val="B86B2A"/>
                </a:solidFill>
                <a:latin typeface="Calibri"/>
              </a:rPr>
              <a:t>AVERAGE DOSE</a:t>
            </a:r>
          </a:p>
        </p:txBody>
      </p:sp>
      <p:sp>
        <p:nvSpPr>
          <p:cNvPr id="8" name="TextBox 7"/>
          <p:cNvSpPr txBox="1"/>
          <p:nvPr/>
        </p:nvSpPr>
        <p:spPr>
          <a:xfrm>
            <a:off x="457200" y="1828800"/>
            <a:ext cx="3840480" cy="1280160"/>
          </a:xfrm>
          <a:prstGeom prst="rect">
            <a:avLst/>
          </a:prstGeom>
          <a:noFill/>
        </p:spPr>
        <p:txBody>
          <a:bodyPr wrap="square" lIns="45720" rIns="45720" tIns="18288" bIns="18288">
            <a:spAutoFit/>
          </a:bodyPr>
          <a:lstStyle/>
          <a:p>
            <a:pPr algn="ctr"/>
            <a:r>
              <a:rPr sz="7200" b="1">
                <a:solidFill>
                  <a:srgbClr val="FFFFFF"/>
                </a:solidFill>
                <a:latin typeface="Calibri"/>
              </a:rPr>
              <a:t>59.12</a:t>
            </a:r>
          </a:p>
        </p:txBody>
      </p:sp>
      <p:sp>
        <p:nvSpPr>
          <p:cNvPr id="9" name="TextBox 8"/>
          <p:cNvSpPr txBox="1"/>
          <p:nvPr/>
        </p:nvSpPr>
        <p:spPr>
          <a:xfrm>
            <a:off x="457200" y="2971800"/>
            <a:ext cx="3840480" cy="548640"/>
          </a:xfrm>
          <a:prstGeom prst="rect">
            <a:avLst/>
          </a:prstGeom>
          <a:noFill/>
        </p:spPr>
        <p:txBody>
          <a:bodyPr wrap="square" lIns="45720" rIns="45720" tIns="18288" bIns="18288">
            <a:spAutoFit/>
          </a:bodyPr>
          <a:lstStyle/>
          <a:p>
            <a:pPr algn="ctr"/>
            <a:r>
              <a:rPr sz="1400" b="0">
                <a:solidFill>
                  <a:srgbClr val="FFFFFF"/>
                </a:solidFill>
                <a:latin typeface="Calibri"/>
              </a:rPr>
              <a:t>mrem / technician / year</a:t>
            </a:r>
          </a:p>
        </p:txBody>
      </p:sp>
      <p:sp>
        <p:nvSpPr>
          <p:cNvPr id="10" name="Rectangle 9"/>
          <p:cNvSpPr/>
          <p:nvPr/>
        </p:nvSpPr>
        <p:spPr>
          <a:xfrm>
            <a:off x="4572000" y="1371600"/>
            <a:ext cx="3840480" cy="2286000"/>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417320"/>
            <a:ext cx="3840480" cy="457200"/>
          </a:xfrm>
          <a:prstGeom prst="rect">
            <a:avLst/>
          </a:prstGeom>
          <a:noFill/>
        </p:spPr>
        <p:txBody>
          <a:bodyPr wrap="square" lIns="45720" rIns="45720" tIns="18288" bIns="18288">
            <a:spAutoFit/>
          </a:bodyPr>
          <a:lstStyle/>
          <a:p>
            <a:pPr algn="ctr"/>
            <a:r>
              <a:rPr sz="1200" b="1">
                <a:solidFill>
                  <a:srgbClr val="0B2E4F"/>
                </a:solidFill>
                <a:latin typeface="Calibri"/>
              </a:rPr>
              <a:t>FEDERAL LIMIT</a:t>
            </a:r>
          </a:p>
        </p:txBody>
      </p:sp>
      <p:sp>
        <p:nvSpPr>
          <p:cNvPr id="12" name="TextBox 11"/>
          <p:cNvSpPr txBox="1"/>
          <p:nvPr/>
        </p:nvSpPr>
        <p:spPr>
          <a:xfrm>
            <a:off x="4572000" y="1828800"/>
            <a:ext cx="3840480" cy="1280160"/>
          </a:xfrm>
          <a:prstGeom prst="rect">
            <a:avLst/>
          </a:prstGeom>
          <a:noFill/>
        </p:spPr>
        <p:txBody>
          <a:bodyPr wrap="square" lIns="45720" rIns="45720" tIns="18288" bIns="18288">
            <a:spAutoFit/>
          </a:bodyPr>
          <a:lstStyle/>
          <a:p>
            <a:pPr algn="ctr"/>
            <a:r>
              <a:rPr sz="7200" b="1">
                <a:solidFill>
                  <a:srgbClr val="FFFFFF"/>
                </a:solidFill>
                <a:latin typeface="Calibri"/>
              </a:rPr>
              <a:t>5,000</a:t>
            </a:r>
          </a:p>
        </p:txBody>
      </p:sp>
      <p:sp>
        <p:nvSpPr>
          <p:cNvPr id="13" name="TextBox 12"/>
          <p:cNvSpPr txBox="1"/>
          <p:nvPr/>
        </p:nvSpPr>
        <p:spPr>
          <a:xfrm>
            <a:off x="4572000" y="2971800"/>
            <a:ext cx="3840480" cy="548640"/>
          </a:xfrm>
          <a:prstGeom prst="rect">
            <a:avLst/>
          </a:prstGeom>
          <a:noFill/>
        </p:spPr>
        <p:txBody>
          <a:bodyPr wrap="square" lIns="45720" rIns="45720" tIns="18288" bIns="18288">
            <a:spAutoFit/>
          </a:bodyPr>
          <a:lstStyle/>
          <a:p>
            <a:pPr algn="ctr"/>
            <a:r>
              <a:rPr sz="1400" b="0">
                <a:solidFill>
                  <a:srgbClr val="FFFFFF"/>
                </a:solidFill>
                <a:latin typeface="Calibri"/>
              </a:rPr>
              <a:t>mrem occupational ceiling</a:t>
            </a:r>
          </a:p>
        </p:txBody>
      </p:sp>
      <p:sp>
        <p:nvSpPr>
          <p:cNvPr id="14" name="Rectangle 13"/>
          <p:cNvSpPr/>
          <p:nvPr/>
        </p:nvSpPr>
        <p:spPr>
          <a:xfrm>
            <a:off x="8686800" y="1371600"/>
            <a:ext cx="3017520" cy="2286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1417320"/>
            <a:ext cx="3017520" cy="457200"/>
          </a:xfrm>
          <a:prstGeom prst="rect">
            <a:avLst/>
          </a:prstGeom>
          <a:noFill/>
        </p:spPr>
        <p:txBody>
          <a:bodyPr wrap="square" lIns="45720" rIns="45720" tIns="18288" bIns="18288">
            <a:spAutoFit/>
          </a:bodyPr>
          <a:lstStyle/>
          <a:p>
            <a:pPr algn="ctr"/>
            <a:r>
              <a:rPr sz="1200" b="1">
                <a:solidFill>
                  <a:srgbClr val="FFFFFF"/>
                </a:solidFill>
                <a:latin typeface="Calibri"/>
              </a:rPr>
              <a:t>OF THE LIMIT</a:t>
            </a:r>
          </a:p>
        </p:txBody>
      </p:sp>
      <p:sp>
        <p:nvSpPr>
          <p:cNvPr id="16" name="TextBox 15"/>
          <p:cNvSpPr txBox="1"/>
          <p:nvPr/>
        </p:nvSpPr>
        <p:spPr>
          <a:xfrm>
            <a:off x="8686800" y="1828800"/>
            <a:ext cx="3017520" cy="1280160"/>
          </a:xfrm>
          <a:prstGeom prst="rect">
            <a:avLst/>
          </a:prstGeom>
          <a:noFill/>
        </p:spPr>
        <p:txBody>
          <a:bodyPr wrap="square" lIns="45720" rIns="45720" tIns="18288" bIns="18288">
            <a:spAutoFit/>
          </a:bodyPr>
          <a:lstStyle/>
          <a:p>
            <a:pPr algn="ctr"/>
            <a:r>
              <a:rPr sz="7200" b="1">
                <a:solidFill>
                  <a:srgbClr val="FFFFFF"/>
                </a:solidFill>
                <a:latin typeface="Calibri"/>
              </a:rPr>
              <a:t>&lt; 2%</a:t>
            </a:r>
          </a:p>
        </p:txBody>
      </p:sp>
      <p:sp>
        <p:nvSpPr>
          <p:cNvPr id="17" name="TextBox 16"/>
          <p:cNvSpPr txBox="1"/>
          <p:nvPr/>
        </p:nvSpPr>
        <p:spPr>
          <a:xfrm>
            <a:off x="8686800" y="2971800"/>
            <a:ext cx="3017520" cy="548640"/>
          </a:xfrm>
          <a:prstGeom prst="rect">
            <a:avLst/>
          </a:prstGeom>
          <a:noFill/>
        </p:spPr>
        <p:txBody>
          <a:bodyPr wrap="square" lIns="45720" rIns="45720" tIns="18288" bIns="18288">
            <a:spAutoFit/>
          </a:bodyPr>
          <a:lstStyle/>
          <a:p>
            <a:pPr algn="ctr"/>
            <a:r>
              <a:rPr sz="1400" b="0">
                <a:solidFill>
                  <a:srgbClr val="FFFFFF"/>
                </a:solidFill>
                <a:latin typeface="Calibri"/>
              </a:rPr>
              <a:t>industrial safety margin</a:t>
            </a:r>
          </a:p>
        </p:txBody>
      </p:sp>
      <p:sp>
        <p:nvSpPr>
          <p:cNvPr id="18" name="TextBox 17"/>
          <p:cNvSpPr txBox="1"/>
          <p:nvPr/>
        </p:nvSpPr>
        <p:spPr>
          <a:xfrm>
            <a:off x="457200" y="3840480"/>
            <a:ext cx="11247120" cy="411480"/>
          </a:xfrm>
          <a:prstGeom prst="rect">
            <a:avLst/>
          </a:prstGeom>
          <a:noFill/>
        </p:spPr>
        <p:txBody>
          <a:bodyPr wrap="square" lIns="45720" rIns="45720" tIns="18288" bIns="18288">
            <a:spAutoFit/>
          </a:bodyPr>
          <a:lstStyle/>
          <a:p>
            <a:pPr algn="l"/>
            <a:r>
              <a:rPr sz="1800" b="1">
                <a:solidFill>
                  <a:srgbClr val="0B2E4F"/>
                </a:solidFill>
                <a:latin typeface="Calibri"/>
              </a:rPr>
              <a:t>What the data proves — and why Zambia can replicate it:</a:t>
            </a:r>
          </a:p>
        </p:txBody>
      </p:sp>
      <p:sp>
        <p:nvSpPr>
          <p:cNvPr id="19" name="TextBox 18"/>
          <p:cNvSpPr txBox="1"/>
          <p:nvPr/>
        </p:nvSpPr>
        <p:spPr>
          <a:xfrm>
            <a:off x="640080" y="4297680"/>
            <a:ext cx="10972800" cy="2011680"/>
          </a:xfrm>
          <a:prstGeom prst="rect">
            <a:avLst/>
          </a:prstGeom>
          <a:noFill/>
        </p:spPr>
        <p:txBody>
          <a:bodyPr wrap="square">
            <a:spAutoFit/>
          </a:bodyPr>
          <a:lstStyle/>
          <a:p>
            <a:pPr>
              <a:spcAft>
                <a:spcPts val="600"/>
              </a:spcAft>
            </a:pPr>
            <a:r>
              <a:rPr sz="1400">
                <a:solidFill>
                  <a:srgbClr val="1A1A1A"/>
                </a:solidFill>
                <a:latin typeface="Calibri"/>
              </a:rPr>
              <a:t>•  Scalability: workforce grew from 1,133 to 1,167 (2021-2024); average dose stayed flat. Safety infrastructure scales.</a:t>
            </a:r>
          </a:p>
          <a:p>
            <a:pPr>
              <a:spcAft>
                <a:spcPts val="600"/>
              </a:spcAft>
            </a:pPr>
            <a:r>
              <a:rPr sz="1400">
                <a:solidFill>
                  <a:srgbClr val="1A1A1A"/>
                </a:solidFill>
                <a:latin typeface="Calibri"/>
              </a:rPr>
              <a:t>•  Containment of risk: 98% of exposure is external (managed by shielding); only 2% internal — validates respiratory and clean-room protocols.</a:t>
            </a:r>
          </a:p>
          <a:p>
            <a:pPr>
              <a:spcAft>
                <a:spcPts val="600"/>
              </a:spcAft>
            </a:pPr>
            <a:r>
              <a:rPr sz="1400">
                <a:solidFill>
                  <a:srgbClr val="1A1A1A"/>
                </a:solidFill>
                <a:latin typeface="Calibri"/>
              </a:rPr>
              <a:t>•  Targeted oversight: hot zones (Savannah River, Albuquerque) are identified and mitigated, not hidden.</a:t>
            </a:r>
          </a:p>
          <a:p>
            <a:pPr>
              <a:spcAft>
                <a:spcPts val="600"/>
              </a:spcAft>
            </a:pPr>
            <a:r>
              <a:rPr sz="1400">
                <a:solidFill>
                  <a:srgbClr val="1A1A1A"/>
                </a:solidFill>
                <a:latin typeface="Calibri"/>
              </a:rPr>
              <a:t>•  Alignment: IAEA Milestone Approach provides the same regulatory roadmap Zambia is already following through the Radiation Protection Authority (RPA → NSPA).</a:t>
            </a:r>
          </a:p>
        </p:txBody>
      </p:sp>
      <p:sp>
        <p:nvSpPr>
          <p:cNvPr id="20" name="Rectangle 19"/>
          <p:cNvSpPr/>
          <p:nvPr/>
        </p:nvSpPr>
        <p:spPr>
          <a:xfrm>
            <a:off x="0" y="6446520"/>
            <a:ext cx="12191695" cy="41148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492240"/>
            <a:ext cx="10515600" cy="365760"/>
          </a:xfrm>
          <a:prstGeom prst="rect">
            <a:avLst/>
          </a:prstGeom>
          <a:noFill/>
        </p:spPr>
        <p:txBody>
          <a:bodyPr wrap="square" lIns="45720" rIns="45720" tIns="18288" bIns="18288">
            <a:spAutoFit/>
          </a:bodyPr>
          <a:lstStyle/>
          <a:p>
            <a:pPr algn="l"/>
            <a:r>
              <a:rPr sz="900" b="0">
                <a:solidFill>
                  <a:srgbClr val="FFFFFF"/>
                </a:solidFill>
                <a:latin typeface="Calibri"/>
              </a:rPr>
              <a:t>Sources: U.S. DOE REMS 2024 Report | IAEA Milestone Approach for New Nuclear Programs</a:t>
            </a:r>
          </a:p>
        </p:txBody>
      </p:sp>
      <p:sp>
        <p:nvSpPr>
          <p:cNvPr id="22" name="TextBox 21"/>
          <p:cNvSpPr txBox="1"/>
          <p:nvPr/>
        </p:nvSpPr>
        <p:spPr>
          <a:xfrm>
            <a:off x="11247120" y="6492240"/>
            <a:ext cx="822960" cy="365760"/>
          </a:xfrm>
          <a:prstGeom prst="rect">
            <a:avLst/>
          </a:prstGeom>
          <a:noFill/>
        </p:spPr>
        <p:txBody>
          <a:bodyPr wrap="square" lIns="45720" rIns="45720" tIns="18288" bIns="18288">
            <a:spAutoFit/>
          </a:bodyPr>
          <a:lstStyle/>
          <a:p>
            <a:pPr algn="r"/>
            <a:r>
              <a:rPr sz="1000" b="1">
                <a:solidFill>
                  <a:srgbClr val="B86B2A"/>
                </a:solidFill>
                <a:latin typeface="Calibri"/>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73152"/>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430000" cy="548640"/>
          </a:xfrm>
          <a:prstGeom prst="rect">
            <a:avLst/>
          </a:prstGeom>
          <a:noFill/>
        </p:spPr>
        <p:txBody>
          <a:bodyPr wrap="square" lIns="45720" rIns="45720" tIns="18288" bIns="18288">
            <a:spAutoFit/>
          </a:bodyPr>
          <a:lstStyle/>
          <a:p>
            <a:pPr algn="l"/>
            <a:r>
              <a:rPr sz="2800" b="1">
                <a:solidFill>
                  <a:srgbClr val="FFFFFF"/>
                </a:solidFill>
                <a:latin typeface="Calibri"/>
              </a:rPr>
              <a:t>The Zambian Need: Drought-Proofing 2,000 MW</a:t>
            </a:r>
          </a:p>
        </p:txBody>
      </p:sp>
      <p:sp>
        <p:nvSpPr>
          <p:cNvPr id="5" name="TextBox 4"/>
          <p:cNvSpPr txBox="1"/>
          <p:nvPr/>
        </p:nvSpPr>
        <p:spPr>
          <a:xfrm>
            <a:off x="457200" y="594360"/>
            <a:ext cx="11430000" cy="320040"/>
          </a:xfrm>
          <a:prstGeom prst="rect">
            <a:avLst/>
          </a:prstGeom>
          <a:noFill/>
        </p:spPr>
        <p:txBody>
          <a:bodyPr wrap="square" lIns="45720" rIns="45720" tIns="18288" bIns="18288">
            <a:spAutoFit/>
          </a:bodyPr>
          <a:lstStyle/>
          <a:p>
            <a:pPr algn="l"/>
            <a:r>
              <a:rPr sz="1400" b="0">
                <a:solidFill>
                  <a:srgbClr val="CFD8E3"/>
                </a:solidFill>
                <a:latin typeface="Calibri"/>
              </a:rPr>
              <a:t>Why the status quo is not survivable</a:t>
            </a:r>
          </a:p>
        </p:txBody>
      </p:sp>
      <p:sp>
        <p:nvSpPr>
          <p:cNvPr id="6" name="Rectangle 5"/>
          <p:cNvSpPr/>
          <p:nvPr/>
        </p:nvSpPr>
        <p:spPr>
          <a:xfrm>
            <a:off x="457200" y="1371600"/>
            <a:ext cx="5577840"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5212080" cy="457200"/>
          </a:xfrm>
          <a:prstGeom prst="rect">
            <a:avLst/>
          </a:prstGeom>
          <a:noFill/>
        </p:spPr>
        <p:txBody>
          <a:bodyPr wrap="square" lIns="45720" rIns="45720" tIns="18288" bIns="18288">
            <a:spAutoFit/>
          </a:bodyPr>
          <a:lstStyle/>
          <a:p>
            <a:pPr algn="l"/>
            <a:r>
              <a:rPr sz="1600" b="1">
                <a:solidFill>
                  <a:srgbClr val="C0392B"/>
                </a:solidFill>
                <a:latin typeface="Calibri"/>
              </a:rPr>
              <a:t>THE HYDRO TRAP</a:t>
            </a:r>
          </a:p>
        </p:txBody>
      </p:sp>
      <p:sp>
        <p:nvSpPr>
          <p:cNvPr id="8" name="TextBox 7"/>
          <p:cNvSpPr txBox="1"/>
          <p:nvPr/>
        </p:nvSpPr>
        <p:spPr>
          <a:xfrm>
            <a:off x="640080" y="1965960"/>
            <a:ext cx="5212080" cy="457200"/>
          </a:xfrm>
          <a:prstGeom prst="rect">
            <a:avLst/>
          </a:prstGeom>
          <a:noFill/>
        </p:spPr>
        <p:txBody>
          <a:bodyPr wrap="square" lIns="45720" rIns="45720" tIns="18288" bIns="18288">
            <a:spAutoFit/>
          </a:bodyPr>
          <a:lstStyle/>
          <a:p>
            <a:pPr algn="l"/>
            <a:r>
              <a:rPr sz="4400" b="1">
                <a:solidFill>
                  <a:srgbClr val="0B2E4F"/>
                </a:solidFill>
                <a:latin typeface="Calibri"/>
              </a:rPr>
              <a:t>84%</a:t>
            </a:r>
          </a:p>
        </p:txBody>
      </p:sp>
      <p:sp>
        <p:nvSpPr>
          <p:cNvPr id="9" name="TextBox 8"/>
          <p:cNvSpPr txBox="1"/>
          <p:nvPr/>
        </p:nvSpPr>
        <p:spPr>
          <a:xfrm>
            <a:off x="640080" y="2788920"/>
            <a:ext cx="5212080" cy="457200"/>
          </a:xfrm>
          <a:prstGeom prst="rect">
            <a:avLst/>
          </a:prstGeom>
          <a:noFill/>
        </p:spPr>
        <p:txBody>
          <a:bodyPr wrap="square" lIns="45720" rIns="45720" tIns="18288" bIns="18288">
            <a:spAutoFit/>
          </a:bodyPr>
          <a:lstStyle/>
          <a:p>
            <a:pPr algn="l"/>
            <a:r>
              <a:rPr sz="1300" b="0">
                <a:solidFill>
                  <a:srgbClr val="1A1A1A"/>
                </a:solidFill>
                <a:latin typeface="Calibri"/>
              </a:rPr>
              <a:t>of Zambia's electricity from hydropower</a:t>
            </a:r>
          </a:p>
        </p:txBody>
      </p:sp>
      <p:sp>
        <p:nvSpPr>
          <p:cNvPr id="10" name="TextBox 9"/>
          <p:cNvSpPr txBox="1"/>
          <p:nvPr/>
        </p:nvSpPr>
        <p:spPr>
          <a:xfrm>
            <a:off x="640080" y="3291840"/>
            <a:ext cx="5212080" cy="2743200"/>
          </a:xfrm>
          <a:prstGeom prst="rect">
            <a:avLst/>
          </a:prstGeom>
          <a:noFill/>
        </p:spPr>
        <p:txBody>
          <a:bodyPr wrap="square">
            <a:spAutoFit/>
          </a:bodyPr>
          <a:lstStyle/>
          <a:p>
            <a:pPr>
              <a:spcAft>
                <a:spcPts val="600"/>
              </a:spcAft>
            </a:pPr>
            <a:r>
              <a:rPr sz="1300">
                <a:solidFill>
                  <a:srgbClr val="1A1A1A"/>
                </a:solidFill>
                <a:latin typeface="Calibri"/>
              </a:rPr>
              <a:t>•  2015/16 drought: 1,000 MW power deficit; ~USD 440M unbudgeted electricity imports.</a:t>
            </a:r>
          </a:p>
          <a:p>
            <a:pPr>
              <a:spcAft>
                <a:spcPts val="600"/>
              </a:spcAft>
            </a:pPr>
            <a:r>
              <a:rPr sz="1300">
                <a:solidFill>
                  <a:srgbClr val="1A1A1A"/>
                </a:solidFill>
                <a:latin typeface="Calibri"/>
              </a:rPr>
              <a:t>•  2023-2024 Kariba crisis: prolonged load-shedding; ZESCO reports continued generation shortfalls.</a:t>
            </a:r>
          </a:p>
          <a:p>
            <a:pPr>
              <a:spcAft>
                <a:spcPts val="600"/>
              </a:spcAft>
            </a:pPr>
            <a:r>
              <a:rPr sz="1300">
                <a:solidFill>
                  <a:srgbClr val="1A1A1A"/>
                </a:solidFill>
                <a:latin typeface="Calibri"/>
              </a:rPr>
              <a:t>•  Drought is no longer the exception — it is the trend.</a:t>
            </a:r>
          </a:p>
        </p:txBody>
      </p:sp>
      <p:sp>
        <p:nvSpPr>
          <p:cNvPr id="11" name="Rectangle 10"/>
          <p:cNvSpPr/>
          <p:nvPr/>
        </p:nvSpPr>
        <p:spPr>
          <a:xfrm>
            <a:off x="6263640" y="1371600"/>
            <a:ext cx="5486400" cy="484632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212080" cy="457200"/>
          </a:xfrm>
          <a:prstGeom prst="rect">
            <a:avLst/>
          </a:prstGeom>
          <a:noFill/>
        </p:spPr>
        <p:txBody>
          <a:bodyPr wrap="square" lIns="45720" rIns="45720" tIns="18288" bIns="18288">
            <a:spAutoFit/>
          </a:bodyPr>
          <a:lstStyle/>
          <a:p>
            <a:pPr algn="l"/>
            <a:r>
              <a:rPr sz="1600" b="1">
                <a:solidFill>
                  <a:srgbClr val="B86B2A"/>
                </a:solidFill>
                <a:latin typeface="Calibri"/>
              </a:rPr>
              <a:t>THE NUCLEAR ANSWER</a:t>
            </a:r>
          </a:p>
        </p:txBody>
      </p:sp>
      <p:sp>
        <p:nvSpPr>
          <p:cNvPr id="13" name="TextBox 12"/>
          <p:cNvSpPr txBox="1"/>
          <p:nvPr/>
        </p:nvSpPr>
        <p:spPr>
          <a:xfrm>
            <a:off x="6446520" y="1965960"/>
            <a:ext cx="5212080" cy="457200"/>
          </a:xfrm>
          <a:prstGeom prst="rect">
            <a:avLst/>
          </a:prstGeom>
          <a:noFill/>
        </p:spPr>
        <p:txBody>
          <a:bodyPr wrap="square" lIns="45720" rIns="45720" tIns="18288" bIns="18288">
            <a:spAutoFit/>
          </a:bodyPr>
          <a:lstStyle/>
          <a:p>
            <a:pPr algn="l"/>
            <a:r>
              <a:rPr sz="4400" b="1">
                <a:solidFill>
                  <a:srgbClr val="FFFFFF"/>
                </a:solidFill>
                <a:latin typeface="Calibri"/>
              </a:rPr>
              <a:t>2,000 MW</a:t>
            </a:r>
          </a:p>
        </p:txBody>
      </p:sp>
      <p:sp>
        <p:nvSpPr>
          <p:cNvPr id="14" name="TextBox 13"/>
          <p:cNvSpPr txBox="1"/>
          <p:nvPr/>
        </p:nvSpPr>
        <p:spPr>
          <a:xfrm>
            <a:off x="6446520" y="2788920"/>
            <a:ext cx="5212080" cy="457200"/>
          </a:xfrm>
          <a:prstGeom prst="rect">
            <a:avLst/>
          </a:prstGeom>
          <a:noFill/>
        </p:spPr>
        <p:txBody>
          <a:bodyPr wrap="square" lIns="45720" rIns="45720" tIns="18288" bIns="18288">
            <a:spAutoFit/>
          </a:bodyPr>
          <a:lstStyle/>
          <a:p>
            <a:pPr algn="l"/>
            <a:r>
              <a:rPr sz="1300" b="0">
                <a:solidFill>
                  <a:srgbClr val="CFD8E3"/>
                </a:solidFill>
                <a:latin typeface="Calibri"/>
              </a:rPr>
              <a:t>national nuclear target (Vision 2030 / 7NDP)</a:t>
            </a:r>
          </a:p>
        </p:txBody>
      </p:sp>
      <p:sp>
        <p:nvSpPr>
          <p:cNvPr id="15" name="TextBox 14"/>
          <p:cNvSpPr txBox="1"/>
          <p:nvPr/>
        </p:nvSpPr>
        <p:spPr>
          <a:xfrm>
            <a:off x="6446520" y="3291840"/>
            <a:ext cx="5212080" cy="2743200"/>
          </a:xfrm>
          <a:prstGeom prst="rect">
            <a:avLst/>
          </a:prstGeom>
          <a:noFill/>
        </p:spPr>
        <p:txBody>
          <a:bodyPr wrap="square">
            <a:spAutoFit/>
          </a:bodyPr>
          <a:lstStyle/>
          <a:p>
            <a:pPr>
              <a:spcAft>
                <a:spcPts val="600"/>
              </a:spcAft>
            </a:pPr>
            <a:r>
              <a:rPr sz="1300">
                <a:solidFill>
                  <a:srgbClr val="FFFFFF"/>
                </a:solidFill>
                <a:latin typeface="Calibri"/>
              </a:rPr>
              <a:t>•  Drought-proof baseload — independent of rainfall and Kariba reservoir levels.</a:t>
            </a:r>
          </a:p>
          <a:p>
            <a:pPr>
              <a:spcAft>
                <a:spcPts val="600"/>
              </a:spcAft>
            </a:pPr>
            <a:r>
              <a:rPr sz="1300">
                <a:solidFill>
                  <a:srgbClr val="FFFFFF"/>
                </a:solidFill>
                <a:latin typeface="Calibri"/>
              </a:rPr>
              <a:t>•  Domestic uranium reserves provide fuel-supply sovereignty.</a:t>
            </a:r>
          </a:p>
          <a:p>
            <a:pPr>
              <a:spcAft>
                <a:spcPts val="600"/>
              </a:spcAft>
            </a:pPr>
            <a:r>
              <a:rPr sz="1300">
                <a:solidFill>
                  <a:srgbClr val="FFFFFF"/>
                </a:solidFill>
                <a:latin typeface="Calibri"/>
              </a:rPr>
              <a:t>•  National Nuclear Policy (2020) and partnerships with ROSATOM, IP3/USA, and KAERI already in place.</a:t>
            </a:r>
          </a:p>
          <a:p>
            <a:pPr>
              <a:spcAft>
                <a:spcPts val="600"/>
              </a:spcAft>
            </a:pPr>
            <a:r>
              <a:rPr sz="1300">
                <a:solidFill>
                  <a:srgbClr val="FFFFFF"/>
                </a:solidFill>
                <a:latin typeface="Calibri"/>
              </a:rPr>
              <a:t>•  Closes the projected 2030 demand gap (forecast: ~27,000 MW) credibly.</a:t>
            </a:r>
          </a:p>
        </p:txBody>
      </p:sp>
      <p:sp>
        <p:nvSpPr>
          <p:cNvPr id="16" name="Rectangle 15"/>
          <p:cNvSpPr/>
          <p:nvPr/>
        </p:nvSpPr>
        <p:spPr>
          <a:xfrm>
            <a:off x="0" y="6446520"/>
            <a:ext cx="12191695" cy="41148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492240"/>
            <a:ext cx="10515600" cy="365760"/>
          </a:xfrm>
          <a:prstGeom prst="rect">
            <a:avLst/>
          </a:prstGeom>
          <a:noFill/>
        </p:spPr>
        <p:txBody>
          <a:bodyPr wrap="square" lIns="45720" rIns="45720" tIns="18288" bIns="18288">
            <a:spAutoFit/>
          </a:bodyPr>
          <a:lstStyle/>
          <a:p>
            <a:pPr algn="l"/>
            <a:r>
              <a:rPr sz="900" b="0">
                <a:solidFill>
                  <a:srgbClr val="FFFFFF"/>
                </a:solidFill>
                <a:latin typeface="Calibri"/>
              </a:rPr>
              <a:t>Sources: ZESCO Annual Reports 2023-2024 | Zambia 7th National Development Plan (7NDP) &amp; Vision 2030</a:t>
            </a:r>
          </a:p>
        </p:txBody>
      </p:sp>
      <p:sp>
        <p:nvSpPr>
          <p:cNvPr id="18" name="TextBox 17"/>
          <p:cNvSpPr txBox="1"/>
          <p:nvPr/>
        </p:nvSpPr>
        <p:spPr>
          <a:xfrm>
            <a:off x="11247120" y="6492240"/>
            <a:ext cx="822960" cy="365760"/>
          </a:xfrm>
          <a:prstGeom prst="rect">
            <a:avLst/>
          </a:prstGeom>
          <a:noFill/>
        </p:spPr>
        <p:txBody>
          <a:bodyPr wrap="square" lIns="45720" rIns="45720" tIns="18288" bIns="18288">
            <a:spAutoFit/>
          </a:bodyPr>
          <a:lstStyle/>
          <a:p>
            <a:pPr algn="r"/>
            <a:r>
              <a:rPr sz="1000" b="1">
                <a:solidFill>
                  <a:srgbClr val="B86B2A"/>
                </a:solidFill>
                <a:latin typeface="Calibri"/>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E4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640080"/>
          </a:xfrm>
          <a:prstGeom prst="rect">
            <a:avLst/>
          </a:prstGeom>
          <a:noFill/>
        </p:spPr>
        <p:txBody>
          <a:bodyPr wrap="square" lIns="45720" rIns="45720" tIns="18288" bIns="18288">
            <a:spAutoFit/>
          </a:bodyPr>
          <a:lstStyle/>
          <a:p>
            <a:pPr algn="l"/>
            <a:r>
              <a:rPr sz="3400" b="1">
                <a:solidFill>
                  <a:srgbClr val="FFFFFF"/>
                </a:solidFill>
                <a:latin typeface="Calibri"/>
              </a:rPr>
              <a:t>Call to Action: Enact the Nuclear Bill</a:t>
            </a:r>
          </a:p>
        </p:txBody>
      </p:sp>
      <p:sp>
        <p:nvSpPr>
          <p:cNvPr id="4" name="TextBox 3"/>
          <p:cNvSpPr txBox="1"/>
          <p:nvPr/>
        </p:nvSpPr>
        <p:spPr>
          <a:xfrm>
            <a:off x="548640" y="1005840"/>
            <a:ext cx="11064240" cy="457200"/>
          </a:xfrm>
          <a:prstGeom prst="rect">
            <a:avLst/>
          </a:prstGeom>
          <a:noFill/>
        </p:spPr>
        <p:txBody>
          <a:bodyPr wrap="square" lIns="45720" rIns="45720" tIns="18288" bIns="18288">
            <a:spAutoFit/>
          </a:bodyPr>
          <a:lstStyle/>
          <a:p>
            <a:pPr algn="l"/>
            <a:r>
              <a:rPr sz="1800" b="0">
                <a:solidFill>
                  <a:srgbClr val="B86B2A"/>
                </a:solidFill>
                <a:latin typeface="Calibri"/>
              </a:rPr>
              <a:t>Turning policy into power</a:t>
            </a:r>
          </a:p>
        </p:txBody>
      </p:sp>
      <p:sp>
        <p:nvSpPr>
          <p:cNvPr id="5" name="TextBox 4"/>
          <p:cNvSpPr txBox="1"/>
          <p:nvPr/>
        </p:nvSpPr>
        <p:spPr>
          <a:xfrm>
            <a:off x="548640" y="1828800"/>
            <a:ext cx="11064240" cy="548640"/>
          </a:xfrm>
          <a:prstGeom prst="rect">
            <a:avLst/>
          </a:prstGeom>
          <a:noFill/>
        </p:spPr>
        <p:txBody>
          <a:bodyPr wrap="square" lIns="45720" rIns="45720" tIns="18288" bIns="18288">
            <a:spAutoFit/>
          </a:bodyPr>
          <a:lstStyle/>
          <a:p>
            <a:pPr algn="l"/>
            <a:r>
              <a:rPr sz="2200" b="1">
                <a:solidFill>
                  <a:srgbClr val="FFFFFF"/>
                </a:solidFill>
                <a:latin typeface="Calibri"/>
              </a:rPr>
              <a:t>Three actions. One generation.</a:t>
            </a:r>
          </a:p>
        </p:txBody>
      </p:sp>
      <p:sp>
        <p:nvSpPr>
          <p:cNvPr id="6" name="Rectangle 5"/>
          <p:cNvSpPr/>
          <p:nvPr/>
        </p:nvSpPr>
        <p:spPr>
          <a:xfrm>
            <a:off x="548640" y="2514600"/>
            <a:ext cx="1920240" cy="868680"/>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715768"/>
            <a:ext cx="1920240" cy="457200"/>
          </a:xfrm>
          <a:prstGeom prst="rect">
            <a:avLst/>
          </a:prstGeom>
          <a:noFill/>
        </p:spPr>
        <p:txBody>
          <a:bodyPr wrap="square" lIns="45720" rIns="45720" tIns="18288" bIns="18288">
            <a:spAutoFit/>
          </a:bodyPr>
          <a:lstStyle/>
          <a:p>
            <a:pPr algn="ctr"/>
            <a:r>
              <a:rPr sz="1800" b="1">
                <a:solidFill>
                  <a:srgbClr val="0B2E4F"/>
                </a:solidFill>
                <a:latin typeface="Calibri"/>
              </a:rPr>
              <a:t>1. ENACT</a:t>
            </a:r>
          </a:p>
        </p:txBody>
      </p:sp>
      <p:sp>
        <p:nvSpPr>
          <p:cNvPr id="8" name="Rectangle 7"/>
          <p:cNvSpPr/>
          <p:nvPr/>
        </p:nvSpPr>
        <p:spPr>
          <a:xfrm>
            <a:off x="2560320" y="2514600"/>
            <a:ext cx="9144000" cy="868680"/>
          </a:xfrm>
          <a:prstGeom prst="rect">
            <a:avLst/>
          </a:prstGeom>
          <a:solidFill>
            <a:srgbClr val="14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679192"/>
            <a:ext cx="8869680" cy="640080"/>
          </a:xfrm>
          <a:prstGeom prst="rect">
            <a:avLst/>
          </a:prstGeom>
          <a:noFill/>
        </p:spPr>
        <p:txBody>
          <a:bodyPr wrap="square" lIns="45720" rIns="45720" tIns="18288" bIns="18288">
            <a:spAutoFit/>
          </a:bodyPr>
          <a:lstStyle/>
          <a:p>
            <a:pPr algn="l"/>
            <a:r>
              <a:rPr sz="1400" b="0">
                <a:solidFill>
                  <a:srgbClr val="FFFFFF"/>
                </a:solidFill>
                <a:latin typeface="Calibri"/>
              </a:rPr>
              <a:t>Pass the Nuclear Bill — formalise NSPA as independent regulator in line with the IAEA Milestone Approach.</a:t>
            </a:r>
          </a:p>
        </p:txBody>
      </p:sp>
      <p:sp>
        <p:nvSpPr>
          <p:cNvPr id="10" name="Rectangle 9"/>
          <p:cNvSpPr/>
          <p:nvPr/>
        </p:nvSpPr>
        <p:spPr>
          <a:xfrm>
            <a:off x="548640" y="3566160"/>
            <a:ext cx="1920240" cy="868680"/>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767328"/>
            <a:ext cx="1920240" cy="457200"/>
          </a:xfrm>
          <a:prstGeom prst="rect">
            <a:avLst/>
          </a:prstGeom>
          <a:noFill/>
        </p:spPr>
        <p:txBody>
          <a:bodyPr wrap="square" lIns="45720" rIns="45720" tIns="18288" bIns="18288">
            <a:spAutoFit/>
          </a:bodyPr>
          <a:lstStyle/>
          <a:p>
            <a:pPr algn="ctr"/>
            <a:r>
              <a:rPr sz="1800" b="1">
                <a:solidFill>
                  <a:srgbClr val="0B2E4F"/>
                </a:solidFill>
                <a:latin typeface="Calibri"/>
              </a:rPr>
              <a:t>2. EQUIP</a:t>
            </a:r>
          </a:p>
        </p:txBody>
      </p:sp>
      <p:sp>
        <p:nvSpPr>
          <p:cNvPr id="12" name="Rectangle 11"/>
          <p:cNvSpPr/>
          <p:nvPr/>
        </p:nvSpPr>
        <p:spPr>
          <a:xfrm>
            <a:off x="2560320" y="3566160"/>
            <a:ext cx="9144000" cy="868680"/>
          </a:xfrm>
          <a:prstGeom prst="rect">
            <a:avLst/>
          </a:prstGeom>
          <a:solidFill>
            <a:srgbClr val="14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0" y="3730752"/>
            <a:ext cx="8869680" cy="640080"/>
          </a:xfrm>
          <a:prstGeom prst="rect">
            <a:avLst/>
          </a:prstGeom>
          <a:noFill/>
        </p:spPr>
        <p:txBody>
          <a:bodyPr wrap="square" lIns="45720" rIns="45720" tIns="18288" bIns="18288">
            <a:spAutoFit/>
          </a:bodyPr>
          <a:lstStyle/>
          <a:p>
            <a:pPr algn="l"/>
            <a:r>
              <a:rPr sz="1400" b="0">
                <a:solidFill>
                  <a:srgbClr val="FFFFFF"/>
                </a:solidFill>
                <a:latin typeface="Calibri"/>
              </a:rPr>
              <a:t>Fund expansion of Zambia's radiological monitoring — starting with Siavonga — to convert invisible risk into measured data.</a:t>
            </a:r>
          </a:p>
        </p:txBody>
      </p:sp>
      <p:sp>
        <p:nvSpPr>
          <p:cNvPr id="14" name="Rectangle 13"/>
          <p:cNvSpPr/>
          <p:nvPr/>
        </p:nvSpPr>
        <p:spPr>
          <a:xfrm>
            <a:off x="548640" y="4617720"/>
            <a:ext cx="1920240" cy="868680"/>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18888"/>
            <a:ext cx="1920240" cy="457200"/>
          </a:xfrm>
          <a:prstGeom prst="rect">
            <a:avLst/>
          </a:prstGeom>
          <a:noFill/>
        </p:spPr>
        <p:txBody>
          <a:bodyPr wrap="square" lIns="45720" rIns="45720" tIns="18288" bIns="18288">
            <a:spAutoFit/>
          </a:bodyPr>
          <a:lstStyle/>
          <a:p>
            <a:pPr algn="ctr"/>
            <a:r>
              <a:rPr sz="1800" b="1">
                <a:solidFill>
                  <a:srgbClr val="0B2E4F"/>
                </a:solidFill>
                <a:latin typeface="Calibri"/>
              </a:rPr>
              <a:t>3. EXECUTE</a:t>
            </a:r>
          </a:p>
        </p:txBody>
      </p:sp>
      <p:sp>
        <p:nvSpPr>
          <p:cNvPr id="16" name="Rectangle 15"/>
          <p:cNvSpPr/>
          <p:nvPr/>
        </p:nvSpPr>
        <p:spPr>
          <a:xfrm>
            <a:off x="2560320" y="4617720"/>
            <a:ext cx="9144000" cy="868680"/>
          </a:xfrm>
          <a:prstGeom prst="rect">
            <a:avLst/>
          </a:prstGeom>
          <a:solidFill>
            <a:srgbClr val="14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0" y="4782312"/>
            <a:ext cx="8869680" cy="640080"/>
          </a:xfrm>
          <a:prstGeom prst="rect">
            <a:avLst/>
          </a:prstGeom>
          <a:noFill/>
        </p:spPr>
        <p:txBody>
          <a:bodyPr wrap="square" lIns="45720" rIns="45720" tIns="18288" bIns="18288">
            <a:spAutoFit/>
          </a:bodyPr>
          <a:lstStyle/>
          <a:p>
            <a:pPr algn="l"/>
            <a:r>
              <a:rPr sz="1400" b="0">
                <a:solidFill>
                  <a:srgbClr val="FFFFFF"/>
                </a:solidFill>
                <a:latin typeface="Calibri"/>
              </a:rPr>
              <a:t>Advance CNST and pre-feasibility for a 2,000 MW programme leveraging domestic uranium and existing partnerships.</a:t>
            </a:r>
          </a:p>
        </p:txBody>
      </p:sp>
      <p:sp>
        <p:nvSpPr>
          <p:cNvPr id="18" name="Rectangle 17"/>
          <p:cNvSpPr/>
          <p:nvPr/>
        </p:nvSpPr>
        <p:spPr>
          <a:xfrm>
            <a:off x="548640" y="5669280"/>
            <a:ext cx="11064240" cy="594360"/>
          </a:xfrm>
          <a:prstGeom prst="rect">
            <a:avLst/>
          </a:prstGeom>
          <a:solidFill>
            <a:srgbClr val="B8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760720"/>
            <a:ext cx="11064240" cy="457200"/>
          </a:xfrm>
          <a:prstGeom prst="rect">
            <a:avLst/>
          </a:prstGeom>
          <a:noFill/>
        </p:spPr>
        <p:txBody>
          <a:bodyPr wrap="square" lIns="45720" rIns="45720" tIns="18288" bIns="18288">
            <a:spAutoFit/>
          </a:bodyPr>
          <a:lstStyle/>
          <a:p>
            <a:pPr algn="ctr"/>
            <a:r>
              <a:rPr sz="1500" b="1">
                <a:solidFill>
                  <a:srgbClr val="0B2E4F"/>
                </a:solidFill>
                <a:latin typeface="Calibri"/>
              </a:rPr>
              <a:t>From radiological FEAR to industrial MASTERY — the choice is legislative, not technical.</a:t>
            </a:r>
          </a:p>
        </p:txBody>
      </p:sp>
      <p:sp>
        <p:nvSpPr>
          <p:cNvPr id="20" name="Rectangle 19"/>
          <p:cNvSpPr/>
          <p:nvPr/>
        </p:nvSpPr>
        <p:spPr>
          <a:xfrm>
            <a:off x="0" y="6446520"/>
            <a:ext cx="12191695" cy="411480"/>
          </a:xfrm>
          <a:prstGeom prst="rect">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492240"/>
            <a:ext cx="10515600" cy="365760"/>
          </a:xfrm>
          <a:prstGeom prst="rect">
            <a:avLst/>
          </a:prstGeom>
          <a:noFill/>
        </p:spPr>
        <p:txBody>
          <a:bodyPr wrap="square" lIns="45720" rIns="45720" tIns="18288" bIns="18288">
            <a:spAutoFit/>
          </a:bodyPr>
          <a:lstStyle/>
          <a:p>
            <a:pPr algn="l"/>
            <a:r>
              <a:rPr sz="900" b="0">
                <a:solidFill>
                  <a:srgbClr val="FFFFFF"/>
                </a:solidFill>
                <a:latin typeface="Calibri"/>
              </a:rPr>
              <a:t>Sources: Zambia 7th National Development Plan (7NDP) &amp; Vision 2030 | IAEA Milestone Approach for New Nuclear Programs | Siavonga Uranium Baseline Survey (2024)</a:t>
            </a:r>
          </a:p>
        </p:txBody>
      </p:sp>
      <p:sp>
        <p:nvSpPr>
          <p:cNvPr id="22" name="TextBox 21"/>
          <p:cNvSpPr txBox="1"/>
          <p:nvPr/>
        </p:nvSpPr>
        <p:spPr>
          <a:xfrm>
            <a:off x="11247120" y="6492240"/>
            <a:ext cx="822960" cy="365760"/>
          </a:xfrm>
          <a:prstGeom prst="rect">
            <a:avLst/>
          </a:prstGeom>
          <a:noFill/>
        </p:spPr>
        <p:txBody>
          <a:bodyPr wrap="square" lIns="45720" rIns="45720" tIns="18288" bIns="18288">
            <a:spAutoFit/>
          </a:bodyPr>
          <a:lstStyle/>
          <a:p>
            <a:pPr algn="r"/>
            <a:r>
              <a:rPr sz="1000" b="1">
                <a:solidFill>
                  <a:srgbClr val="B86B2A"/>
                </a:solidFill>
                <a:latin typeface="Calibri"/>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