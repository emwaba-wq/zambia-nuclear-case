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[0:00-0:30 — SETUP]  Three minutes. One argument. Zambia does not have to choose between energy poverty and environmental risk — because we already own the solution. We have uranium in the ground. We have a Radiation Protection Authority that has spent decades managing radiological risk. And we have a Cabinet-approved 2020 Nuclear Policy. What we do not yet have is the legislative signature that turns those assets into megawatts. That signature is what I am here to argue for.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[0:30-1:15 — CONFLICT]  Picture two scenes. Siavonga, Zambia: the 2024 Uranium Baseline Survey found uranium in the drinking water and uranium in the dust. People live on top of the resource — with no dosimetry, no baseline, no regulator on the ground. That is radiological fear. Now picture the U.S. nuclear enterprise: twenty-two thousand workers, the average technician absorbs fifty-nine point one two mrem a year — less than two percent of the federal limit. Every dose tracked. Every year. Same element. Same physics. Two completely different outcomes. The variable is not the uranium. The variable is the system wrapped around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[1:15-2:00 — EVIDENCE]  Can the system actually be trusted? Fifty-nine point one two mrem. Across a decade. Across twenty-two thousand workers. That is the U.S. DOE Radiation Exposure Monitoring System record — under two percent of the federal limit. And the line that matters most for us: between 2021 and 2024 the monitored workforce grew, and individual dose did not move. Safety scales. Ninety-eight percent of exposure is external — managed by shielding we already use in our copper mines. The IAEA Milestone Approach is the exact roadmap Zambia is already on through the Radiation Protection Authority. We are not starting from zero. We are starting from competence.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[2:00-2:30 — STAKES]  Now bring it home. Eighty-four percent of our electricity comes from hydropower. In the 2015/16 drought we lost a thousand megawatts and spent roughly four hundred and forty million U.S. dollars on unbudgeted imports. The 2023-24 ZESCO reports show the Kariba crisis is not a one-off — it is the new climate baseline. Meanwhile our 2020 Nuclear Policy commits to a two thousand megawatt target. ROSATOM, IP3, and KAERI partnerships are signed. The uranium is in the ground. We wrote the plan in 2020. Six years later, the grid is still waiting.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[2:30-3:00 — RESOLUTION]  So what am I asking for? Three decisions. First, ENACT — pass the Nuclear Bill and formalise the Nuclear Safety and Protection Authority as an independent regulator, aligned with the IAEA Milestone Approach. Without that signature, every other step is symbolic. Second, EQUIP — fund radiological monitoring, starting in Siavonga, so no community lives beside uranium without instruments. Third, EXECUTE — greenlight the Centre for Nuclear Science and Technology and the pre-feasibility studies for the two thousand megawatt programme. The fuel is under our feet. The expertise is on our payroll. The bill is on the table. Sign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6142A"/>
        </a:solidFill>
        <a:effectLst/>
      </p:bgPr>
    </p:bg>
    <p:spTree>
      <p:nvGrpSpPr>
        <p:cNvPr id="1" name=""/>
        <p:cNvGrpSpPr/>
        <p:nvPr/>
      </p:nvGrpSpPr>
      <p:grpSpPr/>
      <p:sp>
        <p:nvSpPr>
          <p:cNvPr id="2" name="Rectangle 1"/>
          <p:cNvSpPr/>
          <p:nvPr/>
        </p:nvSpPr>
        <p:spPr>
          <a:xfrm>
            <a:off x="548640" y="548640"/>
            <a:ext cx="73152" cy="411480"/>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30352"/>
            <a:ext cx="9144000" cy="365760"/>
          </a:xfrm>
          <a:prstGeom prst="rect">
            <a:avLst/>
          </a:prstGeom>
          <a:noFill/>
        </p:spPr>
        <p:txBody>
          <a:bodyPr wrap="square" anchor="t" lIns="0" rIns="0" tIns="0" bIns="0">
            <a:spAutoFit/>
          </a:bodyPr>
          <a:lstStyle/>
          <a:p>
            <a:pPr algn="l">
              <a:lnSpc>
                <a:spcPct val="115000"/>
              </a:lnSpc>
            </a:pPr>
            <a:r>
              <a:rPr sz="1200" b="1" i="0">
                <a:solidFill>
                  <a:srgbClr val="E8A860"/>
                </a:solidFill>
                <a:latin typeface="Calibri"/>
              </a:rPr>
              <a:t>ENERGY SECURITY  ·  REPUBLIC OF ZAMBIA  ·  2026</a:t>
            </a:r>
          </a:p>
        </p:txBody>
      </p:sp>
      <p:sp>
        <p:nvSpPr>
          <p:cNvPr id="4" name="TextBox 3"/>
          <p:cNvSpPr txBox="1"/>
          <p:nvPr/>
        </p:nvSpPr>
        <p:spPr>
          <a:xfrm>
            <a:off x="548640" y="1554480"/>
            <a:ext cx="11064240" cy="2286000"/>
          </a:xfrm>
          <a:prstGeom prst="rect">
            <a:avLst/>
          </a:prstGeom>
          <a:noFill/>
        </p:spPr>
        <p:txBody>
          <a:bodyPr wrap="square" anchor="t" lIns="0" rIns="0" tIns="0" bIns="0">
            <a:spAutoFit/>
          </a:bodyPr>
          <a:lstStyle/>
          <a:p>
            <a:pPr algn="l">
              <a:lnSpc>
                <a:spcPct val="100000"/>
              </a:lnSpc>
            </a:pPr>
            <a:r>
              <a:rPr sz="6400" b="1" i="0">
                <a:solidFill>
                  <a:srgbClr val="FFFFFF"/>
                </a:solidFill>
                <a:latin typeface="Calibri"/>
              </a:rPr>
              <a:t>We already own</a:t>
            </a:r>
          </a:p>
          <a:p>
            <a:pPr algn="l">
              <a:lnSpc>
                <a:spcPct val="100000"/>
              </a:lnSpc>
              <a:spcAft>
                <a:spcPts val="0"/>
              </a:spcAft>
            </a:pPr>
            <a:r>
              <a:rPr sz="6400" b="1" i="0">
                <a:solidFill>
                  <a:srgbClr val="E8A860"/>
                </a:solidFill>
                <a:latin typeface="Calibri"/>
              </a:rPr>
              <a:t>the solution.</a:t>
            </a:r>
          </a:p>
        </p:txBody>
      </p:sp>
      <p:cxnSp>
        <p:nvCxnSpPr>
          <p:cNvPr id="5" name="Connector 4"/>
          <p:cNvCxnSpPr/>
          <p:nvPr/>
        </p:nvCxnSpPr>
        <p:spPr>
          <a:xfrm>
            <a:off x="548640" y="3977639"/>
            <a:ext cx="2286000" cy="0"/>
          </a:xfrm>
          <a:prstGeom prst="line">
            <a:avLst/>
          </a:prstGeom>
          <a:ln w="19050">
            <a:solidFill>
              <a:srgbClr val="CC7A2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4114800"/>
            <a:ext cx="11064240" cy="457200"/>
          </a:xfrm>
          <a:prstGeom prst="rect">
            <a:avLst/>
          </a:prstGeom>
          <a:noFill/>
        </p:spPr>
        <p:txBody>
          <a:bodyPr wrap="square" anchor="t" lIns="0" rIns="0" tIns="0" bIns="0">
            <a:spAutoFit/>
          </a:bodyPr>
          <a:lstStyle/>
          <a:p>
            <a:pPr algn="l">
              <a:lnSpc>
                <a:spcPct val="115000"/>
              </a:lnSpc>
            </a:pPr>
            <a:r>
              <a:rPr sz="2600" b="0" i="0">
                <a:solidFill>
                  <a:srgbClr val="FFFFFF"/>
                </a:solidFill>
                <a:latin typeface="Calibri"/>
              </a:rPr>
              <a:t>The Case for Nuclear Power in Zambia</a:t>
            </a:r>
          </a:p>
        </p:txBody>
      </p:sp>
      <p:sp>
        <p:nvSpPr>
          <p:cNvPr id="7" name="Rectangle 6"/>
          <p:cNvSpPr/>
          <p:nvPr/>
        </p:nvSpPr>
        <p:spPr>
          <a:xfrm>
            <a:off x="548640" y="4846320"/>
            <a:ext cx="11064240" cy="36576"/>
          </a:xfrm>
          <a:prstGeom prst="rect">
            <a:avLst/>
          </a:prstGeom>
          <a:solidFill>
            <a:srgbClr val="3344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5029200"/>
            <a:ext cx="11064240" cy="1005840"/>
          </a:xfrm>
          <a:prstGeom prst="rect">
            <a:avLst/>
          </a:prstGeom>
          <a:noFill/>
        </p:spPr>
        <p:txBody>
          <a:bodyPr wrap="square" anchor="t" lIns="0" rIns="0" tIns="0" bIns="0">
            <a:spAutoFit/>
          </a:bodyPr>
          <a:lstStyle/>
          <a:p>
            <a:pPr algn="l">
              <a:lnSpc>
                <a:spcPct val="125000"/>
              </a:lnSpc>
            </a:pPr>
            <a:r>
              <a:rPr sz="1500" b="0" i="1">
                <a:solidFill>
                  <a:srgbClr val="CFD8E3"/>
                </a:solidFill>
                <a:latin typeface="Calibri"/>
              </a:rPr>
              <a:t>Zambia must leverage its existing radiological safety expertise and uranium resources to transition to nuclear power as a drought-proof solution for national energy security.</a:t>
            </a:r>
          </a:p>
        </p:txBody>
      </p:sp>
      <p:sp>
        <p:nvSpPr>
          <p:cNvPr id="9" name="TextBox 8"/>
          <p:cNvSpPr txBox="1"/>
          <p:nvPr/>
        </p:nvSpPr>
        <p:spPr>
          <a:xfrm>
            <a:off x="548640" y="6263640"/>
            <a:ext cx="7315200" cy="274320"/>
          </a:xfrm>
          <a:prstGeom prst="rect">
            <a:avLst/>
          </a:prstGeom>
          <a:noFill/>
        </p:spPr>
        <p:txBody>
          <a:bodyPr wrap="square" anchor="t" lIns="0" rIns="0" tIns="0" bIns="0">
            <a:spAutoFit/>
          </a:bodyPr>
          <a:lstStyle/>
          <a:p>
            <a:pPr algn="l">
              <a:lnSpc>
                <a:spcPct val="115000"/>
              </a:lnSpc>
            </a:pPr>
            <a:r>
              <a:rPr sz="1100" b="1" i="0">
                <a:solidFill>
                  <a:srgbClr val="FFFFFF"/>
                </a:solidFill>
                <a:latin typeface="Calibri"/>
              </a:rPr>
              <a:t>Prepared by  ELIZABETH MWABA</a:t>
            </a:r>
          </a:p>
        </p:txBody>
      </p:sp>
      <p:sp>
        <p:nvSpPr>
          <p:cNvPr id="10" name="TextBox 9"/>
          <p:cNvSpPr txBox="1"/>
          <p:nvPr/>
        </p:nvSpPr>
        <p:spPr>
          <a:xfrm>
            <a:off x="548640" y="6492240"/>
            <a:ext cx="7315200" cy="228600"/>
          </a:xfrm>
          <a:prstGeom prst="rect">
            <a:avLst/>
          </a:prstGeom>
          <a:noFill/>
        </p:spPr>
        <p:txBody>
          <a:bodyPr wrap="square" anchor="t" lIns="0" rIns="0" tIns="0" bIns="0">
            <a:spAutoFit/>
          </a:bodyPr>
          <a:lstStyle/>
          <a:p>
            <a:pPr algn="l">
              <a:lnSpc>
                <a:spcPct val="115000"/>
              </a:lnSpc>
            </a:pPr>
            <a:r>
              <a:rPr sz="900" b="0" i="0">
                <a:solidFill>
                  <a:srgbClr val="99A3B3"/>
                </a:solidFill>
                <a:latin typeface="Calibri"/>
              </a:rPr>
              <a:t>Radiological Analyst  ·  Supervisor Review Brief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48640" y="411480"/>
            <a:ext cx="7315200" cy="274320"/>
          </a:xfrm>
          <a:prstGeom prst="rect">
            <a:avLst/>
          </a:prstGeom>
          <a:noFill/>
        </p:spPr>
        <p:txBody>
          <a:bodyPr wrap="square" anchor="t" lIns="0" rIns="0" tIns="0" bIns="0">
            <a:spAutoFit/>
          </a:bodyPr>
          <a:lstStyle/>
          <a:p>
            <a:pPr algn="l">
              <a:lnSpc>
                <a:spcPct val="115000"/>
              </a:lnSpc>
            </a:pPr>
            <a:r>
              <a:rPr sz="1100" b="1" i="0">
                <a:solidFill>
                  <a:srgbClr val="CC7A2E"/>
                </a:solidFill>
                <a:latin typeface="Calibri"/>
              </a:rPr>
              <a:t>01  ·  THE HOOK</a:t>
            </a:r>
          </a:p>
        </p:txBody>
      </p:sp>
      <p:sp>
        <p:nvSpPr>
          <p:cNvPr id="3" name="TextBox 2"/>
          <p:cNvSpPr txBox="1"/>
          <p:nvPr/>
        </p:nvSpPr>
        <p:spPr>
          <a:xfrm>
            <a:off x="548640" y="685800"/>
            <a:ext cx="11064240" cy="640080"/>
          </a:xfrm>
          <a:prstGeom prst="rect">
            <a:avLst/>
          </a:prstGeom>
          <a:noFill/>
        </p:spPr>
        <p:txBody>
          <a:bodyPr wrap="square" anchor="t" lIns="0" rIns="0" tIns="0" bIns="0">
            <a:spAutoFit/>
          </a:bodyPr>
          <a:lstStyle/>
          <a:p>
            <a:pPr algn="l">
              <a:lnSpc>
                <a:spcPct val="115000"/>
              </a:lnSpc>
            </a:pPr>
            <a:r>
              <a:rPr sz="3400" b="1" i="0">
                <a:solidFill>
                  <a:srgbClr val="0A1F3D"/>
                </a:solidFill>
                <a:latin typeface="Calibri"/>
              </a:rPr>
              <a:t>Same element. Two realities.</a:t>
            </a:r>
          </a:p>
        </p:txBody>
      </p:sp>
      <p:cxnSp>
        <p:nvCxnSpPr>
          <p:cNvPr id="4" name="Connector 3"/>
          <p:cNvCxnSpPr/>
          <p:nvPr/>
        </p:nvCxnSpPr>
        <p:spPr>
          <a:xfrm>
            <a:off x="548640" y="1325880"/>
            <a:ext cx="1097280" cy="0"/>
          </a:xfrm>
          <a:prstGeom prst="line">
            <a:avLst/>
          </a:prstGeom>
          <a:ln w="19050">
            <a:solidFill>
              <a:srgbClr val="CC7A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417320"/>
            <a:ext cx="11064240" cy="457200"/>
          </a:xfrm>
          <a:prstGeom prst="rect">
            <a:avLst/>
          </a:prstGeom>
          <a:noFill/>
        </p:spPr>
        <p:txBody>
          <a:bodyPr wrap="square" anchor="t" lIns="0" rIns="0" tIns="0" bIns="0">
            <a:spAutoFit/>
          </a:bodyPr>
          <a:lstStyle/>
          <a:p>
            <a:pPr algn="l">
              <a:lnSpc>
                <a:spcPct val="115000"/>
              </a:lnSpc>
            </a:pPr>
            <a:r>
              <a:rPr sz="1500" b="0" i="1">
                <a:solidFill>
                  <a:srgbClr val="6B7280"/>
                </a:solidFill>
                <a:latin typeface="Calibri"/>
              </a:rPr>
              <a:t>Zambians and Americans both live with uranium. Only one nation measures it.</a:t>
            </a:r>
          </a:p>
        </p:txBody>
      </p:sp>
      <p:sp>
        <p:nvSpPr>
          <p:cNvPr id="6" name="Rectangle 5"/>
          <p:cNvSpPr/>
          <p:nvPr/>
        </p:nvSpPr>
        <p:spPr>
          <a:xfrm>
            <a:off x="548640" y="2240280"/>
            <a:ext cx="5532120" cy="3657600"/>
          </a:xfrm>
          <a:prstGeom prst="rect">
            <a:avLst/>
          </a:prstGeom>
          <a:solidFill>
            <a:srgbClr val="7C18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240280"/>
            <a:ext cx="109728" cy="3657600"/>
          </a:xfrm>
          <a:prstGeom prst="rect">
            <a:avLst/>
          </a:prstGeom>
          <a:solidFill>
            <a:srgbClr val="B3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77440"/>
            <a:ext cx="5120640" cy="274320"/>
          </a:xfrm>
          <a:prstGeom prst="rect">
            <a:avLst/>
          </a:prstGeom>
          <a:noFill/>
        </p:spPr>
        <p:txBody>
          <a:bodyPr wrap="square" anchor="t" lIns="0" rIns="0" tIns="0" bIns="0">
            <a:spAutoFit/>
          </a:bodyPr>
          <a:lstStyle/>
          <a:p>
            <a:pPr algn="l">
              <a:lnSpc>
                <a:spcPct val="115000"/>
              </a:lnSpc>
            </a:pPr>
            <a:r>
              <a:rPr sz="1100" b="1" i="0">
                <a:solidFill>
                  <a:srgbClr val="E8A860"/>
                </a:solidFill>
                <a:latin typeface="Calibri"/>
              </a:rPr>
              <a:t>ZAMBIA  ·  SIAVONGA</a:t>
            </a:r>
          </a:p>
        </p:txBody>
      </p:sp>
      <p:sp>
        <p:nvSpPr>
          <p:cNvPr id="9" name="TextBox 8"/>
          <p:cNvSpPr txBox="1"/>
          <p:nvPr/>
        </p:nvSpPr>
        <p:spPr>
          <a:xfrm>
            <a:off x="777240" y="2697480"/>
            <a:ext cx="5120640" cy="1280160"/>
          </a:xfrm>
          <a:prstGeom prst="rect">
            <a:avLst/>
          </a:prstGeom>
          <a:noFill/>
        </p:spPr>
        <p:txBody>
          <a:bodyPr wrap="square" anchor="t" lIns="0" rIns="0" tIns="0" bIns="0">
            <a:spAutoFit/>
          </a:bodyPr>
          <a:lstStyle/>
          <a:p>
            <a:pPr algn="l">
              <a:lnSpc>
                <a:spcPct val="105000"/>
              </a:lnSpc>
            </a:pPr>
            <a:r>
              <a:rPr sz="2600" b="1" i="0">
                <a:solidFill>
                  <a:srgbClr val="FFFFFF"/>
                </a:solidFill>
                <a:latin typeface="Calibri"/>
              </a:rPr>
              <a:t>Uranium in the water.
Uranium in the dust.</a:t>
            </a:r>
          </a:p>
        </p:txBody>
      </p:sp>
      <p:sp>
        <p:nvSpPr>
          <p:cNvPr id="10" name="TextBox 9"/>
          <p:cNvSpPr txBox="1"/>
          <p:nvPr/>
        </p:nvSpPr>
        <p:spPr>
          <a:xfrm>
            <a:off x="777240" y="4160520"/>
            <a:ext cx="5120640" cy="914400"/>
          </a:xfrm>
          <a:prstGeom prst="rect">
            <a:avLst/>
          </a:prstGeom>
          <a:noFill/>
        </p:spPr>
        <p:txBody>
          <a:bodyPr wrap="square" anchor="t" lIns="0" rIns="0" tIns="0" bIns="0">
            <a:spAutoFit/>
          </a:bodyPr>
          <a:lstStyle/>
          <a:p>
            <a:pPr algn="l">
              <a:lnSpc>
                <a:spcPct val="130000"/>
              </a:lnSpc>
            </a:pPr>
            <a:r>
              <a:rPr sz="1300" b="0" i="0">
                <a:solidFill>
                  <a:srgbClr val="F2CFCF"/>
                </a:solidFill>
                <a:latin typeface="Calibri"/>
              </a:rPr>
              <a:t>Zero monitoring.  Zero baseline.
Zero accountability.</a:t>
            </a:r>
          </a:p>
        </p:txBody>
      </p:sp>
      <p:cxnSp>
        <p:nvCxnSpPr>
          <p:cNvPr id="11" name="Connector 10"/>
          <p:cNvCxnSpPr/>
          <p:nvPr/>
        </p:nvCxnSpPr>
        <p:spPr>
          <a:xfrm>
            <a:off x="777240" y="5166360"/>
            <a:ext cx="914400" cy="0"/>
          </a:xfrm>
          <a:prstGeom prst="line">
            <a:avLst/>
          </a:prstGeom>
          <a:ln w="12700">
            <a:solidFill>
              <a:srgbClr val="CC7A2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7240" y="5257800"/>
            <a:ext cx="5120640" cy="457200"/>
          </a:xfrm>
          <a:prstGeom prst="rect">
            <a:avLst/>
          </a:prstGeom>
          <a:noFill/>
        </p:spPr>
        <p:txBody>
          <a:bodyPr wrap="square" anchor="t" lIns="0" rIns="0" tIns="0" bIns="0">
            <a:spAutoFit/>
          </a:bodyPr>
          <a:lstStyle/>
          <a:p>
            <a:pPr algn="l">
              <a:lnSpc>
                <a:spcPct val="115000"/>
              </a:lnSpc>
            </a:pPr>
            <a:r>
              <a:rPr sz="1400" b="1" i="0">
                <a:solidFill>
                  <a:srgbClr val="E8A860"/>
                </a:solidFill>
                <a:latin typeface="Calibri"/>
              </a:rPr>
              <a:t>RADIOLOGICAL  FEAR</a:t>
            </a:r>
          </a:p>
        </p:txBody>
      </p:sp>
      <p:sp>
        <p:nvSpPr>
          <p:cNvPr id="13" name="Rectangle 12"/>
          <p:cNvSpPr/>
          <p:nvPr/>
        </p:nvSpPr>
        <p:spPr>
          <a:xfrm>
            <a:off x="6263640" y="2240280"/>
            <a:ext cx="5349240" cy="365760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2240280"/>
            <a:ext cx="109728" cy="3657600"/>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377440"/>
            <a:ext cx="5029200" cy="274320"/>
          </a:xfrm>
          <a:prstGeom prst="rect">
            <a:avLst/>
          </a:prstGeom>
          <a:noFill/>
        </p:spPr>
        <p:txBody>
          <a:bodyPr wrap="square" anchor="t" lIns="0" rIns="0" tIns="0" bIns="0">
            <a:spAutoFit/>
          </a:bodyPr>
          <a:lstStyle/>
          <a:p>
            <a:pPr algn="l">
              <a:lnSpc>
                <a:spcPct val="115000"/>
              </a:lnSpc>
            </a:pPr>
            <a:r>
              <a:rPr sz="1100" b="1" i="0">
                <a:solidFill>
                  <a:srgbClr val="E8A860"/>
                </a:solidFill>
                <a:latin typeface="Calibri"/>
              </a:rPr>
              <a:t>USA  ·  DOE NUCLEAR ENTERPRISE</a:t>
            </a:r>
          </a:p>
        </p:txBody>
      </p:sp>
      <p:sp>
        <p:nvSpPr>
          <p:cNvPr id="16" name="TextBox 15"/>
          <p:cNvSpPr txBox="1"/>
          <p:nvPr/>
        </p:nvSpPr>
        <p:spPr>
          <a:xfrm>
            <a:off x="6492240" y="2697480"/>
            <a:ext cx="5029200" cy="1280160"/>
          </a:xfrm>
          <a:prstGeom prst="rect">
            <a:avLst/>
          </a:prstGeom>
          <a:noFill/>
        </p:spPr>
        <p:txBody>
          <a:bodyPr wrap="square" anchor="t" lIns="0" rIns="0" tIns="0" bIns="0">
            <a:spAutoFit/>
          </a:bodyPr>
          <a:lstStyle/>
          <a:p>
            <a:pPr algn="l">
              <a:lnSpc>
                <a:spcPct val="105000"/>
              </a:lnSpc>
            </a:pPr>
            <a:r>
              <a:rPr sz="2600" b="1" i="0">
                <a:solidFill>
                  <a:srgbClr val="FFFFFF"/>
                </a:solidFill>
                <a:latin typeface="Calibri"/>
              </a:rPr>
              <a:t>22,000 workers.
59.12 mrem average.</a:t>
            </a:r>
          </a:p>
        </p:txBody>
      </p:sp>
      <p:sp>
        <p:nvSpPr>
          <p:cNvPr id="17" name="TextBox 16"/>
          <p:cNvSpPr txBox="1"/>
          <p:nvPr/>
        </p:nvSpPr>
        <p:spPr>
          <a:xfrm>
            <a:off x="6492240" y="4160520"/>
            <a:ext cx="5029200" cy="914400"/>
          </a:xfrm>
          <a:prstGeom prst="rect">
            <a:avLst/>
          </a:prstGeom>
          <a:noFill/>
        </p:spPr>
        <p:txBody>
          <a:bodyPr wrap="square" anchor="t" lIns="0" rIns="0" tIns="0" bIns="0">
            <a:spAutoFit/>
          </a:bodyPr>
          <a:lstStyle/>
          <a:p>
            <a:pPr algn="l">
              <a:lnSpc>
                <a:spcPct val="130000"/>
              </a:lnSpc>
            </a:pPr>
            <a:r>
              <a:rPr sz="1300" b="0" i="0">
                <a:solidFill>
                  <a:srgbClr val="CFD8E3"/>
                </a:solidFill>
                <a:latin typeface="Calibri"/>
              </a:rPr>
              <a:t>Every dose tracked.  Every site audited.
Every year. For a decade.</a:t>
            </a:r>
          </a:p>
        </p:txBody>
      </p:sp>
      <p:cxnSp>
        <p:nvCxnSpPr>
          <p:cNvPr id="18" name="Connector 17"/>
          <p:cNvCxnSpPr/>
          <p:nvPr/>
        </p:nvCxnSpPr>
        <p:spPr>
          <a:xfrm>
            <a:off x="6492240" y="5166360"/>
            <a:ext cx="914400" cy="0"/>
          </a:xfrm>
          <a:prstGeom prst="line">
            <a:avLst/>
          </a:prstGeom>
          <a:ln w="12700">
            <a:solidFill>
              <a:srgbClr val="CC7A2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92240" y="5257800"/>
            <a:ext cx="5029200" cy="457200"/>
          </a:xfrm>
          <a:prstGeom prst="rect">
            <a:avLst/>
          </a:prstGeom>
          <a:noFill/>
        </p:spPr>
        <p:txBody>
          <a:bodyPr wrap="square" anchor="t" lIns="0" rIns="0" tIns="0" bIns="0">
            <a:spAutoFit/>
          </a:bodyPr>
          <a:lstStyle/>
          <a:p>
            <a:pPr algn="l">
              <a:lnSpc>
                <a:spcPct val="115000"/>
              </a:lnSpc>
            </a:pPr>
            <a:r>
              <a:rPr sz="1400" b="1" i="0">
                <a:solidFill>
                  <a:srgbClr val="E8A860"/>
                </a:solidFill>
                <a:latin typeface="Calibri"/>
              </a:rPr>
              <a:t>INDUSTRIAL  MASTERY</a:t>
            </a:r>
          </a:p>
        </p:txBody>
      </p:sp>
      <p:sp>
        <p:nvSpPr>
          <p:cNvPr id="20" name="TextBox 19"/>
          <p:cNvSpPr txBox="1"/>
          <p:nvPr/>
        </p:nvSpPr>
        <p:spPr>
          <a:xfrm>
            <a:off x="548640" y="6080760"/>
            <a:ext cx="11064240" cy="365760"/>
          </a:xfrm>
          <a:prstGeom prst="rect">
            <a:avLst/>
          </a:prstGeom>
          <a:noFill/>
        </p:spPr>
        <p:txBody>
          <a:bodyPr wrap="square" anchor="t" lIns="0" rIns="0" tIns="0" bIns="0">
            <a:spAutoFit/>
          </a:bodyPr>
          <a:lstStyle/>
          <a:p>
            <a:pPr algn="ctr">
              <a:lnSpc>
                <a:spcPct val="115000"/>
              </a:lnSpc>
            </a:pPr>
            <a:r>
              <a:rPr sz="1500" b="1" i="0">
                <a:solidFill>
                  <a:srgbClr val="0A1F3D"/>
                </a:solidFill>
                <a:latin typeface="Calibri"/>
              </a:rPr>
              <a:t>The gap is not the science. It is the system.</a:t>
            </a:r>
          </a:p>
        </p:txBody>
      </p:sp>
      <p:sp>
        <p:nvSpPr>
          <p:cNvPr id="21" name="Rectangle 20"/>
          <p:cNvSpPr/>
          <p:nvPr/>
        </p:nvSpPr>
        <p:spPr>
          <a:xfrm>
            <a:off x="0" y="6675120"/>
            <a:ext cx="12191695" cy="18288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6675120"/>
            <a:ext cx="640080" cy="182880"/>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6446520"/>
            <a:ext cx="9601200" cy="228600"/>
          </a:xfrm>
          <a:prstGeom prst="rect">
            <a:avLst/>
          </a:prstGeom>
          <a:noFill/>
        </p:spPr>
        <p:txBody>
          <a:bodyPr wrap="square" anchor="t" lIns="0" rIns="0" tIns="0" bIns="0">
            <a:spAutoFit/>
          </a:bodyPr>
          <a:lstStyle/>
          <a:p>
            <a:pPr algn="l">
              <a:lnSpc>
                <a:spcPct val="115000"/>
              </a:lnSpc>
            </a:pPr>
            <a:r>
              <a:rPr sz="900" b="0" i="1">
                <a:solidFill>
                  <a:srgbClr val="6B7280"/>
                </a:solidFill>
                <a:latin typeface="Calibri"/>
              </a:rPr>
              <a:t>Sources: Siavonga Uranium Baseline Survey (2024) · U.S. DOE REMS 2024 Report</a:t>
            </a:r>
          </a:p>
        </p:txBody>
      </p:sp>
      <p:sp>
        <p:nvSpPr>
          <p:cNvPr id="24" name="TextBox 23"/>
          <p:cNvSpPr txBox="1"/>
          <p:nvPr/>
        </p:nvSpPr>
        <p:spPr>
          <a:xfrm>
            <a:off x="10515600" y="6446520"/>
            <a:ext cx="1463040" cy="228600"/>
          </a:xfrm>
          <a:prstGeom prst="rect">
            <a:avLst/>
          </a:prstGeom>
          <a:noFill/>
        </p:spPr>
        <p:txBody>
          <a:bodyPr wrap="square" anchor="t" lIns="0" rIns="0" tIns="0" bIns="0">
            <a:spAutoFit/>
          </a:bodyPr>
          <a:lstStyle/>
          <a:p>
            <a:pPr algn="r">
              <a:lnSpc>
                <a:spcPct val="115000"/>
              </a:lnSpc>
            </a:pPr>
            <a:r>
              <a:rPr sz="900" b="1" i="0">
                <a:solidFill>
                  <a:srgbClr val="2A3344"/>
                </a:solidFill>
                <a:latin typeface="Calibri"/>
              </a:rPr>
              <a:t>2 / 5  ·  E. Mwaba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48640" y="411480"/>
            <a:ext cx="7315200" cy="274320"/>
          </a:xfrm>
          <a:prstGeom prst="rect">
            <a:avLst/>
          </a:prstGeom>
          <a:noFill/>
        </p:spPr>
        <p:txBody>
          <a:bodyPr wrap="square" anchor="t" lIns="0" rIns="0" tIns="0" bIns="0">
            <a:spAutoFit/>
          </a:bodyPr>
          <a:lstStyle/>
          <a:p>
            <a:pPr algn="l">
              <a:lnSpc>
                <a:spcPct val="115000"/>
              </a:lnSpc>
            </a:pPr>
            <a:r>
              <a:rPr sz="1100" b="1" i="0">
                <a:solidFill>
                  <a:srgbClr val="CC7A2E"/>
                </a:solidFill>
                <a:latin typeface="Calibri"/>
              </a:rPr>
              <a:t>02  ·  THE EVIDENCE</a:t>
            </a:r>
          </a:p>
        </p:txBody>
      </p:sp>
      <p:sp>
        <p:nvSpPr>
          <p:cNvPr id="3" name="TextBox 2"/>
          <p:cNvSpPr txBox="1"/>
          <p:nvPr/>
        </p:nvSpPr>
        <p:spPr>
          <a:xfrm>
            <a:off x="548640" y="685800"/>
            <a:ext cx="11064240" cy="640080"/>
          </a:xfrm>
          <a:prstGeom prst="rect">
            <a:avLst/>
          </a:prstGeom>
          <a:noFill/>
        </p:spPr>
        <p:txBody>
          <a:bodyPr wrap="square" anchor="t" lIns="0" rIns="0" tIns="0" bIns="0">
            <a:spAutoFit/>
          </a:bodyPr>
          <a:lstStyle/>
          <a:p>
            <a:pPr algn="l">
              <a:lnSpc>
                <a:spcPct val="115000"/>
              </a:lnSpc>
            </a:pPr>
            <a:r>
              <a:rPr sz="3000" b="1" i="0">
                <a:solidFill>
                  <a:srgbClr val="0A1F3D"/>
                </a:solidFill>
                <a:latin typeface="Calibri"/>
              </a:rPr>
              <a:t>Nuclear safety is not theory. It's a track record.</a:t>
            </a:r>
          </a:p>
        </p:txBody>
      </p:sp>
      <p:cxnSp>
        <p:nvCxnSpPr>
          <p:cNvPr id="4" name="Connector 3"/>
          <p:cNvCxnSpPr/>
          <p:nvPr/>
        </p:nvCxnSpPr>
        <p:spPr>
          <a:xfrm>
            <a:off x="548640" y="1325880"/>
            <a:ext cx="1097280" cy="0"/>
          </a:xfrm>
          <a:prstGeom prst="line">
            <a:avLst/>
          </a:prstGeom>
          <a:ln w="19050">
            <a:solidFill>
              <a:srgbClr val="CC7A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417320"/>
            <a:ext cx="11064240" cy="457200"/>
          </a:xfrm>
          <a:prstGeom prst="rect">
            <a:avLst/>
          </a:prstGeom>
          <a:noFill/>
        </p:spPr>
        <p:txBody>
          <a:bodyPr wrap="square" anchor="t" lIns="0" rIns="0" tIns="0" bIns="0">
            <a:spAutoFit/>
          </a:bodyPr>
          <a:lstStyle/>
          <a:p>
            <a:pPr algn="l">
              <a:lnSpc>
                <a:spcPct val="115000"/>
              </a:lnSpc>
            </a:pPr>
            <a:r>
              <a:rPr sz="1400" b="0" i="1">
                <a:solidFill>
                  <a:srgbClr val="6B7280"/>
                </a:solidFill>
                <a:latin typeface="Calibri"/>
              </a:rPr>
              <a:t>A decade of U.S. data (2014-2024) — and a regulatory playbook Zambia is already following.</a:t>
            </a:r>
          </a:p>
        </p:txBody>
      </p:sp>
      <p:sp>
        <p:nvSpPr>
          <p:cNvPr id="6" name="Rectangle 5"/>
          <p:cNvSpPr/>
          <p:nvPr/>
        </p:nvSpPr>
        <p:spPr>
          <a:xfrm>
            <a:off x="548640" y="2148840"/>
            <a:ext cx="6766560" cy="265176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137160" cy="2651760"/>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86000"/>
            <a:ext cx="6400800" cy="320040"/>
          </a:xfrm>
          <a:prstGeom prst="rect">
            <a:avLst/>
          </a:prstGeom>
          <a:noFill/>
        </p:spPr>
        <p:txBody>
          <a:bodyPr wrap="square" anchor="t" lIns="0" rIns="0" tIns="0" bIns="0">
            <a:spAutoFit/>
          </a:bodyPr>
          <a:lstStyle/>
          <a:p>
            <a:pPr algn="l">
              <a:lnSpc>
                <a:spcPct val="115000"/>
              </a:lnSpc>
            </a:pPr>
            <a:r>
              <a:rPr sz="1200" b="1" i="0">
                <a:solidFill>
                  <a:srgbClr val="E8A860"/>
                </a:solidFill>
                <a:latin typeface="Calibri"/>
              </a:rPr>
              <a:t>AVERAGE  INDIVIDUAL  DOSE</a:t>
            </a:r>
          </a:p>
        </p:txBody>
      </p:sp>
      <p:sp>
        <p:nvSpPr>
          <p:cNvPr id="9" name="TextBox 8"/>
          <p:cNvSpPr txBox="1"/>
          <p:nvPr/>
        </p:nvSpPr>
        <p:spPr>
          <a:xfrm>
            <a:off x="868680" y="2697480"/>
            <a:ext cx="6400800" cy="1737360"/>
          </a:xfrm>
          <a:prstGeom prst="rect">
            <a:avLst/>
          </a:prstGeom>
          <a:noFill/>
        </p:spPr>
        <p:txBody>
          <a:bodyPr wrap="square" anchor="t" lIns="0" rIns="0" tIns="0" bIns="0">
            <a:spAutoFit/>
          </a:bodyPr>
          <a:lstStyle/>
          <a:p>
            <a:pPr algn="l">
              <a:lnSpc>
                <a:spcPct val="100000"/>
              </a:lnSpc>
            </a:pPr>
            <a:r>
              <a:rPr sz="11000" b="1" i="0">
                <a:solidFill>
                  <a:srgbClr val="FFFFFF"/>
                </a:solidFill>
                <a:latin typeface="Calibri"/>
              </a:rPr>
              <a:t>59.12</a:t>
            </a:r>
            <a:r>
              <a:rPr sz="2800" b="0" i="0">
                <a:solidFill>
                  <a:srgbClr val="E8A860"/>
                </a:solidFill>
                <a:latin typeface="Calibri"/>
              </a:rPr>
              <a:t>  mrem</a:t>
            </a:r>
          </a:p>
        </p:txBody>
      </p:sp>
      <p:sp>
        <p:nvSpPr>
          <p:cNvPr id="10" name="TextBox 9"/>
          <p:cNvSpPr txBox="1"/>
          <p:nvPr/>
        </p:nvSpPr>
        <p:spPr>
          <a:xfrm>
            <a:off x="868680" y="4160520"/>
            <a:ext cx="6400800" cy="365760"/>
          </a:xfrm>
          <a:prstGeom prst="rect">
            <a:avLst/>
          </a:prstGeom>
          <a:noFill/>
        </p:spPr>
        <p:txBody>
          <a:bodyPr wrap="square" anchor="t" lIns="0" rIns="0" tIns="0" bIns="0">
            <a:spAutoFit/>
          </a:bodyPr>
          <a:lstStyle/>
          <a:p>
            <a:pPr algn="l">
              <a:lnSpc>
                <a:spcPct val="115000"/>
              </a:lnSpc>
            </a:pPr>
            <a:r>
              <a:rPr sz="1200" b="0" i="0">
                <a:solidFill>
                  <a:srgbClr val="CFD8E3"/>
                </a:solidFill>
                <a:latin typeface="Calibri"/>
              </a:rPr>
              <a:t>per technician  ·  per year  ·  10-year mean</a:t>
            </a:r>
          </a:p>
        </p:txBody>
      </p:sp>
      <p:cxnSp>
        <p:nvCxnSpPr>
          <p:cNvPr id="11" name="Connector 10"/>
          <p:cNvCxnSpPr/>
          <p:nvPr/>
        </p:nvCxnSpPr>
        <p:spPr>
          <a:xfrm>
            <a:off x="868680" y="4526280"/>
            <a:ext cx="6400800" cy="0"/>
          </a:xfrm>
          <a:prstGeom prst="line">
            <a:avLst/>
          </a:prstGeom>
          <a:ln w="9525">
            <a:solidFill>
              <a:srgbClr val="33446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8680" y="4572000"/>
            <a:ext cx="6400800" cy="365760"/>
          </a:xfrm>
          <a:prstGeom prst="rect">
            <a:avLst/>
          </a:prstGeom>
          <a:noFill/>
        </p:spPr>
        <p:txBody>
          <a:bodyPr wrap="square" anchor="t" lIns="0" rIns="0" tIns="0" bIns="0">
            <a:spAutoFit/>
          </a:bodyPr>
          <a:lstStyle/>
          <a:p>
            <a:pPr algn="l">
              <a:lnSpc>
                <a:spcPct val="115000"/>
              </a:lnSpc>
            </a:pPr>
            <a:r>
              <a:rPr sz="1800" b="1" i="0">
                <a:solidFill>
                  <a:srgbClr val="E8A860"/>
                </a:solidFill>
                <a:latin typeface="Calibri"/>
              </a:rPr>
              <a:t>&lt; 2%</a:t>
            </a:r>
            <a:r>
              <a:rPr sz="1300" b="0" i="0">
                <a:solidFill>
                  <a:srgbClr val="FFFFFF"/>
                </a:solidFill>
                <a:latin typeface="Calibri"/>
              </a:rPr>
              <a:t>  of the 5,000 mrem federal occupational limit</a:t>
            </a:r>
          </a:p>
        </p:txBody>
      </p:sp>
      <p:sp>
        <p:nvSpPr>
          <p:cNvPr id="13" name="Rectangle 12"/>
          <p:cNvSpPr/>
          <p:nvPr/>
        </p:nvSpPr>
        <p:spPr>
          <a:xfrm>
            <a:off x="7543800" y="2148840"/>
            <a:ext cx="4160520"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43800" y="2148840"/>
            <a:ext cx="91440" cy="841248"/>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0" y="2221992"/>
            <a:ext cx="3886200" cy="274320"/>
          </a:xfrm>
          <a:prstGeom prst="rect">
            <a:avLst/>
          </a:prstGeom>
          <a:noFill/>
        </p:spPr>
        <p:txBody>
          <a:bodyPr wrap="square" anchor="t" lIns="0" rIns="0" tIns="0" bIns="0">
            <a:spAutoFit/>
          </a:bodyPr>
          <a:lstStyle/>
          <a:p>
            <a:pPr algn="l">
              <a:lnSpc>
                <a:spcPct val="115000"/>
              </a:lnSpc>
            </a:pPr>
            <a:r>
              <a:rPr sz="1100" b="1" i="0">
                <a:solidFill>
                  <a:srgbClr val="0A1F3D"/>
                </a:solidFill>
                <a:latin typeface="Calibri"/>
              </a:rPr>
              <a:t>SCALABLE</a:t>
            </a:r>
          </a:p>
        </p:txBody>
      </p:sp>
      <p:sp>
        <p:nvSpPr>
          <p:cNvPr id="16" name="TextBox 15"/>
          <p:cNvSpPr txBox="1"/>
          <p:nvPr/>
        </p:nvSpPr>
        <p:spPr>
          <a:xfrm>
            <a:off x="7772400" y="2478024"/>
            <a:ext cx="3886200" cy="502920"/>
          </a:xfrm>
          <a:prstGeom prst="rect">
            <a:avLst/>
          </a:prstGeom>
          <a:noFill/>
        </p:spPr>
        <p:txBody>
          <a:bodyPr wrap="square" anchor="t" lIns="0" rIns="0" tIns="0" bIns="0">
            <a:spAutoFit/>
          </a:bodyPr>
          <a:lstStyle/>
          <a:p>
            <a:pPr algn="l">
              <a:lnSpc>
                <a:spcPct val="120000"/>
              </a:lnSpc>
            </a:pPr>
            <a:r>
              <a:rPr sz="1200" b="0" i="0">
                <a:solidFill>
                  <a:srgbClr val="121824"/>
                </a:solidFill>
                <a:latin typeface="Calibri"/>
              </a:rPr>
              <a:t>Workforce grew 1,133 → 1,167. Average dose did not move.</a:t>
            </a:r>
          </a:p>
        </p:txBody>
      </p:sp>
      <p:sp>
        <p:nvSpPr>
          <p:cNvPr id="17" name="Rectangle 16"/>
          <p:cNvSpPr/>
          <p:nvPr/>
        </p:nvSpPr>
        <p:spPr>
          <a:xfrm>
            <a:off x="7543800" y="3054096"/>
            <a:ext cx="4160520"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543800" y="3054096"/>
            <a:ext cx="91440" cy="841248"/>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0" y="3127248"/>
            <a:ext cx="3886200" cy="274320"/>
          </a:xfrm>
          <a:prstGeom prst="rect">
            <a:avLst/>
          </a:prstGeom>
          <a:noFill/>
        </p:spPr>
        <p:txBody>
          <a:bodyPr wrap="square" anchor="t" lIns="0" rIns="0" tIns="0" bIns="0">
            <a:spAutoFit/>
          </a:bodyPr>
          <a:lstStyle/>
          <a:p>
            <a:pPr algn="l">
              <a:lnSpc>
                <a:spcPct val="115000"/>
              </a:lnSpc>
            </a:pPr>
            <a:r>
              <a:rPr sz="1100" b="1" i="0">
                <a:solidFill>
                  <a:srgbClr val="0A1F3D"/>
                </a:solidFill>
                <a:latin typeface="Calibri"/>
              </a:rPr>
              <a:t>CONTAINED</a:t>
            </a:r>
          </a:p>
        </p:txBody>
      </p:sp>
      <p:sp>
        <p:nvSpPr>
          <p:cNvPr id="20" name="TextBox 19"/>
          <p:cNvSpPr txBox="1"/>
          <p:nvPr/>
        </p:nvSpPr>
        <p:spPr>
          <a:xfrm>
            <a:off x="7772400" y="3383279"/>
            <a:ext cx="3886200" cy="502920"/>
          </a:xfrm>
          <a:prstGeom prst="rect">
            <a:avLst/>
          </a:prstGeom>
          <a:noFill/>
        </p:spPr>
        <p:txBody>
          <a:bodyPr wrap="square" anchor="t" lIns="0" rIns="0" tIns="0" bIns="0">
            <a:spAutoFit/>
          </a:bodyPr>
          <a:lstStyle/>
          <a:p>
            <a:pPr algn="l">
              <a:lnSpc>
                <a:spcPct val="120000"/>
              </a:lnSpc>
            </a:pPr>
            <a:r>
              <a:rPr sz="1200" b="0" i="0">
                <a:solidFill>
                  <a:srgbClr val="121824"/>
                </a:solidFill>
                <a:latin typeface="Calibri"/>
              </a:rPr>
              <a:t>98% external radiation — managed by shielding. 2% internal — controlled by protocol.</a:t>
            </a:r>
          </a:p>
        </p:txBody>
      </p:sp>
      <p:sp>
        <p:nvSpPr>
          <p:cNvPr id="21" name="Rectangle 20"/>
          <p:cNvSpPr/>
          <p:nvPr/>
        </p:nvSpPr>
        <p:spPr>
          <a:xfrm>
            <a:off x="7543800" y="3959352"/>
            <a:ext cx="4160520" cy="8412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43800" y="3959352"/>
            <a:ext cx="91440" cy="841248"/>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032504"/>
            <a:ext cx="3886200" cy="274320"/>
          </a:xfrm>
          <a:prstGeom prst="rect">
            <a:avLst/>
          </a:prstGeom>
          <a:noFill/>
        </p:spPr>
        <p:txBody>
          <a:bodyPr wrap="square" anchor="t" lIns="0" rIns="0" tIns="0" bIns="0">
            <a:spAutoFit/>
          </a:bodyPr>
          <a:lstStyle/>
          <a:p>
            <a:pPr algn="l">
              <a:lnSpc>
                <a:spcPct val="115000"/>
              </a:lnSpc>
            </a:pPr>
            <a:r>
              <a:rPr sz="1100" b="1" i="0">
                <a:solidFill>
                  <a:srgbClr val="0A1F3D"/>
                </a:solidFill>
                <a:latin typeface="Calibri"/>
              </a:rPr>
              <a:t>REPLICABLE</a:t>
            </a:r>
          </a:p>
        </p:txBody>
      </p:sp>
      <p:sp>
        <p:nvSpPr>
          <p:cNvPr id="24" name="TextBox 23"/>
          <p:cNvSpPr txBox="1"/>
          <p:nvPr/>
        </p:nvSpPr>
        <p:spPr>
          <a:xfrm>
            <a:off x="7772400" y="4288536"/>
            <a:ext cx="3886200" cy="502920"/>
          </a:xfrm>
          <a:prstGeom prst="rect">
            <a:avLst/>
          </a:prstGeom>
          <a:noFill/>
        </p:spPr>
        <p:txBody>
          <a:bodyPr wrap="square" anchor="t" lIns="0" rIns="0" tIns="0" bIns="0">
            <a:spAutoFit/>
          </a:bodyPr>
          <a:lstStyle/>
          <a:p>
            <a:pPr algn="l">
              <a:lnSpc>
                <a:spcPct val="120000"/>
              </a:lnSpc>
            </a:pPr>
            <a:r>
              <a:rPr sz="1200" b="0" i="0">
                <a:solidFill>
                  <a:srgbClr val="121824"/>
                </a:solidFill>
                <a:latin typeface="Calibri"/>
              </a:rPr>
              <a:t>IAEA Milestone Approach. The same roadmap Zambia is on, via RPA → NSPA.</a:t>
            </a:r>
          </a:p>
        </p:txBody>
      </p:sp>
      <p:sp>
        <p:nvSpPr>
          <p:cNvPr id="25" name="Rectangle 24"/>
          <p:cNvSpPr/>
          <p:nvPr/>
        </p:nvSpPr>
        <p:spPr>
          <a:xfrm>
            <a:off x="7543800" y="4818888"/>
            <a:ext cx="4160520" cy="841248"/>
          </a:xfrm>
          <a:prstGeom prst="rect">
            <a:avLst/>
          </a:prstGeom>
          <a:solidFill>
            <a:srgbClr val="B3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26679" y="4956048"/>
            <a:ext cx="3886200" cy="640080"/>
          </a:xfrm>
          <a:prstGeom prst="rect">
            <a:avLst/>
          </a:prstGeom>
          <a:noFill/>
        </p:spPr>
        <p:txBody>
          <a:bodyPr wrap="square" anchor="t" lIns="0" rIns="0" tIns="0" bIns="0">
            <a:spAutoFit/>
          </a:bodyPr>
          <a:lstStyle/>
          <a:p>
            <a:pPr algn="l">
              <a:lnSpc>
                <a:spcPct val="125000"/>
              </a:lnSpc>
            </a:pPr>
            <a:r>
              <a:rPr sz="1300" b="1" i="0">
                <a:solidFill>
                  <a:srgbClr val="FFFFFF"/>
                </a:solidFill>
                <a:latin typeface="Calibri"/>
              </a:rPr>
              <a:t>Zambia is not starting from zero.
Zambia is starting from competence.</a:t>
            </a:r>
          </a:p>
        </p:txBody>
      </p:sp>
      <p:sp>
        <p:nvSpPr>
          <p:cNvPr id="27" name="TextBox 26"/>
          <p:cNvSpPr txBox="1"/>
          <p:nvPr/>
        </p:nvSpPr>
        <p:spPr>
          <a:xfrm>
            <a:off x="548640" y="5989320"/>
            <a:ext cx="11064240" cy="365760"/>
          </a:xfrm>
          <a:prstGeom prst="rect">
            <a:avLst/>
          </a:prstGeom>
          <a:noFill/>
        </p:spPr>
        <p:txBody>
          <a:bodyPr wrap="square" anchor="t" lIns="0" rIns="0" tIns="0" bIns="0">
            <a:spAutoFit/>
          </a:bodyPr>
          <a:lstStyle/>
          <a:p>
            <a:pPr algn="ctr">
              <a:lnSpc>
                <a:spcPct val="115000"/>
              </a:lnSpc>
            </a:pPr>
            <a:r>
              <a:rPr sz="1400" b="0" i="1">
                <a:solidFill>
                  <a:srgbClr val="2A3344"/>
                </a:solidFill>
                <a:latin typeface="Calibri"/>
              </a:rPr>
              <a:t>If the U.S. can manage 22,000 workers at &lt; 2% of limit, Zambia can manage one regulator and one reactor.</a:t>
            </a:r>
          </a:p>
        </p:txBody>
      </p:sp>
      <p:sp>
        <p:nvSpPr>
          <p:cNvPr id="28" name="Rectangle 27"/>
          <p:cNvSpPr/>
          <p:nvPr/>
        </p:nvSpPr>
        <p:spPr>
          <a:xfrm>
            <a:off x="0" y="6675120"/>
            <a:ext cx="12191695" cy="18288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0" y="6675120"/>
            <a:ext cx="640080" cy="182880"/>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46520"/>
            <a:ext cx="9601200" cy="228600"/>
          </a:xfrm>
          <a:prstGeom prst="rect">
            <a:avLst/>
          </a:prstGeom>
          <a:noFill/>
        </p:spPr>
        <p:txBody>
          <a:bodyPr wrap="square" anchor="t" lIns="0" rIns="0" tIns="0" bIns="0">
            <a:spAutoFit/>
          </a:bodyPr>
          <a:lstStyle/>
          <a:p>
            <a:pPr algn="l">
              <a:lnSpc>
                <a:spcPct val="115000"/>
              </a:lnSpc>
            </a:pPr>
            <a:r>
              <a:rPr sz="900" b="0" i="1">
                <a:solidFill>
                  <a:srgbClr val="6B7280"/>
                </a:solidFill>
                <a:latin typeface="Calibri"/>
              </a:rPr>
              <a:t>Sources: U.S. DOE REMS 2024 Report · IAEA Milestone Approach for New Nuclear Programs</a:t>
            </a:r>
          </a:p>
        </p:txBody>
      </p:sp>
      <p:sp>
        <p:nvSpPr>
          <p:cNvPr id="31" name="TextBox 30"/>
          <p:cNvSpPr txBox="1"/>
          <p:nvPr/>
        </p:nvSpPr>
        <p:spPr>
          <a:xfrm>
            <a:off x="10515600" y="6446520"/>
            <a:ext cx="1463040" cy="228600"/>
          </a:xfrm>
          <a:prstGeom prst="rect">
            <a:avLst/>
          </a:prstGeom>
          <a:noFill/>
        </p:spPr>
        <p:txBody>
          <a:bodyPr wrap="square" anchor="t" lIns="0" rIns="0" tIns="0" bIns="0">
            <a:spAutoFit/>
          </a:bodyPr>
          <a:lstStyle/>
          <a:p>
            <a:pPr algn="r">
              <a:lnSpc>
                <a:spcPct val="115000"/>
              </a:lnSpc>
            </a:pPr>
            <a:r>
              <a:rPr sz="900" b="1" i="0">
                <a:solidFill>
                  <a:srgbClr val="2A3344"/>
                </a:solidFill>
                <a:latin typeface="Calibri"/>
              </a:rPr>
              <a:t>3 / 5  ·  E. Mwaba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548640" y="411480"/>
            <a:ext cx="7315200" cy="274320"/>
          </a:xfrm>
          <a:prstGeom prst="rect">
            <a:avLst/>
          </a:prstGeom>
          <a:noFill/>
        </p:spPr>
        <p:txBody>
          <a:bodyPr wrap="square" anchor="t" lIns="0" rIns="0" tIns="0" bIns="0">
            <a:spAutoFit/>
          </a:bodyPr>
          <a:lstStyle/>
          <a:p>
            <a:pPr algn="l">
              <a:lnSpc>
                <a:spcPct val="115000"/>
              </a:lnSpc>
            </a:pPr>
            <a:r>
              <a:rPr sz="1100" b="1" i="0">
                <a:solidFill>
                  <a:srgbClr val="CC7A2E"/>
                </a:solidFill>
                <a:latin typeface="Calibri"/>
              </a:rPr>
              <a:t>03  ·  THE STAKES</a:t>
            </a:r>
          </a:p>
        </p:txBody>
      </p:sp>
      <p:sp>
        <p:nvSpPr>
          <p:cNvPr id="3" name="TextBox 2"/>
          <p:cNvSpPr txBox="1"/>
          <p:nvPr/>
        </p:nvSpPr>
        <p:spPr>
          <a:xfrm>
            <a:off x="548640" y="685800"/>
            <a:ext cx="11064240" cy="640080"/>
          </a:xfrm>
          <a:prstGeom prst="rect">
            <a:avLst/>
          </a:prstGeom>
          <a:noFill/>
        </p:spPr>
        <p:txBody>
          <a:bodyPr wrap="square" anchor="t" lIns="0" rIns="0" tIns="0" bIns="0">
            <a:spAutoFit/>
          </a:bodyPr>
          <a:lstStyle/>
          <a:p>
            <a:pPr algn="l">
              <a:lnSpc>
                <a:spcPct val="115000"/>
              </a:lnSpc>
            </a:pPr>
            <a:r>
              <a:rPr sz="2800" b="1" i="0">
                <a:solidFill>
                  <a:srgbClr val="0A1F3D"/>
                </a:solidFill>
                <a:latin typeface="Calibri"/>
              </a:rPr>
              <a:t>Drought is the new normal. Hydropower is the old bet.</a:t>
            </a:r>
          </a:p>
        </p:txBody>
      </p:sp>
      <p:cxnSp>
        <p:nvCxnSpPr>
          <p:cNvPr id="4" name="Connector 3"/>
          <p:cNvCxnSpPr/>
          <p:nvPr/>
        </p:nvCxnSpPr>
        <p:spPr>
          <a:xfrm>
            <a:off x="548640" y="1325880"/>
            <a:ext cx="1097280" cy="0"/>
          </a:xfrm>
          <a:prstGeom prst="line">
            <a:avLst/>
          </a:prstGeom>
          <a:ln w="19050">
            <a:solidFill>
              <a:srgbClr val="CC7A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417320"/>
            <a:ext cx="11064240" cy="457200"/>
          </a:xfrm>
          <a:prstGeom prst="rect">
            <a:avLst/>
          </a:prstGeom>
          <a:noFill/>
        </p:spPr>
        <p:txBody>
          <a:bodyPr wrap="square" anchor="t" lIns="0" rIns="0" tIns="0" bIns="0">
            <a:spAutoFit/>
          </a:bodyPr>
          <a:lstStyle/>
          <a:p>
            <a:pPr algn="l">
              <a:lnSpc>
                <a:spcPct val="115000"/>
              </a:lnSpc>
            </a:pPr>
            <a:r>
              <a:rPr sz="1400" b="0" i="1">
                <a:solidFill>
                  <a:srgbClr val="6B7280"/>
                </a:solidFill>
                <a:latin typeface="Calibri"/>
              </a:rPr>
              <a:t>Every dry year, Zambia pays in megawatts and in dollars. We keep paying.</a:t>
            </a:r>
          </a:p>
        </p:txBody>
      </p:sp>
      <p:sp>
        <p:nvSpPr>
          <p:cNvPr id="6" name="Rectangle 5"/>
          <p:cNvSpPr/>
          <p:nvPr/>
        </p:nvSpPr>
        <p:spPr>
          <a:xfrm>
            <a:off x="548640" y="2148840"/>
            <a:ext cx="2697480" cy="1463040"/>
          </a:xfrm>
          <a:prstGeom prst="rect">
            <a:avLst/>
          </a:prstGeom>
          <a:solidFill>
            <a:srgbClr val="7C18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2697480" cy="91440"/>
          </a:xfrm>
          <a:prstGeom prst="rect">
            <a:avLst/>
          </a:prstGeom>
          <a:solidFill>
            <a:srgbClr val="B3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31720"/>
            <a:ext cx="2423160" cy="640080"/>
          </a:xfrm>
          <a:prstGeom prst="rect">
            <a:avLst/>
          </a:prstGeom>
          <a:noFill/>
        </p:spPr>
        <p:txBody>
          <a:bodyPr wrap="square" anchor="t" lIns="0" rIns="0" tIns="0" bIns="0">
            <a:spAutoFit/>
          </a:bodyPr>
          <a:lstStyle/>
          <a:p>
            <a:pPr algn="l">
              <a:lnSpc>
                <a:spcPct val="115000"/>
              </a:lnSpc>
            </a:pPr>
            <a:r>
              <a:rPr sz="3000" b="1" i="0">
                <a:solidFill>
                  <a:srgbClr val="FFFFFF"/>
                </a:solidFill>
                <a:latin typeface="Calibri"/>
              </a:rPr>
              <a:t>84%</a:t>
            </a:r>
          </a:p>
        </p:txBody>
      </p:sp>
      <p:sp>
        <p:nvSpPr>
          <p:cNvPr id="9" name="TextBox 8"/>
          <p:cNvSpPr txBox="1"/>
          <p:nvPr/>
        </p:nvSpPr>
        <p:spPr>
          <a:xfrm>
            <a:off x="731520" y="2990088"/>
            <a:ext cx="2423160" cy="594360"/>
          </a:xfrm>
          <a:prstGeom prst="rect">
            <a:avLst/>
          </a:prstGeom>
          <a:noFill/>
        </p:spPr>
        <p:txBody>
          <a:bodyPr wrap="square" anchor="t" lIns="0" rIns="0" tIns="0" bIns="0">
            <a:spAutoFit/>
          </a:bodyPr>
          <a:lstStyle/>
          <a:p>
            <a:pPr algn="l">
              <a:lnSpc>
                <a:spcPct val="120000"/>
              </a:lnSpc>
            </a:pPr>
            <a:r>
              <a:rPr sz="1100" b="0" i="0">
                <a:solidFill>
                  <a:srgbClr val="F2CFCF"/>
                </a:solidFill>
                <a:latin typeface="Calibri"/>
              </a:rPr>
              <a:t>of generation
from hydropower</a:t>
            </a:r>
          </a:p>
        </p:txBody>
      </p:sp>
      <p:sp>
        <p:nvSpPr>
          <p:cNvPr id="10" name="Rectangle 9"/>
          <p:cNvSpPr/>
          <p:nvPr/>
        </p:nvSpPr>
        <p:spPr>
          <a:xfrm>
            <a:off x="3337560" y="2148840"/>
            <a:ext cx="2697480" cy="1463040"/>
          </a:xfrm>
          <a:prstGeom prst="rect">
            <a:avLst/>
          </a:prstGeom>
          <a:solidFill>
            <a:srgbClr val="7C18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2148840"/>
            <a:ext cx="2697480" cy="91440"/>
          </a:xfrm>
          <a:prstGeom prst="rect">
            <a:avLst/>
          </a:prstGeom>
          <a:solidFill>
            <a:srgbClr val="B3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0440" y="2331720"/>
            <a:ext cx="2423160" cy="640080"/>
          </a:xfrm>
          <a:prstGeom prst="rect">
            <a:avLst/>
          </a:prstGeom>
          <a:noFill/>
        </p:spPr>
        <p:txBody>
          <a:bodyPr wrap="square" anchor="t" lIns="0" rIns="0" tIns="0" bIns="0">
            <a:spAutoFit/>
          </a:bodyPr>
          <a:lstStyle/>
          <a:p>
            <a:pPr algn="l">
              <a:lnSpc>
                <a:spcPct val="115000"/>
              </a:lnSpc>
            </a:pPr>
            <a:r>
              <a:rPr sz="3000" b="1" i="0">
                <a:solidFill>
                  <a:srgbClr val="FFFFFF"/>
                </a:solidFill>
                <a:latin typeface="Calibri"/>
              </a:rPr>
              <a:t>1,000 MW</a:t>
            </a:r>
          </a:p>
        </p:txBody>
      </p:sp>
      <p:sp>
        <p:nvSpPr>
          <p:cNvPr id="13" name="TextBox 12"/>
          <p:cNvSpPr txBox="1"/>
          <p:nvPr/>
        </p:nvSpPr>
        <p:spPr>
          <a:xfrm>
            <a:off x="3520440" y="2990088"/>
            <a:ext cx="2423160" cy="594360"/>
          </a:xfrm>
          <a:prstGeom prst="rect">
            <a:avLst/>
          </a:prstGeom>
          <a:noFill/>
        </p:spPr>
        <p:txBody>
          <a:bodyPr wrap="square" anchor="t" lIns="0" rIns="0" tIns="0" bIns="0">
            <a:spAutoFit/>
          </a:bodyPr>
          <a:lstStyle/>
          <a:p>
            <a:pPr algn="l">
              <a:lnSpc>
                <a:spcPct val="120000"/>
              </a:lnSpc>
            </a:pPr>
            <a:r>
              <a:rPr sz="1100" b="0" i="0">
                <a:solidFill>
                  <a:srgbClr val="F2CFCF"/>
                </a:solidFill>
                <a:latin typeface="Calibri"/>
              </a:rPr>
              <a:t>deficit during the
2015/16 drought</a:t>
            </a:r>
          </a:p>
        </p:txBody>
      </p:sp>
      <p:sp>
        <p:nvSpPr>
          <p:cNvPr id="14" name="Rectangle 13"/>
          <p:cNvSpPr/>
          <p:nvPr/>
        </p:nvSpPr>
        <p:spPr>
          <a:xfrm>
            <a:off x="6126480" y="2148840"/>
            <a:ext cx="2697480" cy="1463040"/>
          </a:xfrm>
          <a:prstGeom prst="rect">
            <a:avLst/>
          </a:prstGeom>
          <a:solidFill>
            <a:srgbClr val="7C18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80" y="2148840"/>
            <a:ext cx="2697480" cy="91440"/>
          </a:xfrm>
          <a:prstGeom prst="rect">
            <a:avLst/>
          </a:prstGeom>
          <a:solidFill>
            <a:srgbClr val="B3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2331720"/>
            <a:ext cx="2423160" cy="640080"/>
          </a:xfrm>
          <a:prstGeom prst="rect">
            <a:avLst/>
          </a:prstGeom>
          <a:noFill/>
        </p:spPr>
        <p:txBody>
          <a:bodyPr wrap="square" anchor="t" lIns="0" rIns="0" tIns="0" bIns="0">
            <a:spAutoFit/>
          </a:bodyPr>
          <a:lstStyle/>
          <a:p>
            <a:pPr algn="l">
              <a:lnSpc>
                <a:spcPct val="115000"/>
              </a:lnSpc>
            </a:pPr>
            <a:r>
              <a:rPr sz="3000" b="1" i="0">
                <a:solidFill>
                  <a:srgbClr val="FFFFFF"/>
                </a:solidFill>
                <a:latin typeface="Calibri"/>
              </a:rPr>
              <a:t>$440M</a:t>
            </a:r>
          </a:p>
        </p:txBody>
      </p:sp>
      <p:sp>
        <p:nvSpPr>
          <p:cNvPr id="17" name="TextBox 16"/>
          <p:cNvSpPr txBox="1"/>
          <p:nvPr/>
        </p:nvSpPr>
        <p:spPr>
          <a:xfrm>
            <a:off x="6309360" y="2990088"/>
            <a:ext cx="2423160" cy="594360"/>
          </a:xfrm>
          <a:prstGeom prst="rect">
            <a:avLst/>
          </a:prstGeom>
          <a:noFill/>
        </p:spPr>
        <p:txBody>
          <a:bodyPr wrap="square" anchor="t" lIns="0" rIns="0" tIns="0" bIns="0">
            <a:spAutoFit/>
          </a:bodyPr>
          <a:lstStyle/>
          <a:p>
            <a:pPr algn="l">
              <a:lnSpc>
                <a:spcPct val="120000"/>
              </a:lnSpc>
            </a:pPr>
            <a:r>
              <a:rPr sz="1100" b="0" i="0">
                <a:solidFill>
                  <a:srgbClr val="F2CFCF"/>
                </a:solidFill>
                <a:latin typeface="Calibri"/>
              </a:rPr>
              <a:t>in unbudgeted
electricity imports</a:t>
            </a:r>
          </a:p>
        </p:txBody>
      </p:sp>
      <p:sp>
        <p:nvSpPr>
          <p:cNvPr id="18" name="Rectangle 17"/>
          <p:cNvSpPr/>
          <p:nvPr/>
        </p:nvSpPr>
        <p:spPr>
          <a:xfrm>
            <a:off x="8915400" y="2148840"/>
            <a:ext cx="2697480" cy="1463040"/>
          </a:xfrm>
          <a:prstGeom prst="rect">
            <a:avLst/>
          </a:prstGeom>
          <a:solidFill>
            <a:srgbClr val="7C18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15400" y="2148840"/>
            <a:ext cx="2697480" cy="91440"/>
          </a:xfrm>
          <a:prstGeom prst="rect">
            <a:avLst/>
          </a:prstGeom>
          <a:solidFill>
            <a:srgbClr val="B3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98280" y="2331720"/>
            <a:ext cx="2423160" cy="640080"/>
          </a:xfrm>
          <a:prstGeom prst="rect">
            <a:avLst/>
          </a:prstGeom>
          <a:noFill/>
        </p:spPr>
        <p:txBody>
          <a:bodyPr wrap="square" anchor="t" lIns="0" rIns="0" tIns="0" bIns="0">
            <a:spAutoFit/>
          </a:bodyPr>
          <a:lstStyle/>
          <a:p>
            <a:pPr algn="l">
              <a:lnSpc>
                <a:spcPct val="115000"/>
              </a:lnSpc>
            </a:pPr>
            <a:r>
              <a:rPr sz="3000" b="1" i="0">
                <a:solidFill>
                  <a:srgbClr val="FFFFFF"/>
                </a:solidFill>
                <a:latin typeface="Calibri"/>
              </a:rPr>
              <a:t>2023-24</a:t>
            </a:r>
          </a:p>
        </p:txBody>
      </p:sp>
      <p:sp>
        <p:nvSpPr>
          <p:cNvPr id="21" name="TextBox 20"/>
          <p:cNvSpPr txBox="1"/>
          <p:nvPr/>
        </p:nvSpPr>
        <p:spPr>
          <a:xfrm>
            <a:off x="9098280" y="2990088"/>
            <a:ext cx="2423160" cy="594360"/>
          </a:xfrm>
          <a:prstGeom prst="rect">
            <a:avLst/>
          </a:prstGeom>
          <a:noFill/>
        </p:spPr>
        <p:txBody>
          <a:bodyPr wrap="square" anchor="t" lIns="0" rIns="0" tIns="0" bIns="0">
            <a:spAutoFit/>
          </a:bodyPr>
          <a:lstStyle/>
          <a:p>
            <a:pPr algn="l">
              <a:lnSpc>
                <a:spcPct val="120000"/>
              </a:lnSpc>
            </a:pPr>
            <a:r>
              <a:rPr sz="1100" b="0" i="0">
                <a:solidFill>
                  <a:srgbClr val="F2CFCF"/>
                </a:solidFill>
                <a:latin typeface="Calibri"/>
              </a:rPr>
              <a:t>Kariba crisis.
It happened again.</a:t>
            </a:r>
          </a:p>
        </p:txBody>
      </p:sp>
      <p:cxnSp>
        <p:nvCxnSpPr>
          <p:cNvPr id="22" name="Connector 21"/>
          <p:cNvCxnSpPr/>
          <p:nvPr/>
        </p:nvCxnSpPr>
        <p:spPr>
          <a:xfrm>
            <a:off x="548640" y="3840480"/>
            <a:ext cx="11064240" cy="0"/>
          </a:xfrm>
          <a:prstGeom prst="line">
            <a:avLst/>
          </a:prstGeom>
          <a:ln w="6350">
            <a:solidFill>
              <a:srgbClr val="C8CED6"/>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3886200"/>
            <a:ext cx="11064240" cy="365760"/>
          </a:xfrm>
          <a:prstGeom prst="rect">
            <a:avLst/>
          </a:prstGeom>
          <a:noFill/>
        </p:spPr>
        <p:txBody>
          <a:bodyPr wrap="square" anchor="t" lIns="0" rIns="0" tIns="0" bIns="0">
            <a:spAutoFit/>
          </a:bodyPr>
          <a:lstStyle/>
          <a:p>
            <a:pPr algn="ctr">
              <a:lnSpc>
                <a:spcPct val="115000"/>
              </a:lnSpc>
            </a:pPr>
            <a:r>
              <a:rPr sz="1100" b="1" i="0">
                <a:solidFill>
                  <a:srgbClr val="CC7A2E"/>
                </a:solidFill>
                <a:latin typeface="Calibri"/>
              </a:rPr>
              <a:t>THE ANSWER  —  ALREADY  ON  PAPER</a:t>
            </a:r>
          </a:p>
        </p:txBody>
      </p:sp>
      <p:sp>
        <p:nvSpPr>
          <p:cNvPr id="24" name="Rectangle 23"/>
          <p:cNvSpPr/>
          <p:nvPr/>
        </p:nvSpPr>
        <p:spPr>
          <a:xfrm>
            <a:off x="548640" y="4343400"/>
            <a:ext cx="11064240" cy="1828800"/>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343400"/>
            <a:ext cx="11064240" cy="73152"/>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526280"/>
            <a:ext cx="4572000" cy="1554480"/>
          </a:xfrm>
          <a:prstGeom prst="rect">
            <a:avLst/>
          </a:prstGeom>
          <a:noFill/>
        </p:spPr>
        <p:txBody>
          <a:bodyPr wrap="square" anchor="t" lIns="0" rIns="0" tIns="0" bIns="0">
            <a:spAutoFit/>
          </a:bodyPr>
          <a:lstStyle/>
          <a:p>
            <a:pPr algn="l">
              <a:lnSpc>
                <a:spcPct val="105000"/>
              </a:lnSpc>
            </a:pPr>
            <a:r>
              <a:rPr sz="5200" b="1" i="0">
                <a:solidFill>
                  <a:srgbClr val="E8A860"/>
                </a:solidFill>
                <a:latin typeface="Calibri"/>
              </a:rPr>
              <a:t>2,000 MW</a:t>
            </a:r>
          </a:p>
          <a:p>
            <a:pPr algn="l">
              <a:lnSpc>
                <a:spcPct val="105000"/>
              </a:lnSpc>
              <a:spcAft>
                <a:spcPts val="0"/>
              </a:spcAft>
            </a:pPr>
            <a:r>
              <a:rPr sz="1400" b="0" i="0">
                <a:solidFill>
                  <a:srgbClr val="FFFFFF"/>
                </a:solidFill>
                <a:latin typeface="Calibri"/>
              </a:rPr>
              <a:t>nuclear baseload target</a:t>
            </a:r>
          </a:p>
          <a:p>
            <a:pPr algn="l">
              <a:lnSpc>
                <a:spcPct val="105000"/>
              </a:lnSpc>
              <a:spcAft>
                <a:spcPts val="0"/>
              </a:spcAft>
            </a:pPr>
            <a:r>
              <a:rPr sz="1100" b="0" i="0">
                <a:solidFill>
                  <a:srgbClr val="CFD8E3"/>
                </a:solidFill>
                <a:latin typeface="Calibri"/>
              </a:rPr>
              <a:t>Vision 2030  ·  7NDP</a:t>
            </a:r>
          </a:p>
        </p:txBody>
      </p:sp>
      <p:sp>
        <p:nvSpPr>
          <p:cNvPr id="27" name="Rectangle 26"/>
          <p:cNvSpPr/>
          <p:nvPr/>
        </p:nvSpPr>
        <p:spPr>
          <a:xfrm>
            <a:off x="5577840" y="4572000"/>
            <a:ext cx="18288" cy="1371600"/>
          </a:xfrm>
          <a:prstGeom prst="rect">
            <a:avLst/>
          </a:prstGeom>
          <a:solidFill>
            <a:srgbClr val="3344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0" y="4572000"/>
            <a:ext cx="2103120" cy="274320"/>
          </a:xfrm>
          <a:prstGeom prst="rect">
            <a:avLst/>
          </a:prstGeom>
          <a:noFill/>
        </p:spPr>
        <p:txBody>
          <a:bodyPr wrap="square" anchor="t" lIns="0" rIns="0" tIns="0" bIns="0">
            <a:spAutoFit/>
          </a:bodyPr>
          <a:lstStyle/>
          <a:p>
            <a:pPr algn="l">
              <a:lnSpc>
                <a:spcPct val="115000"/>
              </a:lnSpc>
            </a:pPr>
            <a:r>
              <a:rPr sz="1100" b="1" i="0">
                <a:solidFill>
                  <a:srgbClr val="E8A860"/>
                </a:solidFill>
                <a:latin typeface="Calibri"/>
              </a:rPr>
              <a:t>DROUGHT-PROOF</a:t>
            </a:r>
          </a:p>
        </p:txBody>
      </p:sp>
      <p:sp>
        <p:nvSpPr>
          <p:cNvPr id="29" name="TextBox 28"/>
          <p:cNvSpPr txBox="1"/>
          <p:nvPr/>
        </p:nvSpPr>
        <p:spPr>
          <a:xfrm>
            <a:off x="7955279" y="4572000"/>
            <a:ext cx="3749039" cy="365760"/>
          </a:xfrm>
          <a:prstGeom prst="rect">
            <a:avLst/>
          </a:prstGeom>
          <a:noFill/>
        </p:spPr>
        <p:txBody>
          <a:bodyPr wrap="square" anchor="t" lIns="0" rIns="0" tIns="0" bIns="0">
            <a:spAutoFit/>
          </a:bodyPr>
          <a:lstStyle/>
          <a:p>
            <a:pPr algn="l">
              <a:lnSpc>
                <a:spcPct val="115000"/>
              </a:lnSpc>
            </a:pPr>
            <a:r>
              <a:rPr sz="1200" b="0" i="0">
                <a:solidFill>
                  <a:srgbClr val="FFFFFF"/>
                </a:solidFill>
                <a:latin typeface="Calibri"/>
              </a:rPr>
              <a:t>Baseload independent of Kariba levels.</a:t>
            </a:r>
          </a:p>
        </p:txBody>
      </p:sp>
      <p:sp>
        <p:nvSpPr>
          <p:cNvPr id="30" name="TextBox 29"/>
          <p:cNvSpPr txBox="1"/>
          <p:nvPr/>
        </p:nvSpPr>
        <p:spPr>
          <a:xfrm>
            <a:off x="5852160" y="5029200"/>
            <a:ext cx="2103120" cy="274320"/>
          </a:xfrm>
          <a:prstGeom prst="rect">
            <a:avLst/>
          </a:prstGeom>
          <a:noFill/>
        </p:spPr>
        <p:txBody>
          <a:bodyPr wrap="square" anchor="t" lIns="0" rIns="0" tIns="0" bIns="0">
            <a:spAutoFit/>
          </a:bodyPr>
          <a:lstStyle/>
          <a:p>
            <a:pPr algn="l">
              <a:lnSpc>
                <a:spcPct val="115000"/>
              </a:lnSpc>
            </a:pPr>
            <a:r>
              <a:rPr sz="1100" b="1" i="0">
                <a:solidFill>
                  <a:srgbClr val="E8A860"/>
                </a:solidFill>
                <a:latin typeface="Calibri"/>
              </a:rPr>
              <a:t>FUEL-SOVEREIGN</a:t>
            </a:r>
          </a:p>
        </p:txBody>
      </p:sp>
      <p:sp>
        <p:nvSpPr>
          <p:cNvPr id="31" name="TextBox 30"/>
          <p:cNvSpPr txBox="1"/>
          <p:nvPr/>
        </p:nvSpPr>
        <p:spPr>
          <a:xfrm>
            <a:off x="7955279" y="5029200"/>
            <a:ext cx="3749039" cy="365760"/>
          </a:xfrm>
          <a:prstGeom prst="rect">
            <a:avLst/>
          </a:prstGeom>
          <a:noFill/>
        </p:spPr>
        <p:txBody>
          <a:bodyPr wrap="square" anchor="t" lIns="0" rIns="0" tIns="0" bIns="0">
            <a:spAutoFit/>
          </a:bodyPr>
          <a:lstStyle/>
          <a:p>
            <a:pPr algn="l">
              <a:lnSpc>
                <a:spcPct val="115000"/>
              </a:lnSpc>
            </a:pPr>
            <a:r>
              <a:rPr sz="1200" b="0" i="0">
                <a:solidFill>
                  <a:srgbClr val="FFFFFF"/>
                </a:solidFill>
                <a:latin typeface="Calibri"/>
              </a:rPr>
              <a:t>Domestic uranium reserves. No fuel imports.</a:t>
            </a:r>
          </a:p>
        </p:txBody>
      </p:sp>
      <p:sp>
        <p:nvSpPr>
          <p:cNvPr id="32" name="TextBox 31"/>
          <p:cNvSpPr txBox="1"/>
          <p:nvPr/>
        </p:nvSpPr>
        <p:spPr>
          <a:xfrm>
            <a:off x="5852160" y="5486400"/>
            <a:ext cx="2103120" cy="274320"/>
          </a:xfrm>
          <a:prstGeom prst="rect">
            <a:avLst/>
          </a:prstGeom>
          <a:noFill/>
        </p:spPr>
        <p:txBody>
          <a:bodyPr wrap="square" anchor="t" lIns="0" rIns="0" tIns="0" bIns="0">
            <a:spAutoFit/>
          </a:bodyPr>
          <a:lstStyle/>
          <a:p>
            <a:pPr algn="l">
              <a:lnSpc>
                <a:spcPct val="115000"/>
              </a:lnSpc>
            </a:pPr>
            <a:r>
              <a:rPr sz="1100" b="1" i="0">
                <a:solidFill>
                  <a:srgbClr val="E8A860"/>
                </a:solidFill>
                <a:latin typeface="Calibri"/>
              </a:rPr>
              <a:t>ALREADY MOBILISED</a:t>
            </a:r>
          </a:p>
        </p:txBody>
      </p:sp>
      <p:sp>
        <p:nvSpPr>
          <p:cNvPr id="33" name="TextBox 32"/>
          <p:cNvSpPr txBox="1"/>
          <p:nvPr/>
        </p:nvSpPr>
        <p:spPr>
          <a:xfrm>
            <a:off x="7955279" y="5486400"/>
            <a:ext cx="3749039" cy="365760"/>
          </a:xfrm>
          <a:prstGeom prst="rect">
            <a:avLst/>
          </a:prstGeom>
          <a:noFill/>
        </p:spPr>
        <p:txBody>
          <a:bodyPr wrap="square" anchor="t" lIns="0" rIns="0" tIns="0" bIns="0">
            <a:spAutoFit/>
          </a:bodyPr>
          <a:lstStyle/>
          <a:p>
            <a:pPr algn="l">
              <a:lnSpc>
                <a:spcPct val="115000"/>
              </a:lnSpc>
            </a:pPr>
            <a:r>
              <a:rPr sz="1200" b="0" i="0">
                <a:solidFill>
                  <a:srgbClr val="FFFFFF"/>
                </a:solidFill>
                <a:latin typeface="Calibri"/>
              </a:rPr>
              <a:t>2020 Nuclear Policy approved. ROSATOM, IP3, KAERI signed.</a:t>
            </a:r>
          </a:p>
        </p:txBody>
      </p:sp>
      <p:sp>
        <p:nvSpPr>
          <p:cNvPr id="34" name="TextBox 33"/>
          <p:cNvSpPr txBox="1"/>
          <p:nvPr/>
        </p:nvSpPr>
        <p:spPr>
          <a:xfrm>
            <a:off x="548640" y="6309360"/>
            <a:ext cx="11064240" cy="365760"/>
          </a:xfrm>
          <a:prstGeom prst="rect">
            <a:avLst/>
          </a:prstGeom>
          <a:noFill/>
        </p:spPr>
        <p:txBody>
          <a:bodyPr wrap="square" anchor="t" lIns="0" rIns="0" tIns="0" bIns="0">
            <a:spAutoFit/>
          </a:bodyPr>
          <a:lstStyle/>
          <a:p>
            <a:pPr algn="ctr">
              <a:lnSpc>
                <a:spcPct val="115000"/>
              </a:lnSpc>
            </a:pPr>
            <a:r>
              <a:rPr sz="1300" b="1" i="1">
                <a:solidFill>
                  <a:srgbClr val="B32B2B"/>
                </a:solidFill>
                <a:latin typeface="Calibri"/>
              </a:rPr>
              <a:t>We wrote the plan in 2020. The grid is still waiting in 2026.</a:t>
            </a:r>
          </a:p>
        </p:txBody>
      </p:sp>
      <p:sp>
        <p:nvSpPr>
          <p:cNvPr id="35" name="Rectangle 34"/>
          <p:cNvSpPr/>
          <p:nvPr/>
        </p:nvSpPr>
        <p:spPr>
          <a:xfrm>
            <a:off x="0" y="6675120"/>
            <a:ext cx="12191695" cy="18288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6675120"/>
            <a:ext cx="640080" cy="182880"/>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6446520"/>
            <a:ext cx="9601200" cy="228600"/>
          </a:xfrm>
          <a:prstGeom prst="rect">
            <a:avLst/>
          </a:prstGeom>
          <a:noFill/>
        </p:spPr>
        <p:txBody>
          <a:bodyPr wrap="square" anchor="t" lIns="0" rIns="0" tIns="0" bIns="0">
            <a:spAutoFit/>
          </a:bodyPr>
          <a:lstStyle/>
          <a:p>
            <a:pPr algn="l">
              <a:lnSpc>
                <a:spcPct val="115000"/>
              </a:lnSpc>
            </a:pPr>
            <a:r>
              <a:rPr sz="900" b="0" i="1">
                <a:solidFill>
                  <a:srgbClr val="6B7280"/>
                </a:solidFill>
                <a:latin typeface="Calibri"/>
              </a:rPr>
              <a:t>Sources: ZESCO Annual Reports 2023-2024 · Zambia 7NDP &amp; Vision 2030</a:t>
            </a:r>
          </a:p>
        </p:txBody>
      </p:sp>
      <p:sp>
        <p:nvSpPr>
          <p:cNvPr id="38" name="TextBox 37"/>
          <p:cNvSpPr txBox="1"/>
          <p:nvPr/>
        </p:nvSpPr>
        <p:spPr>
          <a:xfrm>
            <a:off x="10515600" y="6446520"/>
            <a:ext cx="1463040" cy="228600"/>
          </a:xfrm>
          <a:prstGeom prst="rect">
            <a:avLst/>
          </a:prstGeom>
          <a:noFill/>
        </p:spPr>
        <p:txBody>
          <a:bodyPr wrap="square" anchor="t" lIns="0" rIns="0" tIns="0" bIns="0">
            <a:spAutoFit/>
          </a:bodyPr>
          <a:lstStyle/>
          <a:p>
            <a:pPr algn="r">
              <a:lnSpc>
                <a:spcPct val="115000"/>
              </a:lnSpc>
            </a:pPr>
            <a:r>
              <a:rPr sz="900" b="1" i="0">
                <a:solidFill>
                  <a:srgbClr val="2A3344"/>
                </a:solidFill>
                <a:latin typeface="Calibri"/>
              </a:rPr>
              <a:t>4 / 5  ·  E. Mwaba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6142A"/>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9144000" cy="365760"/>
          </a:xfrm>
          <a:prstGeom prst="rect">
            <a:avLst/>
          </a:prstGeom>
          <a:noFill/>
        </p:spPr>
        <p:txBody>
          <a:bodyPr wrap="square" anchor="t" lIns="0" rIns="0" tIns="0" bIns="0">
            <a:spAutoFit/>
          </a:bodyPr>
          <a:lstStyle/>
          <a:p>
            <a:pPr algn="l">
              <a:lnSpc>
                <a:spcPct val="115000"/>
              </a:lnSpc>
            </a:pPr>
            <a:r>
              <a:rPr sz="1100" b="1" i="0">
                <a:solidFill>
                  <a:srgbClr val="E8A860"/>
                </a:solidFill>
                <a:latin typeface="Calibri"/>
              </a:rPr>
              <a:t>04  ·  THE ASK</a:t>
            </a:r>
          </a:p>
        </p:txBody>
      </p:sp>
      <p:sp>
        <p:nvSpPr>
          <p:cNvPr id="4" name="TextBox 3"/>
          <p:cNvSpPr txBox="1"/>
          <p:nvPr/>
        </p:nvSpPr>
        <p:spPr>
          <a:xfrm>
            <a:off x="548640" y="777240"/>
            <a:ext cx="11064240" cy="822960"/>
          </a:xfrm>
          <a:prstGeom prst="rect">
            <a:avLst/>
          </a:prstGeom>
          <a:noFill/>
        </p:spPr>
        <p:txBody>
          <a:bodyPr wrap="square" anchor="t" lIns="0" rIns="0" tIns="0" bIns="0">
            <a:spAutoFit/>
          </a:bodyPr>
          <a:lstStyle/>
          <a:p>
            <a:pPr algn="l">
              <a:lnSpc>
                <a:spcPct val="115000"/>
              </a:lnSpc>
            </a:pPr>
            <a:r>
              <a:rPr sz="3800" b="1" i="0">
                <a:solidFill>
                  <a:srgbClr val="FFFFFF"/>
                </a:solidFill>
                <a:latin typeface="Calibri"/>
              </a:rPr>
              <a:t>Three decisions. One generation.</a:t>
            </a:r>
          </a:p>
        </p:txBody>
      </p:sp>
      <p:cxnSp>
        <p:nvCxnSpPr>
          <p:cNvPr id="5" name="Connector 4"/>
          <p:cNvCxnSpPr/>
          <p:nvPr/>
        </p:nvCxnSpPr>
        <p:spPr>
          <a:xfrm>
            <a:off x="548640" y="1554480"/>
            <a:ext cx="1097280" cy="0"/>
          </a:xfrm>
          <a:prstGeom prst="line">
            <a:avLst/>
          </a:prstGeom>
          <a:ln w="19050">
            <a:solidFill>
              <a:srgbClr val="CC7A2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45920"/>
            <a:ext cx="11064240" cy="457200"/>
          </a:xfrm>
          <a:prstGeom prst="rect">
            <a:avLst/>
          </a:prstGeom>
          <a:noFill/>
        </p:spPr>
        <p:txBody>
          <a:bodyPr wrap="square" anchor="t" lIns="0" rIns="0" tIns="0" bIns="0">
            <a:spAutoFit/>
          </a:bodyPr>
          <a:lstStyle/>
          <a:p>
            <a:pPr algn="l">
              <a:lnSpc>
                <a:spcPct val="115000"/>
              </a:lnSpc>
            </a:pPr>
            <a:r>
              <a:rPr sz="1400" b="0" i="1">
                <a:solidFill>
                  <a:srgbClr val="CFD8E3"/>
                </a:solidFill>
                <a:latin typeface="Calibri"/>
              </a:rPr>
              <a:t>From radiological fear to industrial mastery — the choice is legislative, not technical.</a:t>
            </a:r>
          </a:p>
        </p:txBody>
      </p:sp>
      <p:sp>
        <p:nvSpPr>
          <p:cNvPr id="7" name="Rectangle 6"/>
          <p:cNvSpPr/>
          <p:nvPr/>
        </p:nvSpPr>
        <p:spPr>
          <a:xfrm>
            <a:off x="548640" y="2423160"/>
            <a:ext cx="1051560" cy="1097280"/>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715768"/>
            <a:ext cx="1051560" cy="640080"/>
          </a:xfrm>
          <a:prstGeom prst="rect">
            <a:avLst/>
          </a:prstGeom>
          <a:noFill/>
        </p:spPr>
        <p:txBody>
          <a:bodyPr wrap="square" anchor="t" lIns="0" rIns="0" tIns="0" bIns="0">
            <a:spAutoFit/>
          </a:bodyPr>
          <a:lstStyle/>
          <a:p>
            <a:pPr algn="ctr">
              <a:lnSpc>
                <a:spcPct val="115000"/>
              </a:lnSpc>
            </a:pPr>
            <a:r>
              <a:rPr sz="3400" b="1" i="0">
                <a:solidFill>
                  <a:srgbClr val="06142A"/>
                </a:solidFill>
                <a:latin typeface="Calibri"/>
              </a:rPr>
              <a:t>01</a:t>
            </a:r>
          </a:p>
        </p:txBody>
      </p:sp>
      <p:sp>
        <p:nvSpPr>
          <p:cNvPr id="9" name="Rectangle 8"/>
          <p:cNvSpPr/>
          <p:nvPr/>
        </p:nvSpPr>
        <p:spPr>
          <a:xfrm>
            <a:off x="1600200" y="2423160"/>
            <a:ext cx="10058400" cy="1097280"/>
          </a:xfrm>
          <a:prstGeom prst="rect">
            <a:avLst/>
          </a:prstGeom>
          <a:solidFill>
            <a:srgbClr val="122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00200" y="2423160"/>
            <a:ext cx="10058400" cy="36576"/>
          </a:xfrm>
          <a:prstGeom prst="rect">
            <a:avLst/>
          </a:prstGeom>
          <a:solidFill>
            <a:srgbClr val="3344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0" y="2542032"/>
            <a:ext cx="1828800" cy="274320"/>
          </a:xfrm>
          <a:prstGeom prst="rect">
            <a:avLst/>
          </a:prstGeom>
          <a:noFill/>
        </p:spPr>
        <p:txBody>
          <a:bodyPr wrap="square" anchor="t" lIns="0" rIns="0" tIns="0" bIns="0">
            <a:spAutoFit/>
          </a:bodyPr>
          <a:lstStyle/>
          <a:p>
            <a:pPr algn="l">
              <a:lnSpc>
                <a:spcPct val="115000"/>
              </a:lnSpc>
            </a:pPr>
            <a:r>
              <a:rPr sz="1100" b="1" i="0">
                <a:solidFill>
                  <a:srgbClr val="E8A860"/>
                </a:solidFill>
                <a:latin typeface="Calibri"/>
              </a:rPr>
              <a:t>ENACT</a:t>
            </a:r>
          </a:p>
        </p:txBody>
      </p:sp>
      <p:sp>
        <p:nvSpPr>
          <p:cNvPr id="12" name="TextBox 11"/>
          <p:cNvSpPr txBox="1"/>
          <p:nvPr/>
        </p:nvSpPr>
        <p:spPr>
          <a:xfrm>
            <a:off x="1828800" y="2788920"/>
            <a:ext cx="9601200" cy="365760"/>
          </a:xfrm>
          <a:prstGeom prst="rect">
            <a:avLst/>
          </a:prstGeom>
          <a:noFill/>
        </p:spPr>
        <p:txBody>
          <a:bodyPr wrap="square" anchor="t" lIns="0" rIns="0" tIns="0" bIns="0">
            <a:spAutoFit/>
          </a:bodyPr>
          <a:lstStyle/>
          <a:p>
            <a:pPr algn="l">
              <a:lnSpc>
                <a:spcPct val="115000"/>
              </a:lnSpc>
            </a:pPr>
            <a:r>
              <a:rPr sz="1800" b="1" i="0">
                <a:solidFill>
                  <a:srgbClr val="FFFFFF"/>
                </a:solidFill>
                <a:latin typeface="Calibri"/>
              </a:rPr>
              <a:t>Pass the Nuclear Bill.</a:t>
            </a:r>
          </a:p>
        </p:txBody>
      </p:sp>
      <p:sp>
        <p:nvSpPr>
          <p:cNvPr id="13" name="TextBox 12"/>
          <p:cNvSpPr txBox="1"/>
          <p:nvPr/>
        </p:nvSpPr>
        <p:spPr>
          <a:xfrm>
            <a:off x="1828800" y="3108960"/>
            <a:ext cx="9601200" cy="457200"/>
          </a:xfrm>
          <a:prstGeom prst="rect">
            <a:avLst/>
          </a:prstGeom>
          <a:noFill/>
        </p:spPr>
        <p:txBody>
          <a:bodyPr wrap="square" anchor="t" lIns="0" rIns="0" tIns="0" bIns="0">
            <a:spAutoFit/>
          </a:bodyPr>
          <a:lstStyle/>
          <a:p>
            <a:pPr algn="l">
              <a:lnSpc>
                <a:spcPct val="125000"/>
              </a:lnSpc>
            </a:pPr>
            <a:r>
              <a:rPr sz="1200" b="0" i="0">
                <a:solidFill>
                  <a:srgbClr val="CFD8E3"/>
                </a:solidFill>
                <a:latin typeface="Calibri"/>
              </a:rPr>
              <a:t>Empower NSPA as an IAEA-aligned independent regulator. Without it, every other step is symbolic.</a:t>
            </a:r>
          </a:p>
        </p:txBody>
      </p:sp>
      <p:sp>
        <p:nvSpPr>
          <p:cNvPr id="14" name="Rectangle 13"/>
          <p:cNvSpPr/>
          <p:nvPr/>
        </p:nvSpPr>
        <p:spPr>
          <a:xfrm>
            <a:off x="548640" y="3611880"/>
            <a:ext cx="1051560" cy="1097280"/>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904488"/>
            <a:ext cx="1051560" cy="640080"/>
          </a:xfrm>
          <a:prstGeom prst="rect">
            <a:avLst/>
          </a:prstGeom>
          <a:noFill/>
        </p:spPr>
        <p:txBody>
          <a:bodyPr wrap="square" anchor="t" lIns="0" rIns="0" tIns="0" bIns="0">
            <a:spAutoFit/>
          </a:bodyPr>
          <a:lstStyle/>
          <a:p>
            <a:pPr algn="ctr">
              <a:lnSpc>
                <a:spcPct val="115000"/>
              </a:lnSpc>
            </a:pPr>
            <a:r>
              <a:rPr sz="3400" b="1" i="0">
                <a:solidFill>
                  <a:srgbClr val="06142A"/>
                </a:solidFill>
                <a:latin typeface="Calibri"/>
              </a:rPr>
              <a:t>02</a:t>
            </a:r>
          </a:p>
        </p:txBody>
      </p:sp>
      <p:sp>
        <p:nvSpPr>
          <p:cNvPr id="16" name="Rectangle 15"/>
          <p:cNvSpPr/>
          <p:nvPr/>
        </p:nvSpPr>
        <p:spPr>
          <a:xfrm>
            <a:off x="1600200" y="3611880"/>
            <a:ext cx="10058400" cy="1097280"/>
          </a:xfrm>
          <a:prstGeom prst="rect">
            <a:avLst/>
          </a:prstGeom>
          <a:solidFill>
            <a:srgbClr val="122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600200" y="3611880"/>
            <a:ext cx="10058400" cy="36576"/>
          </a:xfrm>
          <a:prstGeom prst="rect">
            <a:avLst/>
          </a:prstGeom>
          <a:solidFill>
            <a:srgbClr val="3344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0" y="3730752"/>
            <a:ext cx="1828800" cy="274320"/>
          </a:xfrm>
          <a:prstGeom prst="rect">
            <a:avLst/>
          </a:prstGeom>
          <a:noFill/>
        </p:spPr>
        <p:txBody>
          <a:bodyPr wrap="square" anchor="t" lIns="0" rIns="0" tIns="0" bIns="0">
            <a:spAutoFit/>
          </a:bodyPr>
          <a:lstStyle/>
          <a:p>
            <a:pPr algn="l">
              <a:lnSpc>
                <a:spcPct val="115000"/>
              </a:lnSpc>
            </a:pPr>
            <a:r>
              <a:rPr sz="1100" b="1" i="0">
                <a:solidFill>
                  <a:srgbClr val="E8A860"/>
                </a:solidFill>
                <a:latin typeface="Calibri"/>
              </a:rPr>
              <a:t>EQUIP</a:t>
            </a:r>
          </a:p>
        </p:txBody>
      </p:sp>
      <p:sp>
        <p:nvSpPr>
          <p:cNvPr id="19" name="TextBox 18"/>
          <p:cNvSpPr txBox="1"/>
          <p:nvPr/>
        </p:nvSpPr>
        <p:spPr>
          <a:xfrm>
            <a:off x="1828800" y="3977640"/>
            <a:ext cx="9601200" cy="365760"/>
          </a:xfrm>
          <a:prstGeom prst="rect">
            <a:avLst/>
          </a:prstGeom>
          <a:noFill/>
        </p:spPr>
        <p:txBody>
          <a:bodyPr wrap="square" anchor="t" lIns="0" rIns="0" tIns="0" bIns="0">
            <a:spAutoFit/>
          </a:bodyPr>
          <a:lstStyle/>
          <a:p>
            <a:pPr algn="l">
              <a:lnSpc>
                <a:spcPct val="115000"/>
              </a:lnSpc>
            </a:pPr>
            <a:r>
              <a:rPr sz="1800" b="1" i="0">
                <a:solidFill>
                  <a:srgbClr val="FFFFFF"/>
                </a:solidFill>
                <a:latin typeface="Calibri"/>
              </a:rPr>
              <a:t>Fund radiological monitoring — starting in Siavonga.</a:t>
            </a:r>
          </a:p>
        </p:txBody>
      </p:sp>
      <p:sp>
        <p:nvSpPr>
          <p:cNvPr id="20" name="TextBox 19"/>
          <p:cNvSpPr txBox="1"/>
          <p:nvPr/>
        </p:nvSpPr>
        <p:spPr>
          <a:xfrm>
            <a:off x="1828800" y="4297680"/>
            <a:ext cx="9601200" cy="457200"/>
          </a:xfrm>
          <a:prstGeom prst="rect">
            <a:avLst/>
          </a:prstGeom>
          <a:noFill/>
        </p:spPr>
        <p:txBody>
          <a:bodyPr wrap="square" anchor="t" lIns="0" rIns="0" tIns="0" bIns="0">
            <a:spAutoFit/>
          </a:bodyPr>
          <a:lstStyle/>
          <a:p>
            <a:pPr algn="l">
              <a:lnSpc>
                <a:spcPct val="125000"/>
              </a:lnSpc>
            </a:pPr>
            <a:r>
              <a:rPr sz="1200" b="0" i="0">
                <a:solidFill>
                  <a:srgbClr val="CFD8E3"/>
                </a:solidFill>
                <a:latin typeface="Calibri"/>
              </a:rPr>
              <a:t>Convert invisible risk into measured data. No Zambian community should live next to uranium without instruments.</a:t>
            </a:r>
          </a:p>
        </p:txBody>
      </p:sp>
      <p:sp>
        <p:nvSpPr>
          <p:cNvPr id="21" name="Rectangle 20"/>
          <p:cNvSpPr/>
          <p:nvPr/>
        </p:nvSpPr>
        <p:spPr>
          <a:xfrm>
            <a:off x="548640" y="4800600"/>
            <a:ext cx="1051560" cy="1097280"/>
          </a:xfrm>
          <a:prstGeom prst="rect">
            <a:avLst/>
          </a:prstGeom>
          <a:solidFill>
            <a:srgbClr val="CC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93208"/>
            <a:ext cx="1051560" cy="640080"/>
          </a:xfrm>
          <a:prstGeom prst="rect">
            <a:avLst/>
          </a:prstGeom>
          <a:noFill/>
        </p:spPr>
        <p:txBody>
          <a:bodyPr wrap="square" anchor="t" lIns="0" rIns="0" tIns="0" bIns="0">
            <a:spAutoFit/>
          </a:bodyPr>
          <a:lstStyle/>
          <a:p>
            <a:pPr algn="ctr">
              <a:lnSpc>
                <a:spcPct val="115000"/>
              </a:lnSpc>
            </a:pPr>
            <a:r>
              <a:rPr sz="3400" b="1" i="0">
                <a:solidFill>
                  <a:srgbClr val="06142A"/>
                </a:solidFill>
                <a:latin typeface="Calibri"/>
              </a:rPr>
              <a:t>03</a:t>
            </a:r>
          </a:p>
        </p:txBody>
      </p:sp>
      <p:sp>
        <p:nvSpPr>
          <p:cNvPr id="23" name="Rectangle 22"/>
          <p:cNvSpPr/>
          <p:nvPr/>
        </p:nvSpPr>
        <p:spPr>
          <a:xfrm>
            <a:off x="1600200" y="4800600"/>
            <a:ext cx="10058400" cy="1097280"/>
          </a:xfrm>
          <a:prstGeom prst="rect">
            <a:avLst/>
          </a:prstGeom>
          <a:solidFill>
            <a:srgbClr val="122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00200" y="4800600"/>
            <a:ext cx="10058400" cy="36576"/>
          </a:xfrm>
          <a:prstGeom prst="rect">
            <a:avLst/>
          </a:prstGeom>
          <a:solidFill>
            <a:srgbClr val="3344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919472"/>
            <a:ext cx="1828800" cy="274320"/>
          </a:xfrm>
          <a:prstGeom prst="rect">
            <a:avLst/>
          </a:prstGeom>
          <a:noFill/>
        </p:spPr>
        <p:txBody>
          <a:bodyPr wrap="square" anchor="t" lIns="0" rIns="0" tIns="0" bIns="0">
            <a:spAutoFit/>
          </a:bodyPr>
          <a:lstStyle/>
          <a:p>
            <a:pPr algn="l">
              <a:lnSpc>
                <a:spcPct val="115000"/>
              </a:lnSpc>
            </a:pPr>
            <a:r>
              <a:rPr sz="1100" b="1" i="0">
                <a:solidFill>
                  <a:srgbClr val="E8A860"/>
                </a:solidFill>
                <a:latin typeface="Calibri"/>
              </a:rPr>
              <a:t>EXECUTE</a:t>
            </a:r>
          </a:p>
        </p:txBody>
      </p:sp>
      <p:sp>
        <p:nvSpPr>
          <p:cNvPr id="26" name="TextBox 25"/>
          <p:cNvSpPr txBox="1"/>
          <p:nvPr/>
        </p:nvSpPr>
        <p:spPr>
          <a:xfrm>
            <a:off x="1828800" y="5166360"/>
            <a:ext cx="9601200" cy="365760"/>
          </a:xfrm>
          <a:prstGeom prst="rect">
            <a:avLst/>
          </a:prstGeom>
          <a:noFill/>
        </p:spPr>
        <p:txBody>
          <a:bodyPr wrap="square" anchor="t" lIns="0" rIns="0" tIns="0" bIns="0">
            <a:spAutoFit/>
          </a:bodyPr>
          <a:lstStyle/>
          <a:p>
            <a:pPr algn="l">
              <a:lnSpc>
                <a:spcPct val="115000"/>
              </a:lnSpc>
            </a:pPr>
            <a:r>
              <a:rPr sz="1800" b="1" i="0">
                <a:solidFill>
                  <a:srgbClr val="FFFFFF"/>
                </a:solidFill>
                <a:latin typeface="Calibri"/>
              </a:rPr>
              <a:t>Greenlight CNST + pre-feasibility for 2,000 MW.</a:t>
            </a:r>
          </a:p>
        </p:txBody>
      </p:sp>
      <p:sp>
        <p:nvSpPr>
          <p:cNvPr id="27" name="TextBox 26"/>
          <p:cNvSpPr txBox="1"/>
          <p:nvPr/>
        </p:nvSpPr>
        <p:spPr>
          <a:xfrm>
            <a:off x="1828800" y="5486400"/>
            <a:ext cx="9601200" cy="457200"/>
          </a:xfrm>
          <a:prstGeom prst="rect">
            <a:avLst/>
          </a:prstGeom>
          <a:noFill/>
        </p:spPr>
        <p:txBody>
          <a:bodyPr wrap="square" anchor="t" lIns="0" rIns="0" tIns="0" bIns="0">
            <a:spAutoFit/>
          </a:bodyPr>
          <a:lstStyle/>
          <a:p>
            <a:pPr algn="l">
              <a:lnSpc>
                <a:spcPct val="125000"/>
              </a:lnSpc>
            </a:pPr>
            <a:r>
              <a:rPr sz="1200" b="0" i="0">
                <a:solidFill>
                  <a:srgbClr val="CFD8E3"/>
                </a:solidFill>
                <a:latin typeface="Calibri"/>
              </a:rPr>
              <a:t>Use the partnerships we already signed. Stop re-debating what Cabinet already approved in 2020.</a:t>
            </a:r>
          </a:p>
        </p:txBody>
      </p:sp>
      <p:cxnSp>
        <p:nvCxnSpPr>
          <p:cNvPr id="28" name="Connector 27"/>
          <p:cNvCxnSpPr/>
          <p:nvPr/>
        </p:nvCxnSpPr>
        <p:spPr>
          <a:xfrm>
            <a:off x="548640" y="6080760"/>
            <a:ext cx="11064240" cy="0"/>
          </a:xfrm>
          <a:prstGeom prst="line">
            <a:avLst/>
          </a:prstGeom>
          <a:ln w="6350">
            <a:solidFill>
              <a:srgbClr val="334466"/>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172200"/>
            <a:ext cx="11064240" cy="457200"/>
          </a:xfrm>
          <a:prstGeom prst="rect">
            <a:avLst/>
          </a:prstGeom>
          <a:noFill/>
        </p:spPr>
        <p:txBody>
          <a:bodyPr wrap="square" anchor="t" lIns="0" rIns="0" tIns="0" bIns="0">
            <a:spAutoFit/>
          </a:bodyPr>
          <a:lstStyle/>
          <a:p>
            <a:pPr algn="ctr">
              <a:lnSpc>
                <a:spcPct val="115000"/>
              </a:lnSpc>
            </a:pPr>
            <a:r>
              <a:rPr sz="1400" b="0" i="0">
                <a:solidFill>
                  <a:srgbClr val="FFFFFF"/>
                </a:solidFill>
                <a:latin typeface="Calibri"/>
              </a:rPr>
              <a:t>The fuel is under our feet.  </a:t>
            </a:r>
            <a:r>
              <a:rPr sz="1400" b="0" i="0">
                <a:solidFill>
                  <a:srgbClr val="FFFFFF"/>
                </a:solidFill>
                <a:latin typeface="Calibri"/>
              </a:rPr>
              <a:t>The expertise is on our payroll.  </a:t>
            </a:r>
            <a:r>
              <a:rPr sz="1400" b="1" i="0">
                <a:solidFill>
                  <a:srgbClr val="E8A860"/>
                </a:solidFill>
                <a:latin typeface="Calibri"/>
              </a:rPr>
              <a:t>The bill is on the table.</a:t>
            </a:r>
          </a:p>
        </p:txBody>
      </p:sp>
      <p:sp>
        <p:nvSpPr>
          <p:cNvPr id="30" name="TextBox 29"/>
          <p:cNvSpPr txBox="1"/>
          <p:nvPr/>
        </p:nvSpPr>
        <p:spPr>
          <a:xfrm>
            <a:off x="548640" y="6492240"/>
            <a:ext cx="11064240" cy="274320"/>
          </a:xfrm>
          <a:prstGeom prst="rect">
            <a:avLst/>
          </a:prstGeom>
          <a:noFill/>
        </p:spPr>
        <p:txBody>
          <a:bodyPr wrap="square" anchor="t" lIns="0" rIns="0" tIns="0" bIns="0">
            <a:spAutoFit/>
          </a:bodyPr>
          <a:lstStyle/>
          <a:p>
            <a:pPr algn="ctr">
              <a:lnSpc>
                <a:spcPct val="115000"/>
              </a:lnSpc>
            </a:pPr>
            <a:r>
              <a:rPr sz="900" b="0" i="1">
                <a:solidFill>
                  <a:srgbClr val="8B97A8"/>
                </a:solidFill>
                <a:latin typeface="Calibri"/>
              </a:rPr>
              <a:t>5 / 5   ·   E. Mwaba   ·   Sources: 7NDP &amp; Vision 2030 · IAEA Milestones · Siavonga Uranium Baseline Survey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