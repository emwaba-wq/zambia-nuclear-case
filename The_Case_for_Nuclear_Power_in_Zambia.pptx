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BA3B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8BA3B8"/>
                </a:solidFill>
                <a:latin typeface="Arial"/>
              </a:rPr>
              <a:t>Levelised Cost of Electricity (USD/MWh)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LCOE (USD/MWh)</c:v>
                </c:pt>
              </c:strCache>
            </c:strRef>
          </c:tx>
          <c:spPr>
            <a:solidFill>
              <a:srgbClr val="8B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0B8C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D737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3A5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Coal</c:v>
                  </c:pt>
                  <c:pt idx="1">
                    <c:v>Gas</c:v>
                  </c:pt>
                  <c:pt idx="2">
                    <c:v>Nuclear</c:v>
                  </c:pt>
                  <c:pt idx="3">
                    <c:v>Solar+Storage</c:v>
                  </c:pt>
                  <c:pt idx="4">
                    <c:v>Hydro (new)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</c:v>
                </c:pt>
                <c:pt idx="1">
                  <c:v>95</c:v>
                </c:pt>
                <c:pt idx="2">
                  <c:v>80</c:v>
                </c:pt>
                <c:pt idx="3">
                  <c:v>145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</c:scaling>
        <c:delete val="0"/>
        <c:axPos val="l"/>
        <c:majorGridlines>
          <c:spPr>
            <a:ln w="6350" cap="flat">
              <a:solidFill>
                <a:srgbClr val="1E3A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4253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-1371600"/>
            <a:ext cx="5943600" cy="5943600"/>
          </a:xfrm>
          <a:prstGeom prst="ellipse">
            <a:avLst/>
          </a:prstGeom>
          <a:solidFill>
            <a:srgbClr val="1A3A5C">
              <a:alpha val="40000"/>
            </a:srgbClr>
          </a:solidFill>
          <a:ln w="12700">
            <a:solidFill>
              <a:srgbClr val="0D7377">
                <a:alpha val="5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132320" y="91440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D4A017"/>
                </a:solidFill>
              </a:rPr>
              <a:t>NATIONAL ENERGY STRATEGY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20040" y="128016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Zambia Needs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Nuclear Power.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320040" y="3246120"/>
            <a:ext cx="6217920" cy="731520"/>
          </a:xfrm>
          <a:prstGeom prst="rect">
            <a:avLst/>
          </a:prstGeom>
          <a:solidFill>
            <a:srgbClr val="0D7377">
              <a:alpha val="80000"/>
            </a:srgbClr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32918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</a:rPr>
              <a:t>The Big Idea: Zambia's chronic power deficit is strangling economic growth — nuclear power is the reliable, scalable, low-carbon solution that hydro and solar alone cannot provide.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2004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B8"/>
                </a:solidFill>
              </a:rPr>
              <a:t>A Case Built on Evidence · Economics · Science · Policy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D4A017"/>
                </a:solidFill>
              </a:rPr>
              <a:t>ACT I — THE PROBLEM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Zambia Is Running on Empty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7889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2788920" cy="1097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4173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8–16 hrs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65760" y="2834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</a:rPr>
              <a:t>Daily Load-Shedding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6576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8"/>
                </a:solidFill>
              </a:rPr>
              <a:t>Households &amp; industry cut off daily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1188720"/>
            <a:ext cx="27889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46120" y="1188720"/>
            <a:ext cx="2788920" cy="1097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7560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43%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3337560" y="2834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</a:rPr>
              <a:t>Electricity Access Rate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3756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8"/>
                </a:solidFill>
              </a:rPr>
              <a:t>Among the lowest in Southern Africa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17920" y="1188720"/>
            <a:ext cx="27889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188720"/>
            <a:ext cx="2788920" cy="10972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41732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09360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7%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6309360" y="2834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</a:rPr>
              <a:t>GDP Growth Target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246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A3B8"/>
                </a:solidFill>
              </a:rPr>
              <a:t>Impossible without reliable power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274320" y="4251960"/>
            <a:ext cx="8595360" cy="594360"/>
          </a:xfrm>
          <a:prstGeom prst="rect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Over 99% of Zambia's generation capacity is hydropower — and climate change is drying up the Kariba Dam year after year.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FFFFFF"/>
                </a:solidFill>
              </a:rPr>
              <a:t>WHY ALTERNATIVES FALL SHORT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Alternatives: Necessary but Not Sufficient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82880" y="1143000"/>
            <a:ext cx="2148840" cy="36576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2344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828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Hydro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7377"/>
                </a:solidFill>
              </a:rPr>
              <a:t>✓ Strengths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20040" y="257860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Already installed (2,800 MW)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20040" y="29260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Low operating cost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310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</a:rPr>
              <a:t>✗ Limitations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20040" y="3611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Drought-dependent: Kariba at 12% capacity (2024)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20040" y="39044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Near maximum expansion potential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2004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Climate risk worsening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423160" y="1143000"/>
            <a:ext cx="2148840" cy="36576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234440"/>
            <a:ext cx="548640" cy="5486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14600" y="1828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251460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7377"/>
                </a:solidFill>
              </a:rPr>
              <a:t>✓ Strengths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2560320" y="257860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High resource potential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2560320" y="29260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Falling panel costs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514600" y="3310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</a:rPr>
              <a:t>✗ Limitations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2560320" y="3611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Intermittent — no sun at night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2560320" y="39044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Requires expensive storage at scale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256032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Cannot meet industrial baseload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4663440" y="1143000"/>
            <a:ext cx="2148840" cy="365760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1234440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54880" y="1828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Coal / Gas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475488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7377"/>
                </a:solidFill>
              </a:rPr>
              <a:t>✓ Strengths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4800600" y="257860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Reliable baseload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4800600" y="29260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B1D2E"/>
                </a:solidFill>
              </a:rPr>
              <a:t>Short build time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4754880" y="3310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</a:rPr>
              <a:t>✗ Limitations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4800600" y="3611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High CO₂ emissions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4800600" y="39044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Climate financing blocked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480060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</a:rPr>
              <a:t>Fuel import dependency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6903720" y="1143000"/>
            <a:ext cx="2148840" cy="3657600"/>
          </a:xfrm>
          <a:prstGeom prst="rect">
            <a:avLst/>
          </a:prstGeom>
          <a:solidFill>
            <a:srgbClr val="0D7377"/>
          </a:solidFill>
          <a:ln w="254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1234440"/>
            <a:ext cx="548640" cy="54864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6995160" y="1828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Nuclear</a:t>
            </a:r>
            <a:endParaRPr lang="en-US" sz="1600" dirty="0"/>
          </a:p>
        </p:txBody>
      </p:sp>
      <p:sp>
        <p:nvSpPr>
          <p:cNvPr id="38" name="Text 32"/>
          <p:cNvSpPr/>
          <p:nvPr/>
        </p:nvSpPr>
        <p:spPr>
          <a:xfrm>
            <a:off x="699516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F0E8"/>
                </a:solidFill>
              </a:rPr>
              <a:t>✓ Strengths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7040880" y="257860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24/7 baseload — weather-independent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7040880" y="29260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Lowest lifecycle carbon (12g CO₂/kWh)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7040880" y="32735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Smallest land footprint per kWh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6995160" y="3310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3B3"/>
                </a:solidFill>
              </a:rPr>
              <a:t>✗ Limitations</a:t>
            </a:r>
            <a:endParaRPr lang="en-US" sz="950" dirty="0"/>
          </a:p>
        </p:txBody>
      </p:sp>
      <p:sp>
        <p:nvSpPr>
          <p:cNvPr id="43" name="Text 37"/>
          <p:cNvSpPr/>
          <p:nvPr/>
        </p:nvSpPr>
        <p:spPr>
          <a:xfrm>
            <a:off x="7040880" y="3611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E0E0"/>
                </a:solidFill>
              </a:rPr>
              <a:t>High upfront capital</a:t>
            </a:r>
            <a:endParaRPr lang="en-US" sz="850" dirty="0"/>
          </a:p>
        </p:txBody>
      </p:sp>
      <p:sp>
        <p:nvSpPr>
          <p:cNvPr id="44" name="Text 38"/>
          <p:cNvSpPr/>
          <p:nvPr/>
        </p:nvSpPr>
        <p:spPr>
          <a:xfrm>
            <a:off x="7040880" y="39044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E0E0"/>
                </a:solidFill>
              </a:rPr>
              <a:t>Long build time (10–15 yrs)</a:t>
            </a:r>
            <a:endParaRPr lang="en-US" sz="850" dirty="0"/>
          </a:p>
        </p:txBody>
      </p:sp>
      <p:sp>
        <p:nvSpPr>
          <p:cNvPr id="45" name="Text 39"/>
          <p:cNvSpPr/>
          <p:nvPr/>
        </p:nvSpPr>
        <p:spPr>
          <a:xfrm>
            <a:off x="704088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E0E0"/>
                </a:solidFill>
              </a:rPr>
              <a:t>Requires regulatory capacity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0B1D2E"/>
                </a:solidFill>
              </a:rPr>
              <a:t>ACT II — THE ECONOMICS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Cost of Doing Nothing Is Greater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4300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143000"/>
            <a:ext cx="333756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72200" y="1216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</a:rPr>
              <a:t>$2B+ annual GDP loss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172200" y="15636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B8"/>
                </a:solidFill>
              </a:rPr>
              <a:t>from load-shedding — Zambia's economy loses more every year than a nuclear plant costs to operate.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577840" y="2194560"/>
            <a:ext cx="333756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423160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2677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A085"/>
                </a:solidFill>
              </a:rPr>
              <a:t>Green financing unlocked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172200" y="26151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B8"/>
                </a:solidFill>
              </a:rPr>
              <a:t>Nuclear qualifies for climate financing, SDG bonds &amp; development bank funding unavailable for coal.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577840" y="3246120"/>
            <a:ext cx="333756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3474720"/>
            <a:ext cx="411480" cy="4114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172200" y="33192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377"/>
                </a:solidFill>
              </a:rPr>
              <a:t>50–60 year asset life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17220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B8"/>
                </a:solidFill>
              </a:rPr>
              <a:t>Once built, nuclear provides generations of cheap, stable baseload power at $20–30/MWh operational cost.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0" y="4526280"/>
            <a:ext cx="9144000" cy="594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459028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Morocco, Egypt, South Africa &amp; Ghana are all actively pursuing nuclear — Zambia risks being left behind in the energy transition.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D4A017"/>
                </a:solidFill>
              </a:rPr>
              <a:t>SAFETY &amp; CAPABILITY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Zambia Ready? Yes — With the Right Foundation.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3977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3444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Zambia's Existing Foundations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17373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IAEA member state since 1965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8541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21396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Zambia Centre for Energy Research (ZCER) operational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8775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2542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Uranium deposits — Zambia has the raw material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990088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2960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Active nuclear medicine programme (ZMC)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92424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22960" y="33467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Bilateral agreements with Russia (Rosatom) &amp; China</a:t>
            </a:r>
            <a:endParaRPr lang="en-US" sz="11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79476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22960" y="3749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D2E"/>
                </a:solidFill>
              </a:rPr>
              <a:t>Engineers trained at SA NNR and regional programs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4572000" y="1143000"/>
            <a:ext cx="4251960" cy="36576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2"/>
          <p:cNvSpPr/>
          <p:nvPr/>
        </p:nvSpPr>
        <p:spPr>
          <a:xfrm>
            <a:off x="4754880" y="1234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Small Modular Reactors (SMRs): The Right-Size Solution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4754880" y="19202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E8E4"/>
                </a:solidFill>
              </a:rPr>
              <a:t>Zambia doesn't need a 1,000 MW Chernobyl-era reactor. Modern SMRs are purpose-built for developing nations: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754880" y="2606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→  50–300 MW output — scalable to Zambia's grid</a:t>
            </a:r>
            <a:endParaRPr lang="en-US" sz="1050" dirty="0"/>
          </a:p>
        </p:txBody>
      </p:sp>
      <p:sp>
        <p:nvSpPr>
          <p:cNvPr id="23" name="Text 15"/>
          <p:cNvSpPr/>
          <p:nvPr/>
        </p:nvSpPr>
        <p:spPr>
          <a:xfrm>
            <a:off x="4754880" y="30083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→  Factory-built, modular — lower build risk</a:t>
            </a:r>
            <a:endParaRPr lang="en-US" sz="1050" dirty="0"/>
          </a:p>
        </p:txBody>
      </p:sp>
      <p:sp>
        <p:nvSpPr>
          <p:cNvPr id="24" name="Text 16"/>
          <p:cNvSpPr/>
          <p:nvPr/>
        </p:nvSpPr>
        <p:spPr>
          <a:xfrm>
            <a:off x="4754880" y="341071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→  Passive safety systems — no meltdown without power</a:t>
            </a:r>
            <a:endParaRPr lang="en-US" sz="1050" dirty="0"/>
          </a:p>
        </p:txBody>
      </p:sp>
      <p:sp>
        <p:nvSpPr>
          <p:cNvPr id="25" name="Text 17"/>
          <p:cNvSpPr/>
          <p:nvPr/>
        </p:nvSpPr>
        <p:spPr>
          <a:xfrm>
            <a:off x="4754880" y="38130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→  Generation IV designs produce 80% less waste</a:t>
            </a:r>
            <a:endParaRPr lang="en-US" sz="1050" dirty="0"/>
          </a:p>
        </p:txBody>
      </p:sp>
      <p:sp>
        <p:nvSpPr>
          <p:cNvPr id="26" name="Text 18"/>
          <p:cNvSpPr/>
          <p:nvPr/>
        </p:nvSpPr>
        <p:spPr>
          <a:xfrm>
            <a:off x="4754880" y="42153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→  Countries like Jordan, Ghana, and Kenya are already in advanced planning stages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FFFFFF"/>
                </a:solidFill>
              </a:rPr>
              <a:t>HONEST CHALLENGES — AND SOLUTIONS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Risks Are Real — and Manageable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1143000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143000"/>
            <a:ext cx="91440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1216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High Capital Cost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152704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A 300 MW SMR costs $1–2B upfront — significant for Zambia's budget.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18928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Phased financing via World Bank, AIIB, AfDB, and bilateral loans (Russia, China, UAE). Public-private partnerships spread the risk.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28600" y="2441448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28600" y="2441448"/>
            <a:ext cx="91440" cy="1188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9864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2514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Skills Shortage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822960" y="28254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Nuclear engineering requires specialist expertise Zambia currently lacks at scale.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22960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Begin NOW: scholarship programs, partner with IAEA's nuclear training centres, UNZA nuclear curriculum. Build the pipeline over 10 years.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228600" y="3739896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228600" y="3739896"/>
            <a:ext cx="91440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97096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2960" y="3813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Waste Management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296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Radioactive waste must be stored safely for centuries.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822960" y="44897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SMRs produce far less waste. Dry cask storage is proven. IAEA provides full technical guidance. Zambia has suitable geological sites.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663440" y="1143000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63440" y="1143000"/>
            <a:ext cx="91440" cy="11887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0020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57800" y="1216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Safety &amp; Public Perception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257800" y="152704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Public fear (Chernobyl, Fukushima) and political opposition are real barriers.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257800" y="18928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Independent regulator (like SA's NNR), full transparency, and data: nuclear is statistically safer per kWh than coal, gas, or even rooftop solar.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663440" y="2441448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663440" y="2441448"/>
            <a:ext cx="91440" cy="1188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898648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57800" y="2514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Long Build Timeline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5257800" y="28254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10–15 years from decision to first power — a long time to wait.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5257800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Start today. The grid won't fix itself. Every year of delay is another decade of load-shedding. Parallel solar/wind investments fill the gap.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663440" y="3739896"/>
            <a:ext cx="420624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4663440" y="3739896"/>
            <a:ext cx="91440" cy="118872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197096"/>
            <a:ext cx="320040" cy="32004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257800" y="3813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</a:rPr>
              <a:t>Regulatory Gaps</a:t>
            </a:r>
            <a:endParaRPr lang="en-US" sz="1250" dirty="0"/>
          </a:p>
        </p:txBody>
      </p:sp>
      <p:sp>
        <p:nvSpPr>
          <p:cNvPr id="39" name="Text 31"/>
          <p:cNvSpPr/>
          <p:nvPr/>
        </p:nvSpPr>
        <p:spPr>
          <a:xfrm>
            <a:off x="525780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392B"/>
                </a:solidFill>
              </a:rPr>
              <a:t>⚠  Zambia lacks a standalone nuclear regulatory authority.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5257800" y="44897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7377"/>
                </a:solidFill>
              </a:rPr>
              <a:t>✓  Establish the Zambia Nuclear Regulatory Authority (ZaNRA) now. Model on Kenya's KNEB or SA's NNR. IAEA will assist.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FFFFFF"/>
                </a:solidFill>
              </a:rPr>
              <a:t>ACT II — NATIONAL DEVELOPMENT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Nuclear Powers More Than the Grid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4160520" cy="1600200"/>
          </a:xfrm>
          <a:prstGeom prst="rect">
            <a:avLst/>
          </a:prstGeom>
          <a:solidFill>
            <a:srgbClr val="142C45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188720"/>
            <a:ext cx="4160520" cy="9144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13533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A085"/>
                </a:solidFill>
              </a:rPr>
              <a:t>Vision 2030 &amp; 8NDP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05840" y="175564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B8"/>
                </a:solidFill>
              </a:rPr>
              <a:t>The 8th National Development Plan calls for industrialisation and economic transformation. This is impossible without reliable, affordable power at scale.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188720"/>
            <a:ext cx="4160520" cy="1600200"/>
          </a:xfrm>
          <a:prstGeom prst="rect">
            <a:avLst/>
          </a:prstGeom>
          <a:solidFill>
            <a:srgbClr val="142C45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188720"/>
            <a:ext cx="4160520" cy="914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3533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</a:rPr>
              <a:t>Climate Commitments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0" y="175564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B8"/>
                </a:solidFill>
              </a:rPr>
              <a:t>Zambia's NDC pledges low-carbon growth. Nuclear = 12g CO₂/kWh vs coal at 820g. Meeting climate goals AND economic growth requires nuclear.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228600" y="3063240"/>
            <a:ext cx="4160520" cy="1600200"/>
          </a:xfrm>
          <a:prstGeom prst="rect">
            <a:avLst/>
          </a:prstGeom>
          <a:solidFill>
            <a:srgbClr val="142C45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28600" y="3063240"/>
            <a:ext cx="416052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3375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05840" y="32278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7377"/>
                </a:solidFill>
              </a:rPr>
              <a:t>Mining &amp; Industrialisation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005840" y="36301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B8"/>
                </a:solidFill>
              </a:rPr>
              <a:t>Copper mining, fertiliser production, and manufacturing all need 24/7 baseload power. Nuclear anchors Zambia's industrial future.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142C45"/>
          </a:solidFill>
          <a:ln w="12700">
            <a:solidFill>
              <a:srgbClr val="1E3A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09160" y="3063240"/>
            <a:ext cx="4160520" cy="91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3375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86400" y="32278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</a:rPr>
              <a:t>STEM &amp; Human Capital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0" y="36301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B8"/>
                </a:solidFill>
              </a:rPr>
              <a:t>A nuclear programme creates 10,000+ skilled jobs, elevates Zambia's universities, and builds a generation of scientists and engineers.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0" kern="0" dirty="0">
                <a:solidFill>
                  <a:srgbClr val="D4A017"/>
                </a:solidFill>
              </a:rPr>
              <a:t>ACT III — THE SOLUTION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3-Phase Roadmap to Nuclear Power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188720"/>
            <a:ext cx="2834640" cy="7772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8F5"/>
                </a:solidFill>
              </a:rPr>
              <a:t>2025–2030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4505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37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Establish ZaNRA (Regulatory Authority)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895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37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Join IAEA milestone process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3284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37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Launch nuclear engineering scholarships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376732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37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Conduct site surveys &amp; feasibility studies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20624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737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Build public awareness campaign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18872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188720"/>
            <a:ext cx="283464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</a:rPr>
              <a:t>PHASE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8F5"/>
                </a:solidFill>
              </a:rPr>
              <a:t>2030–2038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75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37560" y="24505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Select SMR technology &amp; partner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28895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Secure financing package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37560" y="33284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Begin construction of first 300 MW SMR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376732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Build local supply chain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420624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017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Train 500+ nuclear technicians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72200" y="118872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1188720"/>
            <a:ext cx="2834640" cy="77724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</a:rPr>
              <a:t>PHASE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8F5"/>
                </a:solidFill>
              </a:rPr>
              <a:t>2038–2050+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93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A0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 &amp; Expansion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09360" y="24505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A085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First power to the grid (~2038)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895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A085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Expand to 1,000+ MW by 2045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09360" y="33284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A085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Export surplus power regionally via SAPP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76732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A085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Fund second plant from revenues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0" y="420624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A085"/>
                </a:solidFill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0B1D2E"/>
                </a:solidFill>
              </a:rPr>
              <a:t>Become a regional nuclear hub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63240" y="3017520"/>
            <a:ext cx="502920" cy="0"/>
          </a:xfrm>
          <a:prstGeom prst="line">
            <a:avLst/>
          </a:prstGeom>
          <a:noFill/>
          <a:ln w="25400">
            <a:solidFill>
              <a:srgbClr val="8BA3B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35040" y="3017520"/>
            <a:ext cx="502920" cy="0"/>
          </a:xfrm>
          <a:prstGeom prst="line">
            <a:avLst/>
          </a:prstGeom>
          <a:noFill/>
          <a:ln w="25400">
            <a:solidFill>
              <a:srgbClr val="8BA3B8"/>
            </a:solidFill>
            <a:prstDash val="dash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5029200" y="182880"/>
            <a:ext cx="4114800" cy="4114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00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4A017"/>
                </a:solidFill>
              </a:rPr>
              <a:t>THE BIG IDEA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20040" y="91440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"Zambia cannot achieve its Vision 2030 development goals on a grid powered by rain alone — nuclear power is the decisive investment that ends load-shedding, anchors industrialisation, and positions Zambia as Africa's next energy leader."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320040" y="3246120"/>
            <a:ext cx="457200" cy="4114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0040" y="3291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2E"/>
                </a:solidFill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330098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Commission a national nuclear feasibility study NOW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" y="3776472"/>
            <a:ext cx="457200" cy="411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38221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2E"/>
                </a:solidFill>
              </a:rPr>
              <a:t>02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383133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Establish the Zambia Nuclear Regulatory Authority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0040" y="4306824"/>
            <a:ext cx="457200" cy="41148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43525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2E"/>
                </a:solidFill>
              </a:rPr>
              <a:t>03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6968" y="436168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Begin IAEA milestone consultations within 12 months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004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A3B8"/>
                </a:solidFill>
              </a:rPr>
              <a:t>The lights don't have to keep going off.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468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KEY EVIDENCE SOURCES &amp; DATA NOTES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B1D2E"/>
                </a:solidFill>
              </a:rPr>
              <a:t>1.  International Atomic Energy Agency (IAEA) — Nuclear Energy Basic Principles &amp; SMR Technology Catalogue 2023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5"/>
                </a:solidFill>
              </a:rPr>
              <a:t>2.  World Nuclear Association — Nuclear Power Economics 2024; LCOE comparisons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B1D2E"/>
                </a:solidFill>
              </a:rPr>
              <a:t>3.  Zambia Electricity Supply Corporation (ZESCO) — Annual Reports 2022–2024; Generation capacity statistics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5"/>
                </a:solidFill>
              </a:rPr>
              <a:t>4.  International Energy Agency (IEA) — Africa Energy Outlook 2023; Zambia grid access data (43%)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B1D2E"/>
                </a:solidFill>
              </a:rPr>
              <a:t>5.  World Bank — Zambia Energy Sector Assessment 2023; Load-shedding economic impact ($2B+ GDP)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5"/>
                </a:solidFill>
              </a:rPr>
              <a:t>6.  IPCC AR6 — Life-cycle GHG emissions by technology: Nuclear 12 gCO₂eq/kWh vs. Coal 820g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B1D2E"/>
                </a:solidFill>
              </a:rPr>
              <a:t>7.  Zambia Ministry of Energy — 8th National Development Plan (8NDP) energy targets; Vision 2030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5"/>
                </a:solidFill>
              </a:rPr>
              <a:t>8.  IAEA — Country Nuclear Power Profiles: Ghana, Kenya, Egypt — SMR development timelines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B1D2E"/>
                </a:solidFill>
              </a:rPr>
              <a:t>9.  Rosatom International — Small Modular Reactor technical specifications &amp; cost estimates
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55555"/>
                </a:solidFill>
              </a:rPr>
              <a:t>10.  African Development Bank — Renewable energy financing and NDC green bond frameworks, 2024
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A3B8"/>
                </a:solidFill>
              </a:rPr>
              <a:t>Data points where noted are approximations based on published ranges. Specific Zambia statistics sourced from ZESCO and Ministry of Energy publications.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for Nuclear Power in Zambia</dc:title>
  <dc:subject>PptxGenJS Presentation</dc:subject>
  <dc:creator>PptxGenJS</dc:creator>
  <cp:lastModifiedBy>PptxGenJS</cp:lastModifiedBy>
  <cp:revision>1</cp:revision>
  <dcterms:created xsi:type="dcterms:W3CDTF">2026-05-29T06:15:47Z</dcterms:created>
  <dcterms:modified xsi:type="dcterms:W3CDTF">2026-05-29T06:15:47Z</dcterms:modified>
</cp:coreProperties>
</file>