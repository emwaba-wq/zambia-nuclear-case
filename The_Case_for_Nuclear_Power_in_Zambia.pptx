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2019 Mix</c:v>
                </c:pt>
              </c:strCache>
            </c:strRef>
          </c:tx>
          <c:dPt>
            <c:idx val="0"/>
            <c:spPr>
              <a:solidFill>
                <a:srgbClr val="B32B2B"/>
              </a:solidFill>
              <a:ln>
                <a:noFill/>
              </a:ln>
            </c:spPr>
          </c:dPt>
          <c:dPt>
            <c:idx val="1"/>
            <c:spPr>
              <a:solidFill>
                <a:srgbClr val="555B66"/>
              </a:solidFill>
              <a:ln>
                <a:noFill/>
              </a:ln>
            </c:spPr>
          </c:dPt>
          <c:dPt>
            <c:idx val="2"/>
            <c:spPr>
              <a:solidFill>
                <a:srgbClr val="E8A860"/>
              </a:solidFill>
              <a:ln>
                <a:noFill/>
              </a:ln>
            </c:spPr>
          </c:dPt>
          <c:dPt>
            <c:idx val="3"/>
            <c:spPr>
              <a:solidFill>
                <a:srgbClr val="996B3A"/>
              </a:solidFill>
              <a:ln>
                <a:noFill/>
              </a:ln>
            </c:spPr>
          </c:dPt>
          <c:cat>
            <c:strRef>
              <c:f>Sheet1!$A$2:$A$5</c:f>
              <c:strCache>
                <c:ptCount val="4"/>
                <c:pt idx="0">
                  <c:v>Hydro</c:v>
                </c:pt>
                <c:pt idx="1">
                  <c:v>Coal</c:v>
                </c:pt>
                <c:pt idx="2">
                  <c:v>Solar</c:v>
                </c:pt>
                <c:pt idx="3">
                  <c:v>HFO</c:v>
                </c:pt>
              </c:strCache>
            </c:strRef>
          </c:cat>
          <c:val>
            <c:numRef>
              <c:f>Sheet1!$B$2:$B$5</c:f>
              <c:numCache>
                <c:formatCode>General</c:formatCode>
                <c:ptCount val="4"/>
                <c:pt idx="0">
                  <c:v>84</c:v>
                </c:pt>
                <c:pt idx="1">
                  <c:v>10</c:v>
                </c:pt>
                <c:pt idx="2">
                  <c:v>3</c:v>
                </c:pt>
                <c:pt idx="3">
                  <c:v>3</c:v>
                </c:pt>
              </c:numCache>
            </c:numRef>
          </c:val>
        </c:ser>
        <c:dLbls>
          <c:txPr>
            <a:bodyPr/>
            <a:lstStyle/>
            <a:p>
              <a:pPr>
                <a:defRPr sz="1100" b="1">
                  <a:solidFill>
                    <a:srgbClr val="FFFFFF"/>
                  </a:solidFill>
                </a:defRPr>
              </a:pPr>
            </a:p>
          </c:txPr>
          <c:showLegendKey val="0"/>
          <c:showVal val="1"/>
          <c:showCatName val="0"/>
          <c:showSerName val="0"/>
          <c:showPercent val="0"/>
          <c:showBubbleSize val="0"/>
          <c:showLeaderLines val="1"/>
        </c:dLbls>
        <c:firstSliceAng val="0"/>
        <c:holeSize val="50"/>
      </c:doughnutChart>
    </c:plotArea>
    <c:legend>
      <c:legendPos val="b"/>
      <c:layout/>
      <c:overlay val="0"/>
      <c:txPr>
        <a:bodyPr/>
        <a:lstStyle/>
        <a:p>
          <a:pPr>
            <a:defRPr sz="1000">
              <a:solidFill>
                <a:srgbClr val="121824"/>
              </a:solidFill>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mrem / year</c:v>
                </c:pt>
              </c:strCache>
            </c:strRef>
          </c:tx>
          <c:dPt>
            <c:idx val="0"/>
            <c:spPr>
              <a:solidFill>
                <a:srgbClr val="1B5E3A"/>
              </a:solidFill>
              <a:ln>
                <a:noFill/>
              </a:ln>
            </c:spPr>
          </c:dPt>
          <c:dPt>
            <c:idx val="1"/>
            <c:spPr>
              <a:solidFill>
                <a:srgbClr val="CC7A2E"/>
              </a:solidFill>
              <a:ln>
                <a:noFill/>
              </a:ln>
            </c:spPr>
          </c:dPt>
          <c:dPt>
            <c:idx val="2"/>
            <c:spPr>
              <a:solidFill>
                <a:srgbClr val="B32B2B"/>
              </a:solidFill>
              <a:ln>
                <a:noFill/>
              </a:ln>
            </c:spPr>
          </c:dPt>
          <c:cat>
            <c:strRef>
              <c:f>Sheet1!$A$2:$A$4</c:f>
              <c:strCache>
                <c:ptCount val="3"/>
                <c:pt idx="0">
                  <c:v>Avg. Technician (DOE 2024)</c:v>
                </c:pt>
                <c:pt idx="1">
                  <c:v>Natural Background</c:v>
                </c:pt>
                <c:pt idx="2">
                  <c:v>Federal Occupational Limit</c:v>
                </c:pt>
              </c:strCache>
            </c:strRef>
          </c:cat>
          <c:val>
            <c:numRef>
              <c:f>Sheet1!$B$2:$B$4</c:f>
              <c:numCache>
                <c:formatCode>General</c:formatCode>
                <c:ptCount val="3"/>
                <c:pt idx="0">
                  <c:v>59.12</c:v>
                </c:pt>
                <c:pt idx="1">
                  <c:v>300</c:v>
                </c:pt>
                <c:pt idx="2">
                  <c:v>5000</c:v>
                </c:pt>
              </c:numCache>
            </c:numRef>
          </c:val>
        </c:ser>
        <c:dLbls>
          <c:txPr>
            <a:bodyPr/>
            <a:lstStyle/>
            <a:p>
              <a:pPr>
                <a:defRPr sz="1000" b="1">
                  <a:solidFill>
                    <a:srgbClr val="121824"/>
                  </a:solidFill>
                  <a:latin typeface="Calibri"/>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solidFill>
                  <a:srgbClr val="121824"/>
                </a:solidFill>
                <a:latin typeface="Calibri"/>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solidFill>
                  <a:srgbClr val="121824"/>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MW continuous (mining only)</c:v>
                </c:pt>
              </c:strCache>
            </c:strRef>
          </c:tx>
          <c:dPt>
            <c:idx val="0"/>
            <c:spPr>
              <a:solidFill>
                <a:srgbClr val="CC7A2E"/>
              </a:solidFill>
              <a:ln>
                <a:noFill/>
              </a:ln>
            </c:spPr>
          </c:dPt>
          <c:dPt>
            <c:idx val="1"/>
            <c:spPr>
              <a:solidFill>
                <a:srgbClr val="CC7A2E"/>
              </a:solidFill>
              <a:ln>
                <a:noFill/>
              </a:ln>
            </c:spPr>
          </c:dPt>
          <c:dPt>
            <c:idx val="2"/>
            <c:spPr>
              <a:solidFill>
                <a:srgbClr val="B32B2B"/>
              </a:solidFill>
              <a:ln>
                <a:noFill/>
              </a:ln>
            </c:spPr>
          </c:dPt>
          <c:cat>
            <c:strRef>
              <c:f>Sheet1!$A$2:$A$4</c:f>
              <c:strCache>
                <c:ptCount val="3"/>
                <c:pt idx="0">
                  <c:v>Current (~0.8 Mt)</c:v>
                </c:pt>
                <c:pt idx="1">
                  <c:v>Mid-Path (~1.5 Mt)</c:v>
                </c:pt>
                <c:pt idx="2">
                  <c:v>Target (3.0 Mt)</c:v>
                </c:pt>
              </c:strCache>
            </c:strRef>
          </c:cat>
          <c:val>
            <c:numRef>
              <c:f>Sheet1!$B$2:$B$4</c:f>
              <c:numCache>
                <c:formatCode>General</c:formatCode>
                <c:ptCount val="3"/>
                <c:pt idx="0">
                  <c:v>320</c:v>
                </c:pt>
                <c:pt idx="1">
                  <c:v>600</c:v>
                </c:pt>
                <c:pt idx="2">
                  <c:v>1200</c:v>
                </c:pt>
              </c:numCache>
            </c:numRef>
          </c:val>
        </c:ser>
        <c:dLbls>
          <c:txPr>
            <a:bodyPr/>
            <a:lstStyle/>
            <a:p>
              <a:pPr>
                <a:defRPr sz="1000" b="1">
                  <a:solidFill>
                    <a:srgbClr val="121824"/>
                  </a:solidFill>
                  <a:latin typeface="Calibri"/>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121824"/>
                </a:solidFill>
                <a:latin typeface="Calibr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121824"/>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Three minutes. One argument. The case I'm making is captured in one sentence — Zambia must convert its domestic uranium and its existing radiological safety expertise into nuclear baseload power, because hydropower alone has stopped being a strategy and become a climate gamble we cannot keep paying for.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asked 'give me the pitch in one breath.' Read or paraphrase the paragraph as drafted; it lands on the final imperative: Sign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Hook] Picture two scenes. Siavonga: uranium in water, uranium in dust, no instruments — radiological fear. The U.S. nuclear enterprise: twenty-two thousand workers, 59.12 mrem average, every dose tracked for a decade — industrial mastery. Same element, two different outcomes. The variable is the system, not the uranium. Zambia must close that gap, and the expertise to do it already lives inside our Radiation Protection Authority.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Eighty-four percent of Zambia's electricity comes from hydropower. That is not diversification — that is a single point of failure with a weather dependency. Nuclear, by contrast, runs at roughly ninety percent capacity factor regardless of rainfall. And Zambia is not starting cold: we are an IAEA Member State, and our Radiation Protection Authority has been managing radiological risk for decades. We cannot industrialise a country on intermittent power. Nuclear isn't just an option; it is a necessity for a drought-resilient Zambia.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Mastery] My analysis of the U.S. DOE Radiation Exposure Monitoring System shows the average nuclear technician absorbs 59.12 mrem per year — that is one point two percent of the five thousand mrem federal limit. Less than the dose from routine medical imaging. The biggest fear in Zambia about nuclear is safety; this data says modern monitoring keeps workers safer than most office radiation environments. And between 2021 and 2024 the workforce grew while individual dose stayed flat. Safety scales. We have the analytical tools — this dashboard — to oversee a national programme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[Strategic Resource] Zambia has known uranium-bearing zones across the North-Western and Southern provinces — Lumwana, Gwembe Valley, Mutanga. We currently export uranium as a raw mineral. Why? By developing nuclear power we move from raw-material exporter to high-tech energy producer. We capture the value-chain, we anchor high-skill jobs, and we stop paying to import fuel that we are already sending abroad. Why should we export our uranium as a raw mineral when we could be using it to power our own mines and factories?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[Economic Impact] Zambia has set a public target of three million tonnes of copper annually. At industry-standard energy intensity that requires roughly twelve hundred megawatts of continuous power — for mining alone, before smelting, before households, before industrial diversification. Hydropower cannot deliver that reliably and drought after drought has proved it. Nuclear can. The 2,000 MW nuclear target maps almost exactly onto the copper-driven power gap. This is not ideology — it is arithmetic.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Three workstreams run in parallel. Policy and regulation lands first: pass the Nuclear Bill in 2026, formalise NSPA, begin site licensing. Human capital builds alongside: Medical Physics and Nuclear Engineering cohorts leveraging local universities, plus data-analytics talent — the same skill set that built this dashboard. SMR implementation begins around 2028 with partner selection drawing on the ROSATOM, IP3 / NuScale, and Westinghouse relationships already in motion, targeting first criticality before 2036. We have the minerals, we have the regulatory framework, and as I've shown today, we have the data capacity. Zambia is ready to start the nuclear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42A"/>
        </a:solidFill>
        <a:effectLst/>
      </p:bgPr>
    </p:bg>
    <p:spTree>
      <p:nvGrpSpPr>
        <p:cNvPr id="1" name=""/>
        <p:cNvGrpSpPr/>
        <p:nvPr/>
      </p:nvGrpSpPr>
      <p:grpSpPr/>
      <p:sp>
        <p:nvSpPr>
          <p:cNvPr id="2" name="Rectangle 1"/>
          <p:cNvSpPr/>
          <p:nvPr/>
        </p:nvSpPr>
        <p:spPr>
          <a:xfrm>
            <a:off x="548640" y="548640"/>
            <a:ext cx="73152" cy="41148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9144000" cy="365760"/>
          </a:xfrm>
          <a:prstGeom prst="rect">
            <a:avLst/>
          </a:prstGeom>
          <a:noFill/>
        </p:spPr>
        <p:txBody>
          <a:bodyPr wrap="square" anchor="t" lIns="0" rIns="0" tIns="0" bIns="0">
            <a:spAutoFit/>
          </a:bodyPr>
          <a:lstStyle/>
          <a:p>
            <a:pPr algn="l">
              <a:lnSpc>
                <a:spcPct val="120000"/>
              </a:lnSpc>
            </a:pPr>
            <a:r>
              <a:rPr sz="1200" b="1" i="0">
                <a:solidFill>
                  <a:srgbClr val="E8A860"/>
                </a:solidFill>
                <a:latin typeface="Calibri"/>
              </a:rPr>
              <a:t>ENERGY SECURITY  ·  REPUBLIC OF ZAMBIA  ·  2026</a:t>
            </a:r>
          </a:p>
        </p:txBody>
      </p:sp>
      <p:sp>
        <p:nvSpPr>
          <p:cNvPr id="4" name="TextBox 3"/>
          <p:cNvSpPr txBox="1"/>
          <p:nvPr/>
        </p:nvSpPr>
        <p:spPr>
          <a:xfrm>
            <a:off x="548640" y="1417320"/>
            <a:ext cx="11064240" cy="2286000"/>
          </a:xfrm>
          <a:prstGeom prst="rect">
            <a:avLst/>
          </a:prstGeom>
          <a:noFill/>
        </p:spPr>
        <p:txBody>
          <a:bodyPr wrap="square" anchor="t" lIns="0" rIns="0" tIns="0" bIns="0">
            <a:spAutoFit/>
          </a:bodyPr>
          <a:lstStyle/>
          <a:p>
            <a:pPr algn="l">
              <a:lnSpc>
                <a:spcPct val="100000"/>
              </a:lnSpc>
            </a:pPr>
            <a:r>
              <a:rPr sz="6000" b="1" i="0">
                <a:solidFill>
                  <a:srgbClr val="FFFFFF"/>
                </a:solidFill>
                <a:latin typeface="Calibri"/>
              </a:rPr>
              <a:t>We already own</a:t>
            </a:r>
          </a:p>
          <a:p>
            <a:pPr algn="l">
              <a:lnSpc>
                <a:spcPct val="100000"/>
              </a:lnSpc>
              <a:spcAft>
                <a:spcPts val="0"/>
              </a:spcAft>
            </a:pPr>
            <a:r>
              <a:rPr sz="6000" b="1" i="0">
                <a:solidFill>
                  <a:srgbClr val="E8A860"/>
                </a:solidFill>
                <a:latin typeface="Calibri"/>
              </a:rPr>
              <a:t>the solution.</a:t>
            </a:r>
          </a:p>
        </p:txBody>
      </p:sp>
      <p:cxnSp>
        <p:nvCxnSpPr>
          <p:cNvPr id="5" name="Connector 4"/>
          <p:cNvCxnSpPr/>
          <p:nvPr/>
        </p:nvCxnSpPr>
        <p:spPr>
          <a:xfrm>
            <a:off x="548640" y="3794760"/>
            <a:ext cx="2286000" cy="0"/>
          </a:xfrm>
          <a:prstGeom prst="line">
            <a:avLst/>
          </a:prstGeom>
          <a:ln w="19050">
            <a:solidFill>
              <a:srgbClr val="CC7A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3931920"/>
            <a:ext cx="11064240" cy="457200"/>
          </a:xfrm>
          <a:prstGeom prst="rect">
            <a:avLst/>
          </a:prstGeom>
          <a:noFill/>
        </p:spPr>
        <p:txBody>
          <a:bodyPr wrap="square" anchor="t" lIns="0" rIns="0" tIns="0" bIns="0">
            <a:spAutoFit/>
          </a:bodyPr>
          <a:lstStyle/>
          <a:p>
            <a:pPr algn="l">
              <a:lnSpc>
                <a:spcPct val="120000"/>
              </a:lnSpc>
            </a:pPr>
            <a:r>
              <a:rPr sz="2400" b="0" i="0">
                <a:solidFill>
                  <a:srgbClr val="FFFFFF"/>
                </a:solidFill>
                <a:latin typeface="Calibri"/>
              </a:rPr>
              <a:t>The Case for Nuclear Power in Zambia</a:t>
            </a:r>
          </a:p>
        </p:txBody>
      </p:sp>
      <p:sp>
        <p:nvSpPr>
          <p:cNvPr id="7" name="Rectangle 6"/>
          <p:cNvSpPr/>
          <p:nvPr/>
        </p:nvSpPr>
        <p:spPr>
          <a:xfrm>
            <a:off x="548640" y="4663440"/>
            <a:ext cx="11064240" cy="1371600"/>
          </a:xfrm>
          <a:prstGeom prst="rect">
            <a:avLst/>
          </a:prstGeom>
          <a:solidFill>
            <a:srgbClr val="122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4663440"/>
            <a:ext cx="91440" cy="137160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754880"/>
            <a:ext cx="10698480" cy="274320"/>
          </a:xfrm>
          <a:prstGeom prst="rect">
            <a:avLst/>
          </a:prstGeom>
          <a:noFill/>
        </p:spPr>
        <p:txBody>
          <a:bodyPr wrap="square" anchor="t" lIns="0" rIns="0" tIns="0" bIns="0">
            <a:spAutoFit/>
          </a:bodyPr>
          <a:lstStyle/>
          <a:p>
            <a:pPr algn="l">
              <a:lnSpc>
                <a:spcPct val="120000"/>
              </a:lnSpc>
            </a:pPr>
            <a:r>
              <a:rPr sz="1100" b="1" i="0">
                <a:solidFill>
                  <a:srgbClr val="E8A860"/>
                </a:solidFill>
                <a:latin typeface="Calibri"/>
              </a:rPr>
              <a:t>THE  BIG  IDEA</a:t>
            </a:r>
          </a:p>
        </p:txBody>
      </p:sp>
      <p:sp>
        <p:nvSpPr>
          <p:cNvPr id="10" name="TextBox 9"/>
          <p:cNvSpPr txBox="1"/>
          <p:nvPr/>
        </p:nvSpPr>
        <p:spPr>
          <a:xfrm>
            <a:off x="777240" y="5029200"/>
            <a:ext cx="10698480" cy="960120"/>
          </a:xfrm>
          <a:prstGeom prst="rect">
            <a:avLst/>
          </a:prstGeom>
          <a:noFill/>
        </p:spPr>
        <p:txBody>
          <a:bodyPr wrap="square" anchor="t" lIns="0" rIns="0" tIns="0" bIns="0">
            <a:spAutoFit/>
          </a:bodyPr>
          <a:lstStyle/>
          <a:p>
            <a:pPr algn="l">
              <a:lnSpc>
                <a:spcPct val="130000"/>
              </a:lnSpc>
            </a:pPr>
            <a:r>
              <a:rPr sz="1400" b="0" i="1">
                <a:solidFill>
                  <a:srgbClr val="FFFFFF"/>
                </a:solidFill>
                <a:latin typeface="Calibri"/>
              </a:rPr>
              <a:t>Zambia must convert its domestic uranium reserves and existing radiological safety expertise into nuclear baseload power — because every drought year proves that hydropower alone is no longer an energy strategy, it is a gamble against a climate we can no longer afford to lose.</a:t>
            </a:r>
          </a:p>
        </p:txBody>
      </p:sp>
      <p:sp>
        <p:nvSpPr>
          <p:cNvPr id="11" name="TextBox 10"/>
          <p:cNvSpPr txBox="1"/>
          <p:nvPr/>
        </p:nvSpPr>
        <p:spPr>
          <a:xfrm>
            <a:off x="548640" y="6263640"/>
            <a:ext cx="7315200" cy="228600"/>
          </a:xfrm>
          <a:prstGeom prst="rect">
            <a:avLst/>
          </a:prstGeom>
          <a:noFill/>
        </p:spPr>
        <p:txBody>
          <a:bodyPr wrap="square" anchor="t" lIns="0" rIns="0" tIns="0" bIns="0">
            <a:spAutoFit/>
          </a:bodyPr>
          <a:lstStyle/>
          <a:p>
            <a:pPr algn="l">
              <a:lnSpc>
                <a:spcPct val="120000"/>
              </a:lnSpc>
            </a:pPr>
            <a:r>
              <a:rPr sz="1000" b="1" i="0">
                <a:solidFill>
                  <a:srgbClr val="FFFFFF"/>
                </a:solidFill>
                <a:latin typeface="Calibri"/>
              </a:rPr>
              <a:t>Prepared by  ELIZABETH MWABA</a:t>
            </a:r>
          </a:p>
        </p:txBody>
      </p:sp>
      <p:sp>
        <p:nvSpPr>
          <p:cNvPr id="12" name="TextBox 11"/>
          <p:cNvSpPr txBox="1"/>
          <p:nvPr/>
        </p:nvSpPr>
        <p:spPr>
          <a:xfrm>
            <a:off x="548640" y="6492240"/>
            <a:ext cx="7315200" cy="182880"/>
          </a:xfrm>
          <a:prstGeom prst="rect">
            <a:avLst/>
          </a:prstGeom>
          <a:noFill/>
        </p:spPr>
        <p:txBody>
          <a:bodyPr wrap="square" anchor="t" lIns="0" rIns="0" tIns="0" bIns="0">
            <a:spAutoFit/>
          </a:bodyPr>
          <a:lstStyle/>
          <a:p>
            <a:pPr algn="l">
              <a:lnSpc>
                <a:spcPct val="120000"/>
              </a:lnSpc>
            </a:pPr>
            <a:r>
              <a:rPr sz="800" b="0" i="0">
                <a:solidFill>
                  <a:srgbClr val="99A3B3"/>
                </a:solidFill>
                <a:latin typeface="Calibri"/>
              </a:rPr>
              <a:t>Radiological Analyst  ·  Supervisor Review Brief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anchor="t" lIns="0" rIns="0" tIns="0" bIns="0">
            <a:spAutoFit/>
          </a:bodyPr>
          <a:lstStyle/>
          <a:p>
            <a:pPr algn="l">
              <a:lnSpc>
                <a:spcPct val="120000"/>
              </a:lnSpc>
            </a:pPr>
            <a:r>
              <a:rPr sz="1100" b="1" i="0">
                <a:solidFill>
                  <a:srgbClr val="CC7A2E"/>
                </a:solidFill>
                <a:latin typeface="Calibri"/>
              </a:rPr>
              <a:t>PROLOGUE  ·  THE 3-MINUTE STORY</a:t>
            </a:r>
          </a:p>
        </p:txBody>
      </p:sp>
      <p:sp>
        <p:nvSpPr>
          <p:cNvPr id="3" name="TextBox 2"/>
          <p:cNvSpPr txBox="1"/>
          <p:nvPr/>
        </p:nvSpPr>
        <p:spPr>
          <a:xfrm>
            <a:off x="548640" y="685800"/>
            <a:ext cx="11064240" cy="685800"/>
          </a:xfrm>
          <a:prstGeom prst="rect">
            <a:avLst/>
          </a:prstGeom>
          <a:noFill/>
        </p:spPr>
        <p:txBody>
          <a:bodyPr wrap="square" anchor="t" lIns="0" rIns="0" tIns="0" bIns="0">
            <a:spAutoFit/>
          </a:bodyPr>
          <a:lstStyle/>
          <a:p>
            <a:pPr algn="l">
              <a:lnSpc>
                <a:spcPct val="120000"/>
              </a:lnSpc>
            </a:pPr>
            <a:r>
              <a:rPr sz="3000" b="1" i="0">
                <a:solidFill>
                  <a:srgbClr val="0A1F3D"/>
                </a:solidFill>
                <a:latin typeface="Calibri"/>
              </a:rPr>
              <a:t>If I had no slides, this is what I would say.</a:t>
            </a:r>
          </a:p>
        </p:txBody>
      </p:sp>
      <p:cxnSp>
        <p:nvCxnSpPr>
          <p:cNvPr id="4" name="Connector 3"/>
          <p:cNvCxnSpPr/>
          <p:nvPr/>
        </p:nvCxnSpPr>
        <p:spPr>
          <a:xfrm>
            <a:off x="548640" y="1325880"/>
            <a:ext cx="1097280" cy="0"/>
          </a:xfrm>
          <a:prstGeom prst="line">
            <a:avLst/>
          </a:prstGeom>
          <a:ln w="19050">
            <a:solidFill>
              <a:srgbClr val="CC7A2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417320"/>
            <a:ext cx="11064240" cy="365760"/>
          </a:xfrm>
          <a:prstGeom prst="rect">
            <a:avLst/>
          </a:prstGeom>
          <a:noFill/>
        </p:spPr>
        <p:txBody>
          <a:bodyPr wrap="square" anchor="t" lIns="0" rIns="0" tIns="0" bIns="0">
            <a:spAutoFit/>
          </a:bodyPr>
          <a:lstStyle/>
          <a:p>
            <a:pPr algn="l">
              <a:lnSpc>
                <a:spcPct val="120000"/>
              </a:lnSpc>
            </a:pPr>
            <a:r>
              <a:rPr sz="1300" b="0" i="1">
                <a:solidFill>
                  <a:srgbClr val="6B7280"/>
                </a:solidFill>
                <a:latin typeface="Calibri"/>
              </a:rPr>
              <a:t>One paragraph. Three minutes. The full argument.</a:t>
            </a:r>
          </a:p>
        </p:txBody>
      </p:sp>
      <p:sp>
        <p:nvSpPr>
          <p:cNvPr id="6" name="Rectangle 5"/>
          <p:cNvSpPr/>
          <p:nvPr/>
        </p:nvSpPr>
        <p:spPr>
          <a:xfrm>
            <a:off x="548640" y="1965960"/>
            <a:ext cx="11064240" cy="4434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65960"/>
            <a:ext cx="109728" cy="443484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03120"/>
            <a:ext cx="10515600" cy="274320"/>
          </a:xfrm>
          <a:prstGeom prst="rect">
            <a:avLst/>
          </a:prstGeom>
          <a:noFill/>
        </p:spPr>
        <p:txBody>
          <a:bodyPr wrap="square" anchor="t" lIns="0" rIns="0" tIns="0" bIns="0">
            <a:spAutoFit/>
          </a:bodyPr>
          <a:lstStyle/>
          <a:p>
            <a:pPr algn="l">
              <a:lnSpc>
                <a:spcPct val="120000"/>
              </a:lnSpc>
            </a:pPr>
            <a:r>
              <a:rPr sz="1000" b="1" i="0">
                <a:solidFill>
                  <a:srgbClr val="CC7A2E"/>
                </a:solidFill>
                <a:latin typeface="Calibri"/>
              </a:rPr>
              <a:t>DELIVERED AT EXECUTIVE CADENCE  ·  ~360 WORDS</a:t>
            </a:r>
          </a:p>
        </p:txBody>
      </p:sp>
      <p:sp>
        <p:nvSpPr>
          <p:cNvPr id="9" name="TextBox 8"/>
          <p:cNvSpPr txBox="1"/>
          <p:nvPr/>
        </p:nvSpPr>
        <p:spPr>
          <a:xfrm>
            <a:off x="868680" y="2423160"/>
            <a:ext cx="10515600" cy="3931920"/>
          </a:xfrm>
          <a:prstGeom prst="rect">
            <a:avLst/>
          </a:prstGeom>
          <a:noFill/>
        </p:spPr>
        <p:txBody>
          <a:bodyPr wrap="square" anchor="t" lIns="0" rIns="0" tIns="0" bIns="0">
            <a:spAutoFit/>
          </a:bodyPr>
          <a:lstStyle/>
          <a:p>
            <a:pPr algn="l">
              <a:lnSpc>
                <a:spcPct val="132000"/>
              </a:lnSpc>
            </a:pPr>
            <a:r>
              <a:rPr sz="1100" b="0" i="0">
                <a:solidFill>
                  <a:srgbClr val="121824"/>
                </a:solidFill>
                <a:latin typeface="Calibri"/>
              </a:rPr>
              <a:t>Imagine a country that owns its uranium, runs a Radiation Protection Authority, has a Cabinet-approved Nuclear Policy, and has signed cooperation agreements with ROSATOM, the U.S. IP3 Allied Nuclear Partners, and South Korea's KAERI — and yet, in 2026, still depends on a single river system for eighty-four percent of its electricity. That country is Zambia. Every drought repeats the same story: the 2015/16 dry year cost us roughly one thousand megawatts of generation and four hundred and forty million U.S. dollars in unbudgeted imports; the 2023–2024 Kariba crisis triggered months of load-shedding that stalled the very copper mines that fund the national budget. Meanwhile, in Siavonga, the 2024 Uranium Baseline Survey detected unmonitored uranium in water and household dust — communities living beside the resource itself, without instruments, without a baseline, without accountability. That is radiological fear. Contrast that with the United States, where my analysis of the Department of Energy Radiation Exposure Monitoring System tracks twenty-two thousand workers and shows an average individual dose of just fifty-nine point one two millirem per year — about one point two percent of the federal occupational limit, with workforce growth producing zero increase in individual exposure. That is industrial mastery. Same element, two completely different outcomes; the variable is the system. Zambia already participates in that system through the IAEA Milestone Approach. We have the uranium. We have the safety institution. We have the policy. We have the partners. And we have a three-million-tonne copper ambition that no hydropower fleet on this continent can power reliably. The missing piece is legislative: pass the Nuclear Bill, fund radiological monitoring nationwide starting in Siavonga, and greenlight Small Modular Reactor pre-feasibility. The fuel is under our feet. The expertise is on our payroll. The bill is on the table. Sign it.</a:t>
            </a:r>
          </a:p>
        </p:txBody>
      </p:sp>
      <p:cxnSp>
        <p:nvCxnSpPr>
          <p:cNvPr id="10" name="Connector 9"/>
          <p:cNvCxnSpPr/>
          <p:nvPr/>
        </p:nvCxnSpPr>
        <p:spPr>
          <a:xfrm>
            <a:off x="0" y="6629400"/>
            <a:ext cx="12191695" cy="0"/>
          </a:xfrm>
          <a:prstGeom prst="line">
            <a:avLst/>
          </a:prstGeom>
          <a:ln w="6350">
            <a:solidFill>
              <a:srgbClr val="C8CED6"/>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0" y="6629400"/>
            <a:ext cx="640080" cy="4572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675120"/>
            <a:ext cx="9601200" cy="182880"/>
          </a:xfrm>
          <a:prstGeom prst="rect">
            <a:avLst/>
          </a:prstGeom>
          <a:noFill/>
        </p:spPr>
        <p:txBody>
          <a:bodyPr wrap="square" anchor="t" lIns="0" rIns="0" tIns="0" bIns="0">
            <a:spAutoFit/>
          </a:bodyPr>
          <a:lstStyle/>
          <a:p>
            <a:pPr algn="l">
              <a:lnSpc>
                <a:spcPct val="120000"/>
              </a:lnSpc>
            </a:pPr>
            <a:r>
              <a:rPr sz="800" b="0" i="1">
                <a:solidFill>
                  <a:srgbClr val="6B7280"/>
                </a:solidFill>
                <a:latin typeface="Calibri"/>
              </a:rPr>
              <a:t>Sources: U.S. DOE REMS 2024 Report · ZESCO Annual Reports 2023-2024 · Siavonga Uranium Baseline Survey (2024) · Zambia 7NDP &amp; Vision 2030</a:t>
            </a:r>
          </a:p>
        </p:txBody>
      </p:sp>
      <p:sp>
        <p:nvSpPr>
          <p:cNvPr id="13" name="TextBox 12"/>
          <p:cNvSpPr txBox="1"/>
          <p:nvPr/>
        </p:nvSpPr>
        <p:spPr>
          <a:xfrm>
            <a:off x="10424160" y="6675120"/>
            <a:ext cx="1554480" cy="182880"/>
          </a:xfrm>
          <a:prstGeom prst="rect">
            <a:avLst/>
          </a:prstGeom>
          <a:noFill/>
        </p:spPr>
        <p:txBody>
          <a:bodyPr wrap="square" anchor="t" lIns="0" rIns="0" tIns="0" bIns="0">
            <a:spAutoFit/>
          </a:bodyPr>
          <a:lstStyle/>
          <a:p>
            <a:pPr algn="r">
              <a:lnSpc>
                <a:spcPct val="120000"/>
              </a:lnSpc>
            </a:pPr>
            <a:r>
              <a:rPr sz="800" b="1" i="0">
                <a:solidFill>
                  <a:srgbClr val="2A3344"/>
                </a:solidFill>
                <a:latin typeface="Calibri"/>
              </a:rPr>
              <a:t>2 / 8  ·  E. Mwaba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anchor="t" lIns="0" rIns="0" tIns="0" bIns="0">
            <a:spAutoFit/>
          </a:bodyPr>
          <a:lstStyle/>
          <a:p>
            <a:pPr algn="l">
              <a:lnSpc>
                <a:spcPct val="120000"/>
              </a:lnSpc>
            </a:pPr>
            <a:r>
              <a:rPr sz="1100" b="1" i="0">
                <a:solidFill>
                  <a:srgbClr val="CC7A2E"/>
                </a:solidFill>
                <a:latin typeface="Calibri"/>
              </a:rPr>
              <a:t>01  ·  THE HOOK</a:t>
            </a:r>
          </a:p>
        </p:txBody>
      </p:sp>
      <p:sp>
        <p:nvSpPr>
          <p:cNvPr id="3" name="TextBox 2"/>
          <p:cNvSpPr txBox="1"/>
          <p:nvPr/>
        </p:nvSpPr>
        <p:spPr>
          <a:xfrm>
            <a:off x="548640" y="685800"/>
            <a:ext cx="11064240" cy="685800"/>
          </a:xfrm>
          <a:prstGeom prst="rect">
            <a:avLst/>
          </a:prstGeom>
          <a:noFill/>
        </p:spPr>
        <p:txBody>
          <a:bodyPr wrap="square" anchor="t" lIns="0" rIns="0" tIns="0" bIns="0">
            <a:spAutoFit/>
          </a:bodyPr>
          <a:lstStyle/>
          <a:p>
            <a:pPr algn="l">
              <a:lnSpc>
                <a:spcPct val="120000"/>
              </a:lnSpc>
            </a:pPr>
            <a:r>
              <a:rPr sz="3000" b="1" i="0">
                <a:solidFill>
                  <a:srgbClr val="0A1F3D"/>
                </a:solidFill>
                <a:latin typeface="Calibri"/>
              </a:rPr>
              <a:t>Same element. Two realities.</a:t>
            </a:r>
          </a:p>
        </p:txBody>
      </p:sp>
      <p:cxnSp>
        <p:nvCxnSpPr>
          <p:cNvPr id="4" name="Connector 3"/>
          <p:cNvCxnSpPr/>
          <p:nvPr/>
        </p:nvCxnSpPr>
        <p:spPr>
          <a:xfrm>
            <a:off x="548640" y="1325880"/>
            <a:ext cx="1097280" cy="0"/>
          </a:xfrm>
          <a:prstGeom prst="line">
            <a:avLst/>
          </a:prstGeom>
          <a:ln w="19050">
            <a:solidFill>
              <a:srgbClr val="CC7A2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417320"/>
            <a:ext cx="11064240" cy="365760"/>
          </a:xfrm>
          <a:prstGeom prst="rect">
            <a:avLst/>
          </a:prstGeom>
          <a:noFill/>
        </p:spPr>
        <p:txBody>
          <a:bodyPr wrap="square" anchor="t" lIns="0" rIns="0" tIns="0" bIns="0">
            <a:spAutoFit/>
          </a:bodyPr>
          <a:lstStyle/>
          <a:p>
            <a:pPr algn="l">
              <a:lnSpc>
                <a:spcPct val="120000"/>
              </a:lnSpc>
            </a:pPr>
            <a:r>
              <a:rPr sz="1300" b="0" i="1">
                <a:solidFill>
                  <a:srgbClr val="6B7280"/>
                </a:solidFill>
                <a:latin typeface="Calibri"/>
              </a:rPr>
              <a:t>Zambians and Americans both live with uranium. Only one nation measures it.</a:t>
            </a:r>
          </a:p>
        </p:txBody>
      </p:sp>
      <p:sp>
        <p:nvSpPr>
          <p:cNvPr id="6" name="Rectangle 5"/>
          <p:cNvSpPr/>
          <p:nvPr/>
        </p:nvSpPr>
        <p:spPr>
          <a:xfrm>
            <a:off x="548640" y="2103120"/>
            <a:ext cx="5532120" cy="3931920"/>
          </a:xfrm>
          <a:prstGeom prst="rect">
            <a:avLst/>
          </a:prstGeom>
          <a:solidFill>
            <a:srgbClr val="7C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109728" cy="3931920"/>
          </a:xfrm>
          <a:prstGeom prst="rect">
            <a:avLst/>
          </a:prstGeom>
          <a:solidFill>
            <a:srgbClr val="B3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40280"/>
            <a:ext cx="5120640" cy="274320"/>
          </a:xfrm>
          <a:prstGeom prst="rect">
            <a:avLst/>
          </a:prstGeom>
          <a:noFill/>
        </p:spPr>
        <p:txBody>
          <a:bodyPr wrap="square" anchor="t" lIns="0" rIns="0" tIns="0" bIns="0">
            <a:spAutoFit/>
          </a:bodyPr>
          <a:lstStyle/>
          <a:p>
            <a:pPr algn="l">
              <a:lnSpc>
                <a:spcPct val="120000"/>
              </a:lnSpc>
            </a:pPr>
            <a:r>
              <a:rPr sz="1000" b="1" i="0">
                <a:solidFill>
                  <a:srgbClr val="E8A860"/>
                </a:solidFill>
                <a:latin typeface="Calibri"/>
              </a:rPr>
              <a:t>ZAMBIA  ·  SIAVONGA  ·  2024</a:t>
            </a:r>
          </a:p>
        </p:txBody>
      </p:sp>
      <p:sp>
        <p:nvSpPr>
          <p:cNvPr id="9" name="TextBox 8"/>
          <p:cNvSpPr txBox="1"/>
          <p:nvPr/>
        </p:nvSpPr>
        <p:spPr>
          <a:xfrm>
            <a:off x="777240" y="2560320"/>
            <a:ext cx="5120640" cy="1463040"/>
          </a:xfrm>
          <a:prstGeom prst="rect">
            <a:avLst/>
          </a:prstGeom>
          <a:noFill/>
        </p:spPr>
        <p:txBody>
          <a:bodyPr wrap="square" anchor="t" lIns="0" rIns="0" tIns="0" bIns="0">
            <a:spAutoFit/>
          </a:bodyPr>
          <a:lstStyle/>
          <a:p>
            <a:pPr algn="l">
              <a:lnSpc>
                <a:spcPct val="105000"/>
              </a:lnSpc>
            </a:pPr>
            <a:r>
              <a:rPr sz="2800" b="1" i="0">
                <a:solidFill>
                  <a:srgbClr val="FFFFFF"/>
                </a:solidFill>
                <a:latin typeface="Calibri"/>
              </a:rPr>
              <a:t>Uranium in the water.
Uranium in the dust.</a:t>
            </a:r>
          </a:p>
        </p:txBody>
      </p:sp>
      <p:sp>
        <p:nvSpPr>
          <p:cNvPr id="10" name="TextBox 9"/>
          <p:cNvSpPr txBox="1"/>
          <p:nvPr/>
        </p:nvSpPr>
        <p:spPr>
          <a:xfrm>
            <a:off x="777240" y="4251960"/>
            <a:ext cx="5120640" cy="1005840"/>
          </a:xfrm>
          <a:prstGeom prst="rect">
            <a:avLst/>
          </a:prstGeom>
          <a:noFill/>
        </p:spPr>
        <p:txBody>
          <a:bodyPr wrap="square" anchor="t" lIns="0" rIns="0" tIns="0" bIns="0">
            <a:spAutoFit/>
          </a:bodyPr>
          <a:lstStyle/>
          <a:p>
            <a:pPr algn="l">
              <a:lnSpc>
                <a:spcPct val="130000"/>
              </a:lnSpc>
            </a:pPr>
            <a:r>
              <a:rPr sz="1300" b="0" i="0">
                <a:solidFill>
                  <a:srgbClr val="F2CFCF"/>
                </a:solidFill>
                <a:latin typeface="Calibri"/>
              </a:rPr>
              <a:t>Zero monitoring.  Zero baseline.
Zero accountability.</a:t>
            </a:r>
          </a:p>
        </p:txBody>
      </p:sp>
      <p:cxnSp>
        <p:nvCxnSpPr>
          <p:cNvPr id="11" name="Connector 10"/>
          <p:cNvCxnSpPr/>
          <p:nvPr/>
        </p:nvCxnSpPr>
        <p:spPr>
          <a:xfrm>
            <a:off x="777240" y="5349240"/>
            <a:ext cx="914400" cy="0"/>
          </a:xfrm>
          <a:prstGeom prst="line">
            <a:avLst/>
          </a:prstGeom>
          <a:ln w="12700">
            <a:solidFill>
              <a:srgbClr val="CC7A2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5440680"/>
            <a:ext cx="5120640" cy="457200"/>
          </a:xfrm>
          <a:prstGeom prst="rect">
            <a:avLst/>
          </a:prstGeom>
          <a:noFill/>
        </p:spPr>
        <p:txBody>
          <a:bodyPr wrap="square" anchor="t" lIns="0" rIns="0" tIns="0" bIns="0">
            <a:spAutoFit/>
          </a:bodyPr>
          <a:lstStyle/>
          <a:p>
            <a:pPr algn="l">
              <a:lnSpc>
                <a:spcPct val="120000"/>
              </a:lnSpc>
            </a:pPr>
            <a:r>
              <a:rPr sz="1400" b="1" i="0">
                <a:solidFill>
                  <a:srgbClr val="E8A860"/>
                </a:solidFill>
                <a:latin typeface="Calibri"/>
              </a:rPr>
              <a:t>RADIOLOGICAL  FEAR</a:t>
            </a:r>
          </a:p>
        </p:txBody>
      </p:sp>
      <p:sp>
        <p:nvSpPr>
          <p:cNvPr id="13" name="Rectangle 12"/>
          <p:cNvSpPr/>
          <p:nvPr/>
        </p:nvSpPr>
        <p:spPr>
          <a:xfrm>
            <a:off x="6263640" y="2103120"/>
            <a:ext cx="5349240" cy="3931920"/>
          </a:xfrm>
          <a:prstGeom prst="rect">
            <a:avLst/>
          </a:prstGeom>
          <a:solidFill>
            <a:srgbClr val="0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2103120"/>
            <a:ext cx="109728" cy="393192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240280"/>
            <a:ext cx="5029200" cy="274320"/>
          </a:xfrm>
          <a:prstGeom prst="rect">
            <a:avLst/>
          </a:prstGeom>
          <a:noFill/>
        </p:spPr>
        <p:txBody>
          <a:bodyPr wrap="square" anchor="t" lIns="0" rIns="0" tIns="0" bIns="0">
            <a:spAutoFit/>
          </a:bodyPr>
          <a:lstStyle/>
          <a:p>
            <a:pPr algn="l">
              <a:lnSpc>
                <a:spcPct val="120000"/>
              </a:lnSpc>
            </a:pPr>
            <a:r>
              <a:rPr sz="1000" b="1" i="0">
                <a:solidFill>
                  <a:srgbClr val="E8A860"/>
                </a:solidFill>
                <a:latin typeface="Calibri"/>
              </a:rPr>
              <a:t>USA  ·  DOE NUCLEAR ENTERPRISE  ·  2014-2024</a:t>
            </a:r>
          </a:p>
        </p:txBody>
      </p:sp>
      <p:sp>
        <p:nvSpPr>
          <p:cNvPr id="16" name="TextBox 15"/>
          <p:cNvSpPr txBox="1"/>
          <p:nvPr/>
        </p:nvSpPr>
        <p:spPr>
          <a:xfrm>
            <a:off x="6492240" y="2560320"/>
            <a:ext cx="5029200" cy="1463040"/>
          </a:xfrm>
          <a:prstGeom prst="rect">
            <a:avLst/>
          </a:prstGeom>
          <a:noFill/>
        </p:spPr>
        <p:txBody>
          <a:bodyPr wrap="square" anchor="t" lIns="0" rIns="0" tIns="0" bIns="0">
            <a:spAutoFit/>
          </a:bodyPr>
          <a:lstStyle/>
          <a:p>
            <a:pPr algn="l">
              <a:lnSpc>
                <a:spcPct val="105000"/>
              </a:lnSpc>
            </a:pPr>
            <a:r>
              <a:rPr sz="2800" b="1" i="0">
                <a:solidFill>
                  <a:srgbClr val="FFFFFF"/>
                </a:solidFill>
                <a:latin typeface="Calibri"/>
              </a:rPr>
              <a:t>22,000 workers.
59.12 mrem average.</a:t>
            </a:r>
          </a:p>
        </p:txBody>
      </p:sp>
      <p:sp>
        <p:nvSpPr>
          <p:cNvPr id="17" name="TextBox 16"/>
          <p:cNvSpPr txBox="1"/>
          <p:nvPr/>
        </p:nvSpPr>
        <p:spPr>
          <a:xfrm>
            <a:off x="6492240" y="4251960"/>
            <a:ext cx="5029200" cy="1005840"/>
          </a:xfrm>
          <a:prstGeom prst="rect">
            <a:avLst/>
          </a:prstGeom>
          <a:noFill/>
        </p:spPr>
        <p:txBody>
          <a:bodyPr wrap="square" anchor="t" lIns="0" rIns="0" tIns="0" bIns="0">
            <a:spAutoFit/>
          </a:bodyPr>
          <a:lstStyle/>
          <a:p>
            <a:pPr algn="l">
              <a:lnSpc>
                <a:spcPct val="130000"/>
              </a:lnSpc>
            </a:pPr>
            <a:r>
              <a:rPr sz="1300" b="0" i="0">
                <a:solidFill>
                  <a:srgbClr val="CFD8E3"/>
                </a:solidFill>
                <a:latin typeface="Calibri"/>
              </a:rPr>
              <a:t>Every dose tracked.  Every site audited.
Every year. For a decade.</a:t>
            </a:r>
          </a:p>
        </p:txBody>
      </p:sp>
      <p:cxnSp>
        <p:nvCxnSpPr>
          <p:cNvPr id="18" name="Connector 17"/>
          <p:cNvCxnSpPr/>
          <p:nvPr/>
        </p:nvCxnSpPr>
        <p:spPr>
          <a:xfrm>
            <a:off x="6492240" y="5349240"/>
            <a:ext cx="914400" cy="0"/>
          </a:xfrm>
          <a:prstGeom prst="line">
            <a:avLst/>
          </a:prstGeom>
          <a:ln w="12700">
            <a:solidFill>
              <a:srgbClr val="CC7A2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92240" y="5440680"/>
            <a:ext cx="5029200" cy="457200"/>
          </a:xfrm>
          <a:prstGeom prst="rect">
            <a:avLst/>
          </a:prstGeom>
          <a:noFill/>
        </p:spPr>
        <p:txBody>
          <a:bodyPr wrap="square" anchor="t" lIns="0" rIns="0" tIns="0" bIns="0">
            <a:spAutoFit/>
          </a:bodyPr>
          <a:lstStyle/>
          <a:p>
            <a:pPr algn="l">
              <a:lnSpc>
                <a:spcPct val="120000"/>
              </a:lnSpc>
            </a:pPr>
            <a:r>
              <a:rPr sz="1400" b="1" i="0">
                <a:solidFill>
                  <a:srgbClr val="E8A860"/>
                </a:solidFill>
                <a:latin typeface="Calibri"/>
              </a:rPr>
              <a:t>INDUSTRIAL  MASTERY</a:t>
            </a:r>
          </a:p>
        </p:txBody>
      </p:sp>
      <p:sp>
        <p:nvSpPr>
          <p:cNvPr id="20" name="TextBox 19"/>
          <p:cNvSpPr txBox="1"/>
          <p:nvPr/>
        </p:nvSpPr>
        <p:spPr>
          <a:xfrm>
            <a:off x="548640" y="6217920"/>
            <a:ext cx="11064240" cy="365760"/>
          </a:xfrm>
          <a:prstGeom prst="rect">
            <a:avLst/>
          </a:prstGeom>
          <a:noFill/>
        </p:spPr>
        <p:txBody>
          <a:bodyPr wrap="square" anchor="t" lIns="0" rIns="0" tIns="0" bIns="0">
            <a:spAutoFit/>
          </a:bodyPr>
          <a:lstStyle/>
          <a:p>
            <a:pPr algn="ctr">
              <a:lnSpc>
                <a:spcPct val="120000"/>
              </a:lnSpc>
            </a:pPr>
            <a:r>
              <a:rPr sz="1400" b="1" i="0">
                <a:solidFill>
                  <a:srgbClr val="0A1F3D"/>
                </a:solidFill>
                <a:latin typeface="Calibri"/>
              </a:rPr>
              <a:t>The gap is not the science. It is the system.</a:t>
            </a:r>
          </a:p>
        </p:txBody>
      </p:sp>
      <p:cxnSp>
        <p:nvCxnSpPr>
          <p:cNvPr id="21" name="Connector 20"/>
          <p:cNvCxnSpPr/>
          <p:nvPr/>
        </p:nvCxnSpPr>
        <p:spPr>
          <a:xfrm>
            <a:off x="0" y="6629400"/>
            <a:ext cx="12191695" cy="0"/>
          </a:xfrm>
          <a:prstGeom prst="line">
            <a:avLst/>
          </a:prstGeom>
          <a:ln w="6350">
            <a:solidFill>
              <a:srgbClr val="C8CED6"/>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0" y="6629400"/>
            <a:ext cx="640080" cy="4572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675120"/>
            <a:ext cx="9601200" cy="182880"/>
          </a:xfrm>
          <a:prstGeom prst="rect">
            <a:avLst/>
          </a:prstGeom>
          <a:noFill/>
        </p:spPr>
        <p:txBody>
          <a:bodyPr wrap="square" anchor="t" lIns="0" rIns="0" tIns="0" bIns="0">
            <a:spAutoFit/>
          </a:bodyPr>
          <a:lstStyle/>
          <a:p>
            <a:pPr algn="l">
              <a:lnSpc>
                <a:spcPct val="120000"/>
              </a:lnSpc>
            </a:pPr>
            <a:r>
              <a:rPr sz="800" b="0" i="1">
                <a:solidFill>
                  <a:srgbClr val="6B7280"/>
                </a:solidFill>
                <a:latin typeface="Calibri"/>
              </a:rPr>
              <a:t>Sources: Siavonga Uranium Baseline Survey (2024) · U.S. DOE REMS 2024 Report</a:t>
            </a:r>
          </a:p>
        </p:txBody>
      </p:sp>
      <p:sp>
        <p:nvSpPr>
          <p:cNvPr id="24" name="TextBox 23"/>
          <p:cNvSpPr txBox="1"/>
          <p:nvPr/>
        </p:nvSpPr>
        <p:spPr>
          <a:xfrm>
            <a:off x="10424160" y="6675120"/>
            <a:ext cx="1554480" cy="182880"/>
          </a:xfrm>
          <a:prstGeom prst="rect">
            <a:avLst/>
          </a:prstGeom>
          <a:noFill/>
        </p:spPr>
        <p:txBody>
          <a:bodyPr wrap="square" anchor="t" lIns="0" rIns="0" tIns="0" bIns="0">
            <a:spAutoFit/>
          </a:bodyPr>
          <a:lstStyle/>
          <a:p>
            <a:pPr algn="r">
              <a:lnSpc>
                <a:spcPct val="120000"/>
              </a:lnSpc>
            </a:pPr>
            <a:r>
              <a:rPr sz="800" b="1" i="0">
                <a:solidFill>
                  <a:srgbClr val="2A3344"/>
                </a:solidFill>
                <a:latin typeface="Calibri"/>
              </a:rPr>
              <a:t>3 / 8  ·  E. Mwaba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anchor="t" lIns="0" rIns="0" tIns="0" bIns="0">
            <a:spAutoFit/>
          </a:bodyPr>
          <a:lstStyle/>
          <a:p>
            <a:pPr algn="l">
              <a:lnSpc>
                <a:spcPct val="120000"/>
              </a:lnSpc>
            </a:pPr>
            <a:r>
              <a:rPr sz="1100" b="1" i="0">
                <a:solidFill>
                  <a:srgbClr val="CC7A2E"/>
                </a:solidFill>
                <a:latin typeface="Calibri"/>
              </a:rPr>
              <a:t>02  ·  THE VISION</a:t>
            </a:r>
          </a:p>
        </p:txBody>
      </p:sp>
      <p:sp>
        <p:nvSpPr>
          <p:cNvPr id="3" name="TextBox 2"/>
          <p:cNvSpPr txBox="1"/>
          <p:nvPr/>
        </p:nvSpPr>
        <p:spPr>
          <a:xfrm>
            <a:off x="548640" y="685800"/>
            <a:ext cx="11064240" cy="685800"/>
          </a:xfrm>
          <a:prstGeom prst="rect">
            <a:avLst/>
          </a:prstGeom>
          <a:noFill/>
        </p:spPr>
        <p:txBody>
          <a:bodyPr wrap="square" anchor="t" lIns="0" rIns="0" tIns="0" bIns="0">
            <a:spAutoFit/>
          </a:bodyPr>
          <a:lstStyle/>
          <a:p>
            <a:pPr algn="l">
              <a:lnSpc>
                <a:spcPct val="120000"/>
              </a:lnSpc>
            </a:pPr>
            <a:r>
              <a:rPr sz="3000" b="1" i="0">
                <a:solidFill>
                  <a:srgbClr val="0A1F3D"/>
                </a:solidFill>
                <a:latin typeface="Calibri"/>
              </a:rPr>
              <a:t>Nuclear as Zambia's baseload future.</a:t>
            </a:r>
          </a:p>
        </p:txBody>
      </p:sp>
      <p:cxnSp>
        <p:nvCxnSpPr>
          <p:cNvPr id="4" name="Connector 3"/>
          <p:cNvCxnSpPr/>
          <p:nvPr/>
        </p:nvCxnSpPr>
        <p:spPr>
          <a:xfrm>
            <a:off x="548640" y="1325880"/>
            <a:ext cx="1097280" cy="0"/>
          </a:xfrm>
          <a:prstGeom prst="line">
            <a:avLst/>
          </a:prstGeom>
          <a:ln w="19050">
            <a:solidFill>
              <a:srgbClr val="CC7A2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417320"/>
            <a:ext cx="11064240" cy="365760"/>
          </a:xfrm>
          <a:prstGeom prst="rect">
            <a:avLst/>
          </a:prstGeom>
          <a:noFill/>
        </p:spPr>
        <p:txBody>
          <a:bodyPr wrap="square" anchor="t" lIns="0" rIns="0" tIns="0" bIns="0">
            <a:spAutoFit/>
          </a:bodyPr>
          <a:lstStyle/>
          <a:p>
            <a:pPr algn="l">
              <a:lnSpc>
                <a:spcPct val="120000"/>
              </a:lnSpc>
            </a:pPr>
            <a:r>
              <a:rPr sz="1300" b="0" i="1">
                <a:solidFill>
                  <a:srgbClr val="6B7280"/>
                </a:solidFill>
                <a:latin typeface="Calibri"/>
              </a:rPr>
              <a:t>We cannot industrialise a country on rainfall. Nuclear is weather-proof power.</a:t>
            </a:r>
          </a:p>
        </p:txBody>
      </p:sp>
      <p:graphicFrame>
        <p:nvGraphicFramePr>
          <p:cNvPr id="6" name="Chart 5"/>
          <p:cNvGraphicFramePr>
            <a:graphicFrameLocks noGrp="1"/>
          </p:cNvGraphicFramePr>
          <p:nvPr/>
        </p:nvGraphicFramePr>
        <p:xfrm>
          <a:off x="548640" y="2011680"/>
          <a:ext cx="5303520" cy="4206240"/>
        </p:xfrm>
        <a:graphic>
          <a:graphicData uri="http://schemas.openxmlformats.org/drawingml/2006/chart">
            <c:chart xmlns:c="http://schemas.openxmlformats.org/drawingml/2006/chart" r:id="rId2"/>
          </a:graphicData>
        </a:graphic>
      </p:graphicFrame>
      <p:sp>
        <p:nvSpPr>
          <p:cNvPr id="7" name="TextBox 6"/>
          <p:cNvSpPr txBox="1"/>
          <p:nvPr/>
        </p:nvSpPr>
        <p:spPr>
          <a:xfrm>
            <a:off x="548640" y="6172200"/>
            <a:ext cx="5303520" cy="365760"/>
          </a:xfrm>
          <a:prstGeom prst="rect">
            <a:avLst/>
          </a:prstGeom>
          <a:noFill/>
        </p:spPr>
        <p:txBody>
          <a:bodyPr wrap="square" anchor="t" lIns="0" rIns="0" tIns="0" bIns="0">
            <a:spAutoFit/>
          </a:bodyPr>
          <a:lstStyle/>
          <a:p>
            <a:pPr algn="ctr">
              <a:lnSpc>
                <a:spcPct val="120000"/>
              </a:lnSpc>
            </a:pPr>
            <a:r>
              <a:rPr sz="900" b="0" i="1">
                <a:solidFill>
                  <a:srgbClr val="6B7280"/>
                </a:solidFill>
                <a:latin typeface="Calibri"/>
              </a:rPr>
              <a:t>Zambia's 2019 generation mix (%). Source: MoE / ZESCO 2019.</a:t>
            </a:r>
          </a:p>
        </p:txBody>
      </p:sp>
      <p:sp>
        <p:nvSpPr>
          <p:cNvPr id="8" name="Rectangle 7"/>
          <p:cNvSpPr/>
          <p:nvPr/>
        </p:nvSpPr>
        <p:spPr>
          <a:xfrm>
            <a:off x="6263640" y="2011680"/>
            <a:ext cx="5349240"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2011680"/>
            <a:ext cx="109728" cy="420624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148840"/>
            <a:ext cx="4937760" cy="274320"/>
          </a:xfrm>
          <a:prstGeom prst="rect">
            <a:avLst/>
          </a:prstGeom>
          <a:noFill/>
        </p:spPr>
        <p:txBody>
          <a:bodyPr wrap="square" anchor="t" lIns="0" rIns="0" tIns="0" bIns="0">
            <a:spAutoFit/>
          </a:bodyPr>
          <a:lstStyle/>
          <a:p>
            <a:pPr algn="l">
              <a:lnSpc>
                <a:spcPct val="120000"/>
              </a:lnSpc>
            </a:pPr>
            <a:r>
              <a:rPr sz="1100" b="1" i="0">
                <a:solidFill>
                  <a:srgbClr val="CC7A2E"/>
                </a:solidFill>
                <a:latin typeface="Calibri"/>
              </a:rPr>
              <a:t>WHY THIS MATTERS</a:t>
            </a:r>
          </a:p>
        </p:txBody>
      </p:sp>
      <p:sp>
        <p:nvSpPr>
          <p:cNvPr id="11" name="TextBox 10"/>
          <p:cNvSpPr txBox="1"/>
          <p:nvPr/>
        </p:nvSpPr>
        <p:spPr>
          <a:xfrm>
            <a:off x="6492240" y="2514600"/>
            <a:ext cx="4937760" cy="274320"/>
          </a:xfrm>
          <a:prstGeom prst="rect">
            <a:avLst/>
          </a:prstGeom>
          <a:noFill/>
        </p:spPr>
        <p:txBody>
          <a:bodyPr wrap="square" anchor="t" lIns="0" rIns="0" tIns="0" bIns="0">
            <a:spAutoFit/>
          </a:bodyPr>
          <a:lstStyle/>
          <a:p>
            <a:pPr algn="l">
              <a:lnSpc>
                <a:spcPct val="120000"/>
              </a:lnSpc>
            </a:pPr>
            <a:r>
              <a:rPr sz="1100" b="1" i="0">
                <a:solidFill>
                  <a:srgbClr val="0A1F3D"/>
                </a:solidFill>
                <a:latin typeface="Calibri"/>
              </a:rPr>
              <a:t>THE PROBLEM</a:t>
            </a:r>
          </a:p>
        </p:txBody>
      </p:sp>
      <p:sp>
        <p:nvSpPr>
          <p:cNvPr id="12" name="TextBox 11"/>
          <p:cNvSpPr txBox="1"/>
          <p:nvPr/>
        </p:nvSpPr>
        <p:spPr>
          <a:xfrm>
            <a:off x="6492240" y="2807208"/>
            <a:ext cx="4937760" cy="960120"/>
          </a:xfrm>
          <a:prstGeom prst="rect">
            <a:avLst/>
          </a:prstGeom>
          <a:noFill/>
        </p:spPr>
        <p:txBody>
          <a:bodyPr wrap="square" anchor="t" lIns="0" rIns="0" tIns="0" bIns="0">
            <a:spAutoFit/>
          </a:bodyPr>
          <a:lstStyle/>
          <a:p>
            <a:pPr algn="l">
              <a:lnSpc>
                <a:spcPct val="130000"/>
              </a:lnSpc>
            </a:pPr>
            <a:r>
              <a:rPr sz="1200" b="0" i="0">
                <a:solidFill>
                  <a:srgbClr val="121824"/>
                </a:solidFill>
                <a:latin typeface="Calibri"/>
              </a:rPr>
              <a:t>84% hydropower dependence makes Zambia's economy a hostage to the rain.</a:t>
            </a:r>
          </a:p>
        </p:txBody>
      </p:sp>
      <p:sp>
        <p:nvSpPr>
          <p:cNvPr id="13" name="TextBox 12"/>
          <p:cNvSpPr txBox="1"/>
          <p:nvPr/>
        </p:nvSpPr>
        <p:spPr>
          <a:xfrm>
            <a:off x="6492240" y="3749039"/>
            <a:ext cx="4937760" cy="274320"/>
          </a:xfrm>
          <a:prstGeom prst="rect">
            <a:avLst/>
          </a:prstGeom>
          <a:noFill/>
        </p:spPr>
        <p:txBody>
          <a:bodyPr wrap="square" anchor="t" lIns="0" rIns="0" tIns="0" bIns="0">
            <a:spAutoFit/>
          </a:bodyPr>
          <a:lstStyle/>
          <a:p>
            <a:pPr algn="l">
              <a:lnSpc>
                <a:spcPct val="120000"/>
              </a:lnSpc>
            </a:pPr>
            <a:r>
              <a:rPr sz="1100" b="1" i="0">
                <a:solidFill>
                  <a:srgbClr val="0A1F3D"/>
                </a:solidFill>
                <a:latin typeface="Calibri"/>
              </a:rPr>
              <a:t>THE SOLUTION</a:t>
            </a:r>
          </a:p>
        </p:txBody>
      </p:sp>
      <p:sp>
        <p:nvSpPr>
          <p:cNvPr id="14" name="TextBox 13"/>
          <p:cNvSpPr txBox="1"/>
          <p:nvPr/>
        </p:nvSpPr>
        <p:spPr>
          <a:xfrm>
            <a:off x="6492240" y="4041648"/>
            <a:ext cx="4937760" cy="960120"/>
          </a:xfrm>
          <a:prstGeom prst="rect">
            <a:avLst/>
          </a:prstGeom>
          <a:noFill/>
        </p:spPr>
        <p:txBody>
          <a:bodyPr wrap="square" anchor="t" lIns="0" rIns="0" tIns="0" bIns="0">
            <a:spAutoFit/>
          </a:bodyPr>
          <a:lstStyle/>
          <a:p>
            <a:pPr algn="l">
              <a:lnSpc>
                <a:spcPct val="130000"/>
              </a:lnSpc>
            </a:pPr>
            <a:r>
              <a:rPr sz="1200" b="0" i="0">
                <a:solidFill>
                  <a:srgbClr val="121824"/>
                </a:solidFill>
                <a:latin typeface="Calibri"/>
              </a:rPr>
              <a:t>Nuclear delivers 24/7, weather-proof baseload independent of Kariba reservoir levels.</a:t>
            </a:r>
          </a:p>
        </p:txBody>
      </p:sp>
      <p:sp>
        <p:nvSpPr>
          <p:cNvPr id="15" name="TextBox 14"/>
          <p:cNvSpPr txBox="1"/>
          <p:nvPr/>
        </p:nvSpPr>
        <p:spPr>
          <a:xfrm>
            <a:off x="6492240" y="4983479"/>
            <a:ext cx="4937760" cy="274320"/>
          </a:xfrm>
          <a:prstGeom prst="rect">
            <a:avLst/>
          </a:prstGeom>
          <a:noFill/>
        </p:spPr>
        <p:txBody>
          <a:bodyPr wrap="square" anchor="t" lIns="0" rIns="0" tIns="0" bIns="0">
            <a:spAutoFit/>
          </a:bodyPr>
          <a:lstStyle/>
          <a:p>
            <a:pPr algn="l">
              <a:lnSpc>
                <a:spcPct val="120000"/>
              </a:lnSpc>
            </a:pPr>
            <a:r>
              <a:rPr sz="1100" b="1" i="0">
                <a:solidFill>
                  <a:srgbClr val="0A1F3D"/>
                </a:solidFill>
                <a:latin typeface="Calibri"/>
              </a:rPr>
              <a:t>THE READINESS</a:t>
            </a:r>
          </a:p>
        </p:txBody>
      </p:sp>
      <p:sp>
        <p:nvSpPr>
          <p:cNvPr id="16" name="TextBox 15"/>
          <p:cNvSpPr txBox="1"/>
          <p:nvPr/>
        </p:nvSpPr>
        <p:spPr>
          <a:xfrm>
            <a:off x="6492240" y="5276088"/>
            <a:ext cx="4937760" cy="960120"/>
          </a:xfrm>
          <a:prstGeom prst="rect">
            <a:avLst/>
          </a:prstGeom>
          <a:noFill/>
        </p:spPr>
        <p:txBody>
          <a:bodyPr wrap="square" anchor="t" lIns="0" rIns="0" tIns="0" bIns="0">
            <a:spAutoFit/>
          </a:bodyPr>
          <a:lstStyle/>
          <a:p>
            <a:pPr algn="l">
              <a:lnSpc>
                <a:spcPct val="130000"/>
              </a:lnSpc>
            </a:pPr>
            <a:r>
              <a:rPr sz="1200" b="0" i="0">
                <a:solidFill>
                  <a:srgbClr val="121824"/>
                </a:solidFill>
                <a:latin typeface="Calibri"/>
              </a:rPr>
              <a:t>Zambia is an IAEA Member State and the Radiation Protection Authority (RPA) is already in place.</a:t>
            </a:r>
          </a:p>
        </p:txBody>
      </p:sp>
      <p:cxnSp>
        <p:nvCxnSpPr>
          <p:cNvPr id="17" name="Connector 16"/>
          <p:cNvCxnSpPr/>
          <p:nvPr/>
        </p:nvCxnSpPr>
        <p:spPr>
          <a:xfrm>
            <a:off x="0" y="6629400"/>
            <a:ext cx="12191695" cy="0"/>
          </a:xfrm>
          <a:prstGeom prst="line">
            <a:avLst/>
          </a:prstGeom>
          <a:ln w="6350">
            <a:solidFill>
              <a:srgbClr val="C8CED6"/>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0" y="6629400"/>
            <a:ext cx="640080" cy="4572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675120"/>
            <a:ext cx="9601200" cy="182880"/>
          </a:xfrm>
          <a:prstGeom prst="rect">
            <a:avLst/>
          </a:prstGeom>
          <a:noFill/>
        </p:spPr>
        <p:txBody>
          <a:bodyPr wrap="square" anchor="t" lIns="0" rIns="0" tIns="0" bIns="0">
            <a:spAutoFit/>
          </a:bodyPr>
          <a:lstStyle/>
          <a:p>
            <a:pPr algn="l">
              <a:lnSpc>
                <a:spcPct val="120000"/>
              </a:lnSpc>
            </a:pPr>
            <a:r>
              <a:rPr sz="800" b="0" i="1">
                <a:solidFill>
                  <a:srgbClr val="6B7280"/>
                </a:solidFill>
                <a:latin typeface="Calibri"/>
              </a:rPr>
              <a:t>Sources: ZESCO Annual Reports 2023-2024 · Zambia 7NDP &amp; Vision 2030 · IAEA Milestone Approach</a:t>
            </a:r>
          </a:p>
        </p:txBody>
      </p:sp>
      <p:sp>
        <p:nvSpPr>
          <p:cNvPr id="20" name="TextBox 19"/>
          <p:cNvSpPr txBox="1"/>
          <p:nvPr/>
        </p:nvSpPr>
        <p:spPr>
          <a:xfrm>
            <a:off x="10424160" y="6675120"/>
            <a:ext cx="1554480" cy="182880"/>
          </a:xfrm>
          <a:prstGeom prst="rect">
            <a:avLst/>
          </a:prstGeom>
          <a:noFill/>
        </p:spPr>
        <p:txBody>
          <a:bodyPr wrap="square" anchor="t" lIns="0" rIns="0" tIns="0" bIns="0">
            <a:spAutoFit/>
          </a:bodyPr>
          <a:lstStyle/>
          <a:p>
            <a:pPr algn="r">
              <a:lnSpc>
                <a:spcPct val="120000"/>
              </a:lnSpc>
            </a:pPr>
            <a:r>
              <a:rPr sz="800" b="1" i="0">
                <a:solidFill>
                  <a:srgbClr val="2A3344"/>
                </a:solidFill>
                <a:latin typeface="Calibri"/>
              </a:rPr>
              <a:t>4 / 8  ·  E. Mwaba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anchor="t" lIns="0" rIns="0" tIns="0" bIns="0">
            <a:spAutoFit/>
          </a:bodyPr>
          <a:lstStyle/>
          <a:p>
            <a:pPr algn="l">
              <a:lnSpc>
                <a:spcPct val="120000"/>
              </a:lnSpc>
            </a:pPr>
            <a:r>
              <a:rPr sz="1100" b="1" i="0">
                <a:solidFill>
                  <a:srgbClr val="CC7A2E"/>
                </a:solidFill>
                <a:latin typeface="Calibri"/>
              </a:rPr>
              <a:t>03  ·  SAFETY MASTERY</a:t>
            </a:r>
          </a:p>
        </p:txBody>
      </p:sp>
      <p:sp>
        <p:nvSpPr>
          <p:cNvPr id="3" name="TextBox 2"/>
          <p:cNvSpPr txBox="1"/>
          <p:nvPr/>
        </p:nvSpPr>
        <p:spPr>
          <a:xfrm>
            <a:off x="548640" y="685800"/>
            <a:ext cx="11064240" cy="685800"/>
          </a:xfrm>
          <a:prstGeom prst="rect">
            <a:avLst/>
          </a:prstGeom>
          <a:noFill/>
        </p:spPr>
        <p:txBody>
          <a:bodyPr wrap="square" anchor="t" lIns="0" rIns="0" tIns="0" bIns="0">
            <a:spAutoFit/>
          </a:bodyPr>
          <a:lstStyle/>
          <a:p>
            <a:pPr algn="l">
              <a:lnSpc>
                <a:spcPct val="120000"/>
              </a:lnSpc>
            </a:pPr>
            <a:r>
              <a:rPr sz="3000" b="1" i="0">
                <a:solidFill>
                  <a:srgbClr val="0A1F3D"/>
                </a:solidFill>
                <a:latin typeface="Calibri"/>
              </a:rPr>
              <a:t>The proof is in the data.</a:t>
            </a:r>
          </a:p>
        </p:txBody>
      </p:sp>
      <p:cxnSp>
        <p:nvCxnSpPr>
          <p:cNvPr id="4" name="Connector 3"/>
          <p:cNvCxnSpPr/>
          <p:nvPr/>
        </p:nvCxnSpPr>
        <p:spPr>
          <a:xfrm>
            <a:off x="548640" y="1325880"/>
            <a:ext cx="1097280" cy="0"/>
          </a:xfrm>
          <a:prstGeom prst="line">
            <a:avLst/>
          </a:prstGeom>
          <a:ln w="19050">
            <a:solidFill>
              <a:srgbClr val="CC7A2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417320"/>
            <a:ext cx="11064240" cy="365760"/>
          </a:xfrm>
          <a:prstGeom prst="rect">
            <a:avLst/>
          </a:prstGeom>
          <a:noFill/>
        </p:spPr>
        <p:txBody>
          <a:bodyPr wrap="square" anchor="t" lIns="0" rIns="0" tIns="0" bIns="0">
            <a:spAutoFit/>
          </a:bodyPr>
          <a:lstStyle/>
          <a:p>
            <a:pPr algn="l">
              <a:lnSpc>
                <a:spcPct val="120000"/>
              </a:lnSpc>
            </a:pPr>
            <a:r>
              <a:rPr sz="1300" b="0" i="1">
                <a:solidFill>
                  <a:srgbClr val="6B7280"/>
                </a:solidFill>
                <a:latin typeface="Calibri"/>
              </a:rPr>
              <a:t>10-year DOE record across 22,000 workers — the safety model Zambia would inherit.</a:t>
            </a:r>
          </a:p>
        </p:txBody>
      </p:sp>
      <p:graphicFrame>
        <p:nvGraphicFramePr>
          <p:cNvPr id="6" name="Chart 5"/>
          <p:cNvGraphicFramePr>
            <a:graphicFrameLocks noGrp="1"/>
          </p:cNvGraphicFramePr>
          <p:nvPr/>
        </p:nvGraphicFramePr>
        <p:xfrm>
          <a:off x="548640" y="2011680"/>
          <a:ext cx="6766560" cy="4023360"/>
        </p:xfrm>
        <a:graphic>
          <a:graphicData uri="http://schemas.openxmlformats.org/drawingml/2006/chart">
            <c:chart xmlns:c="http://schemas.openxmlformats.org/drawingml/2006/chart" r:id="rId2"/>
          </a:graphicData>
        </a:graphic>
      </p:graphicFrame>
      <p:sp>
        <p:nvSpPr>
          <p:cNvPr id="7" name="TextBox 6"/>
          <p:cNvSpPr txBox="1"/>
          <p:nvPr/>
        </p:nvSpPr>
        <p:spPr>
          <a:xfrm>
            <a:off x="548640" y="6080760"/>
            <a:ext cx="6766560" cy="365760"/>
          </a:xfrm>
          <a:prstGeom prst="rect">
            <a:avLst/>
          </a:prstGeom>
          <a:noFill/>
        </p:spPr>
        <p:txBody>
          <a:bodyPr wrap="square" anchor="t" lIns="0" rIns="0" tIns="0" bIns="0">
            <a:spAutoFit/>
          </a:bodyPr>
          <a:lstStyle/>
          <a:p>
            <a:pPr algn="ctr">
              <a:lnSpc>
                <a:spcPct val="120000"/>
              </a:lnSpc>
            </a:pPr>
            <a:r>
              <a:rPr sz="900" b="0" i="1">
                <a:solidFill>
                  <a:srgbClr val="6B7280"/>
                </a:solidFill>
                <a:latin typeface="Calibri"/>
              </a:rPr>
              <a:t>Radiation exposure (mrem/yr). Source: U.S. DOE REMS 2024.</a:t>
            </a:r>
          </a:p>
        </p:txBody>
      </p:sp>
      <p:sp>
        <p:nvSpPr>
          <p:cNvPr id="8" name="Rectangle 7"/>
          <p:cNvSpPr/>
          <p:nvPr/>
        </p:nvSpPr>
        <p:spPr>
          <a:xfrm>
            <a:off x="7543800" y="2011680"/>
            <a:ext cx="4160520" cy="1828800"/>
          </a:xfrm>
          <a:prstGeom prst="rect">
            <a:avLst/>
          </a:prstGeom>
          <a:solidFill>
            <a:srgbClr val="0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2011680"/>
            <a:ext cx="109728" cy="182880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103120"/>
            <a:ext cx="3840480" cy="274320"/>
          </a:xfrm>
          <a:prstGeom prst="rect">
            <a:avLst/>
          </a:prstGeom>
          <a:noFill/>
        </p:spPr>
        <p:txBody>
          <a:bodyPr wrap="square" anchor="t" lIns="0" rIns="0" tIns="0" bIns="0">
            <a:spAutoFit/>
          </a:bodyPr>
          <a:lstStyle/>
          <a:p>
            <a:pPr algn="l">
              <a:lnSpc>
                <a:spcPct val="120000"/>
              </a:lnSpc>
            </a:pPr>
            <a:r>
              <a:rPr sz="1100" b="1" i="0">
                <a:solidFill>
                  <a:srgbClr val="E8A860"/>
                </a:solidFill>
                <a:latin typeface="Calibri"/>
              </a:rPr>
              <a:t>OF THE FEDERAL LIMIT</a:t>
            </a:r>
          </a:p>
        </p:txBody>
      </p:sp>
      <p:sp>
        <p:nvSpPr>
          <p:cNvPr id="11" name="TextBox 10"/>
          <p:cNvSpPr txBox="1"/>
          <p:nvPr/>
        </p:nvSpPr>
        <p:spPr>
          <a:xfrm>
            <a:off x="7772400" y="2423160"/>
            <a:ext cx="3840480" cy="1005840"/>
          </a:xfrm>
          <a:prstGeom prst="rect">
            <a:avLst/>
          </a:prstGeom>
          <a:noFill/>
        </p:spPr>
        <p:txBody>
          <a:bodyPr wrap="square" anchor="t" lIns="0" rIns="0" tIns="0" bIns="0">
            <a:spAutoFit/>
          </a:bodyPr>
          <a:lstStyle/>
          <a:p>
            <a:pPr algn="l">
              <a:lnSpc>
                <a:spcPct val="120000"/>
              </a:lnSpc>
            </a:pPr>
            <a:r>
              <a:rPr sz="7200" b="1" i="0">
                <a:solidFill>
                  <a:srgbClr val="FFFFFF"/>
                </a:solidFill>
                <a:latin typeface="Calibri"/>
              </a:rPr>
              <a:t>1.2%</a:t>
            </a:r>
          </a:p>
        </p:txBody>
      </p:sp>
      <p:sp>
        <p:nvSpPr>
          <p:cNvPr id="12" name="TextBox 11"/>
          <p:cNvSpPr txBox="1"/>
          <p:nvPr/>
        </p:nvSpPr>
        <p:spPr>
          <a:xfrm>
            <a:off x="7772400" y="3429000"/>
            <a:ext cx="3840480" cy="365760"/>
          </a:xfrm>
          <a:prstGeom prst="rect">
            <a:avLst/>
          </a:prstGeom>
          <a:noFill/>
        </p:spPr>
        <p:txBody>
          <a:bodyPr wrap="square" anchor="t" lIns="0" rIns="0" tIns="0" bIns="0">
            <a:spAutoFit/>
          </a:bodyPr>
          <a:lstStyle/>
          <a:p>
            <a:pPr algn="l">
              <a:lnSpc>
                <a:spcPct val="120000"/>
              </a:lnSpc>
            </a:pPr>
            <a:r>
              <a:rPr sz="1200" b="0" i="0">
                <a:solidFill>
                  <a:srgbClr val="CFD8E3"/>
                </a:solidFill>
                <a:latin typeface="Calibri"/>
              </a:rPr>
              <a:t>59.12 ÷ 5,000 mrem</a:t>
            </a:r>
          </a:p>
        </p:txBody>
      </p:sp>
      <p:sp>
        <p:nvSpPr>
          <p:cNvPr id="13" name="Rectangle 12"/>
          <p:cNvSpPr/>
          <p:nvPr/>
        </p:nvSpPr>
        <p:spPr>
          <a:xfrm>
            <a:off x="7543800" y="3977639"/>
            <a:ext cx="416052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43800" y="3977639"/>
            <a:ext cx="73152" cy="676656"/>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023359"/>
            <a:ext cx="3931920" cy="228600"/>
          </a:xfrm>
          <a:prstGeom prst="rect">
            <a:avLst/>
          </a:prstGeom>
          <a:noFill/>
        </p:spPr>
        <p:txBody>
          <a:bodyPr wrap="square" anchor="t" lIns="0" rIns="0" tIns="0" bIns="0">
            <a:spAutoFit/>
          </a:bodyPr>
          <a:lstStyle/>
          <a:p>
            <a:pPr algn="l">
              <a:lnSpc>
                <a:spcPct val="120000"/>
              </a:lnSpc>
            </a:pPr>
            <a:r>
              <a:rPr sz="1000" b="1" i="0">
                <a:solidFill>
                  <a:srgbClr val="0A1F3D"/>
                </a:solidFill>
                <a:latin typeface="Calibri"/>
              </a:rPr>
              <a:t>SCALABLE</a:t>
            </a:r>
          </a:p>
        </p:txBody>
      </p:sp>
      <p:sp>
        <p:nvSpPr>
          <p:cNvPr id="16" name="TextBox 15"/>
          <p:cNvSpPr txBox="1"/>
          <p:nvPr/>
        </p:nvSpPr>
        <p:spPr>
          <a:xfrm>
            <a:off x="7726679" y="4251959"/>
            <a:ext cx="3931920" cy="384048"/>
          </a:xfrm>
          <a:prstGeom prst="rect">
            <a:avLst/>
          </a:prstGeom>
          <a:noFill/>
        </p:spPr>
        <p:txBody>
          <a:bodyPr wrap="square" anchor="t" lIns="0" rIns="0" tIns="0" bIns="0">
            <a:spAutoFit/>
          </a:bodyPr>
          <a:lstStyle/>
          <a:p>
            <a:pPr algn="l">
              <a:lnSpc>
                <a:spcPct val="120000"/>
              </a:lnSpc>
            </a:pPr>
            <a:r>
              <a:rPr sz="1000" b="0" i="0">
                <a:solidFill>
                  <a:srgbClr val="121824"/>
                </a:solidFill>
                <a:latin typeface="Calibri"/>
              </a:rPr>
              <a:t>Workforce grew 1,133 → 1,167. Dose did not move.</a:t>
            </a:r>
          </a:p>
        </p:txBody>
      </p:sp>
      <p:sp>
        <p:nvSpPr>
          <p:cNvPr id="17" name="Rectangle 16"/>
          <p:cNvSpPr/>
          <p:nvPr/>
        </p:nvSpPr>
        <p:spPr>
          <a:xfrm>
            <a:off x="7543800" y="4709159"/>
            <a:ext cx="416052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43800" y="4709159"/>
            <a:ext cx="73152" cy="676656"/>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26679" y="4754879"/>
            <a:ext cx="3931920" cy="228600"/>
          </a:xfrm>
          <a:prstGeom prst="rect">
            <a:avLst/>
          </a:prstGeom>
          <a:noFill/>
        </p:spPr>
        <p:txBody>
          <a:bodyPr wrap="square" anchor="t" lIns="0" rIns="0" tIns="0" bIns="0">
            <a:spAutoFit/>
          </a:bodyPr>
          <a:lstStyle/>
          <a:p>
            <a:pPr algn="l">
              <a:lnSpc>
                <a:spcPct val="120000"/>
              </a:lnSpc>
            </a:pPr>
            <a:r>
              <a:rPr sz="1000" b="1" i="0">
                <a:solidFill>
                  <a:srgbClr val="0A1F3D"/>
                </a:solidFill>
                <a:latin typeface="Calibri"/>
              </a:rPr>
              <a:t>CONTAINED</a:t>
            </a:r>
          </a:p>
        </p:txBody>
      </p:sp>
      <p:sp>
        <p:nvSpPr>
          <p:cNvPr id="20" name="TextBox 19"/>
          <p:cNvSpPr txBox="1"/>
          <p:nvPr/>
        </p:nvSpPr>
        <p:spPr>
          <a:xfrm>
            <a:off x="7726679" y="4983479"/>
            <a:ext cx="3931920" cy="384048"/>
          </a:xfrm>
          <a:prstGeom prst="rect">
            <a:avLst/>
          </a:prstGeom>
          <a:noFill/>
        </p:spPr>
        <p:txBody>
          <a:bodyPr wrap="square" anchor="t" lIns="0" rIns="0" tIns="0" bIns="0">
            <a:spAutoFit/>
          </a:bodyPr>
          <a:lstStyle/>
          <a:p>
            <a:pPr algn="l">
              <a:lnSpc>
                <a:spcPct val="120000"/>
              </a:lnSpc>
            </a:pPr>
            <a:r>
              <a:rPr sz="1000" b="0" i="0">
                <a:solidFill>
                  <a:srgbClr val="121824"/>
                </a:solidFill>
                <a:latin typeface="Calibri"/>
              </a:rPr>
              <a:t>98% external (shielding). 2% internal (protocol).</a:t>
            </a:r>
          </a:p>
        </p:txBody>
      </p:sp>
      <p:sp>
        <p:nvSpPr>
          <p:cNvPr id="21" name="Rectangle 20"/>
          <p:cNvSpPr/>
          <p:nvPr/>
        </p:nvSpPr>
        <p:spPr>
          <a:xfrm>
            <a:off x="7543800" y="5440679"/>
            <a:ext cx="416052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43800" y="5440679"/>
            <a:ext cx="73152" cy="676656"/>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79" y="5486399"/>
            <a:ext cx="3931920" cy="228600"/>
          </a:xfrm>
          <a:prstGeom prst="rect">
            <a:avLst/>
          </a:prstGeom>
          <a:noFill/>
        </p:spPr>
        <p:txBody>
          <a:bodyPr wrap="square" anchor="t" lIns="0" rIns="0" tIns="0" bIns="0">
            <a:spAutoFit/>
          </a:bodyPr>
          <a:lstStyle/>
          <a:p>
            <a:pPr algn="l">
              <a:lnSpc>
                <a:spcPct val="120000"/>
              </a:lnSpc>
            </a:pPr>
            <a:r>
              <a:rPr sz="1000" b="1" i="0">
                <a:solidFill>
                  <a:srgbClr val="0A1F3D"/>
                </a:solidFill>
                <a:latin typeface="Calibri"/>
              </a:rPr>
              <a:t>REPLICABLE</a:t>
            </a:r>
          </a:p>
        </p:txBody>
      </p:sp>
      <p:sp>
        <p:nvSpPr>
          <p:cNvPr id="24" name="TextBox 23"/>
          <p:cNvSpPr txBox="1"/>
          <p:nvPr/>
        </p:nvSpPr>
        <p:spPr>
          <a:xfrm>
            <a:off x="7726679" y="5714999"/>
            <a:ext cx="3931920" cy="384048"/>
          </a:xfrm>
          <a:prstGeom prst="rect">
            <a:avLst/>
          </a:prstGeom>
          <a:noFill/>
        </p:spPr>
        <p:txBody>
          <a:bodyPr wrap="square" anchor="t" lIns="0" rIns="0" tIns="0" bIns="0">
            <a:spAutoFit/>
          </a:bodyPr>
          <a:lstStyle/>
          <a:p>
            <a:pPr algn="l">
              <a:lnSpc>
                <a:spcPct val="120000"/>
              </a:lnSpc>
            </a:pPr>
            <a:r>
              <a:rPr sz="1000" b="0" i="0">
                <a:solidFill>
                  <a:srgbClr val="121824"/>
                </a:solidFill>
                <a:latin typeface="Calibri"/>
              </a:rPr>
              <a:t>IAEA Milestones — the same path Zambia (RPA → NSPA) is on.</a:t>
            </a:r>
          </a:p>
        </p:txBody>
      </p:sp>
      <p:cxnSp>
        <p:nvCxnSpPr>
          <p:cNvPr id="25" name="Connector 24"/>
          <p:cNvCxnSpPr/>
          <p:nvPr/>
        </p:nvCxnSpPr>
        <p:spPr>
          <a:xfrm>
            <a:off x="0" y="6629400"/>
            <a:ext cx="12191695" cy="0"/>
          </a:xfrm>
          <a:prstGeom prst="line">
            <a:avLst/>
          </a:prstGeom>
          <a:ln w="6350">
            <a:solidFill>
              <a:srgbClr val="C8CED6"/>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0" y="6629400"/>
            <a:ext cx="640080" cy="4572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675120"/>
            <a:ext cx="9601200" cy="182880"/>
          </a:xfrm>
          <a:prstGeom prst="rect">
            <a:avLst/>
          </a:prstGeom>
          <a:noFill/>
        </p:spPr>
        <p:txBody>
          <a:bodyPr wrap="square" anchor="t" lIns="0" rIns="0" tIns="0" bIns="0">
            <a:spAutoFit/>
          </a:bodyPr>
          <a:lstStyle/>
          <a:p>
            <a:pPr algn="l">
              <a:lnSpc>
                <a:spcPct val="120000"/>
              </a:lnSpc>
            </a:pPr>
            <a:r>
              <a:rPr sz="800" b="0" i="1">
                <a:solidFill>
                  <a:srgbClr val="6B7280"/>
                </a:solidFill>
                <a:latin typeface="Calibri"/>
              </a:rPr>
              <a:t>Sources: U.S. DOE REMS 2024 Report · IAEA Milestone Approach</a:t>
            </a:r>
          </a:p>
        </p:txBody>
      </p:sp>
      <p:sp>
        <p:nvSpPr>
          <p:cNvPr id="28" name="TextBox 27"/>
          <p:cNvSpPr txBox="1"/>
          <p:nvPr/>
        </p:nvSpPr>
        <p:spPr>
          <a:xfrm>
            <a:off x="10424160" y="6675120"/>
            <a:ext cx="1554480" cy="182880"/>
          </a:xfrm>
          <a:prstGeom prst="rect">
            <a:avLst/>
          </a:prstGeom>
          <a:noFill/>
        </p:spPr>
        <p:txBody>
          <a:bodyPr wrap="square" anchor="t" lIns="0" rIns="0" tIns="0" bIns="0">
            <a:spAutoFit/>
          </a:bodyPr>
          <a:lstStyle/>
          <a:p>
            <a:pPr algn="r">
              <a:lnSpc>
                <a:spcPct val="120000"/>
              </a:lnSpc>
            </a:pPr>
            <a:r>
              <a:rPr sz="800" b="1" i="0">
                <a:solidFill>
                  <a:srgbClr val="2A3344"/>
                </a:solidFill>
                <a:latin typeface="Calibri"/>
              </a:rPr>
              <a:t>5 / 8  ·  E. Mwaba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anchor="t" lIns="0" rIns="0" tIns="0" bIns="0">
            <a:spAutoFit/>
          </a:bodyPr>
          <a:lstStyle/>
          <a:p>
            <a:pPr algn="l">
              <a:lnSpc>
                <a:spcPct val="120000"/>
              </a:lnSpc>
            </a:pPr>
            <a:r>
              <a:rPr sz="1100" b="1" i="0">
                <a:solidFill>
                  <a:srgbClr val="CC7A2E"/>
                </a:solidFill>
                <a:latin typeface="Calibri"/>
              </a:rPr>
              <a:t>04  ·  STRATEGIC RESOURCE</a:t>
            </a:r>
          </a:p>
        </p:txBody>
      </p:sp>
      <p:sp>
        <p:nvSpPr>
          <p:cNvPr id="3" name="TextBox 2"/>
          <p:cNvSpPr txBox="1"/>
          <p:nvPr/>
        </p:nvSpPr>
        <p:spPr>
          <a:xfrm>
            <a:off x="548640" y="685800"/>
            <a:ext cx="11064240" cy="685800"/>
          </a:xfrm>
          <a:prstGeom prst="rect">
            <a:avLst/>
          </a:prstGeom>
          <a:noFill/>
        </p:spPr>
        <p:txBody>
          <a:bodyPr wrap="square" anchor="t" lIns="0" rIns="0" tIns="0" bIns="0">
            <a:spAutoFit/>
          </a:bodyPr>
          <a:lstStyle/>
          <a:p>
            <a:pPr algn="l">
              <a:lnSpc>
                <a:spcPct val="120000"/>
              </a:lnSpc>
            </a:pPr>
            <a:r>
              <a:rPr sz="3000" b="1" i="0">
                <a:solidFill>
                  <a:srgbClr val="0A1F3D"/>
                </a:solidFill>
                <a:latin typeface="Calibri"/>
              </a:rPr>
              <a:t>We are sitting on our own fuel.</a:t>
            </a:r>
          </a:p>
        </p:txBody>
      </p:sp>
      <p:cxnSp>
        <p:nvCxnSpPr>
          <p:cNvPr id="4" name="Connector 3"/>
          <p:cNvCxnSpPr/>
          <p:nvPr/>
        </p:nvCxnSpPr>
        <p:spPr>
          <a:xfrm>
            <a:off x="548640" y="1325880"/>
            <a:ext cx="1097280" cy="0"/>
          </a:xfrm>
          <a:prstGeom prst="line">
            <a:avLst/>
          </a:prstGeom>
          <a:ln w="19050">
            <a:solidFill>
              <a:srgbClr val="CC7A2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417320"/>
            <a:ext cx="11064240" cy="365760"/>
          </a:xfrm>
          <a:prstGeom prst="rect">
            <a:avLst/>
          </a:prstGeom>
          <a:noFill/>
        </p:spPr>
        <p:txBody>
          <a:bodyPr wrap="square" anchor="t" lIns="0" rIns="0" tIns="0" bIns="0">
            <a:spAutoFit/>
          </a:bodyPr>
          <a:lstStyle/>
          <a:p>
            <a:pPr algn="l">
              <a:lnSpc>
                <a:spcPct val="120000"/>
              </a:lnSpc>
            </a:pPr>
            <a:r>
              <a:rPr sz="1300" b="0" i="1">
                <a:solidFill>
                  <a:srgbClr val="6B7280"/>
                </a:solidFill>
                <a:latin typeface="Calibri"/>
              </a:rPr>
              <a:t>Zambia exports raw uranium today. It can fuel domestic reactors tomorrow.</a:t>
            </a:r>
          </a:p>
        </p:txBody>
      </p:sp>
      <p:sp>
        <p:nvSpPr>
          <p:cNvPr id="6" name="Rectangle 5"/>
          <p:cNvSpPr/>
          <p:nvPr/>
        </p:nvSpPr>
        <p:spPr>
          <a:xfrm>
            <a:off x="548640" y="2011680"/>
            <a:ext cx="5943600" cy="4206240"/>
          </a:xfrm>
          <a:prstGeom prst="rect">
            <a:avLst/>
          </a:prstGeom>
          <a:solidFill>
            <a:srgbClr val="0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011680"/>
            <a:ext cx="5943600" cy="9144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5486400" cy="320040"/>
          </a:xfrm>
          <a:prstGeom prst="rect">
            <a:avLst/>
          </a:prstGeom>
          <a:noFill/>
        </p:spPr>
        <p:txBody>
          <a:bodyPr wrap="square" anchor="t" lIns="0" rIns="0" tIns="0" bIns="0">
            <a:spAutoFit/>
          </a:bodyPr>
          <a:lstStyle/>
          <a:p>
            <a:pPr algn="l">
              <a:lnSpc>
                <a:spcPct val="120000"/>
              </a:lnSpc>
            </a:pPr>
            <a:r>
              <a:rPr sz="1100" b="1" i="0">
                <a:solidFill>
                  <a:srgbClr val="E8A860"/>
                </a:solidFill>
                <a:latin typeface="Calibri"/>
              </a:rPr>
              <a:t>KNOWN URANIUM-BEARING ZONES — ZAMBIA</a:t>
            </a:r>
          </a:p>
        </p:txBody>
      </p:sp>
      <p:sp>
        <p:nvSpPr>
          <p:cNvPr id="9" name="Rectangle 8"/>
          <p:cNvSpPr/>
          <p:nvPr/>
        </p:nvSpPr>
        <p:spPr>
          <a:xfrm>
            <a:off x="777240" y="2606040"/>
            <a:ext cx="5486400" cy="1051560"/>
          </a:xfrm>
          <a:prstGeom prst="rect">
            <a:avLst/>
          </a:prstGeom>
          <a:solidFill>
            <a:srgbClr val="122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606040"/>
            <a:ext cx="73152" cy="105156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679192"/>
            <a:ext cx="5303520" cy="274320"/>
          </a:xfrm>
          <a:prstGeom prst="rect">
            <a:avLst/>
          </a:prstGeom>
          <a:noFill/>
        </p:spPr>
        <p:txBody>
          <a:bodyPr wrap="square" anchor="t" lIns="0" rIns="0" tIns="0" bIns="0">
            <a:spAutoFit/>
          </a:bodyPr>
          <a:lstStyle/>
          <a:p>
            <a:pPr algn="l">
              <a:lnSpc>
                <a:spcPct val="120000"/>
              </a:lnSpc>
            </a:pPr>
            <a:r>
              <a:rPr sz="1300" b="1" i="0">
                <a:solidFill>
                  <a:srgbClr val="FFFFFF"/>
                </a:solidFill>
                <a:latin typeface="Calibri"/>
              </a:rPr>
              <a:t>LUMWANA / KANYEMBA</a:t>
            </a:r>
          </a:p>
        </p:txBody>
      </p:sp>
      <p:sp>
        <p:nvSpPr>
          <p:cNvPr id="12" name="TextBox 11"/>
          <p:cNvSpPr txBox="1"/>
          <p:nvPr/>
        </p:nvSpPr>
        <p:spPr>
          <a:xfrm>
            <a:off x="960120" y="2935224"/>
            <a:ext cx="5303520" cy="274320"/>
          </a:xfrm>
          <a:prstGeom prst="rect">
            <a:avLst/>
          </a:prstGeom>
          <a:noFill/>
        </p:spPr>
        <p:txBody>
          <a:bodyPr wrap="square" anchor="t" lIns="0" rIns="0" tIns="0" bIns="0">
            <a:spAutoFit/>
          </a:bodyPr>
          <a:lstStyle/>
          <a:p>
            <a:pPr algn="l">
              <a:lnSpc>
                <a:spcPct val="120000"/>
              </a:lnSpc>
            </a:pPr>
            <a:r>
              <a:rPr sz="1000" b="0" i="1">
                <a:solidFill>
                  <a:srgbClr val="E8A860"/>
                </a:solidFill>
                <a:latin typeface="Calibri"/>
              </a:rPr>
              <a:t>North-Western Province</a:t>
            </a:r>
          </a:p>
        </p:txBody>
      </p:sp>
      <p:sp>
        <p:nvSpPr>
          <p:cNvPr id="13" name="TextBox 12"/>
          <p:cNvSpPr txBox="1"/>
          <p:nvPr/>
        </p:nvSpPr>
        <p:spPr>
          <a:xfrm>
            <a:off x="960120" y="3172968"/>
            <a:ext cx="5303520" cy="457200"/>
          </a:xfrm>
          <a:prstGeom prst="rect">
            <a:avLst/>
          </a:prstGeom>
          <a:noFill/>
        </p:spPr>
        <p:txBody>
          <a:bodyPr wrap="square" anchor="t" lIns="0" rIns="0" tIns="0" bIns="0">
            <a:spAutoFit/>
          </a:bodyPr>
          <a:lstStyle/>
          <a:p>
            <a:pPr algn="l">
              <a:lnSpc>
                <a:spcPct val="130000"/>
              </a:lnSpc>
            </a:pPr>
            <a:r>
              <a:rPr sz="1100" b="0" i="0">
                <a:solidFill>
                  <a:srgbClr val="CFD8E3"/>
                </a:solidFill>
                <a:latin typeface="Calibri"/>
              </a:rPr>
              <a:t>Uranium recovered as by-product of copper mining; previously stockpiled by Barrick.</a:t>
            </a:r>
          </a:p>
        </p:txBody>
      </p:sp>
      <p:sp>
        <p:nvSpPr>
          <p:cNvPr id="14" name="Rectangle 13"/>
          <p:cNvSpPr/>
          <p:nvPr/>
        </p:nvSpPr>
        <p:spPr>
          <a:xfrm>
            <a:off x="777240" y="3767328"/>
            <a:ext cx="5486400" cy="1051560"/>
          </a:xfrm>
          <a:prstGeom prst="rect">
            <a:avLst/>
          </a:prstGeom>
          <a:solidFill>
            <a:srgbClr val="122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67328"/>
            <a:ext cx="73152" cy="105156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840480"/>
            <a:ext cx="5303520" cy="274320"/>
          </a:xfrm>
          <a:prstGeom prst="rect">
            <a:avLst/>
          </a:prstGeom>
          <a:noFill/>
        </p:spPr>
        <p:txBody>
          <a:bodyPr wrap="square" anchor="t" lIns="0" rIns="0" tIns="0" bIns="0">
            <a:spAutoFit/>
          </a:bodyPr>
          <a:lstStyle/>
          <a:p>
            <a:pPr algn="l">
              <a:lnSpc>
                <a:spcPct val="120000"/>
              </a:lnSpc>
            </a:pPr>
            <a:r>
              <a:rPr sz="1300" b="1" i="0">
                <a:solidFill>
                  <a:srgbClr val="FFFFFF"/>
                </a:solidFill>
                <a:latin typeface="Calibri"/>
              </a:rPr>
              <a:t>GWEMBE / SIAVONGA BELT</a:t>
            </a:r>
          </a:p>
        </p:txBody>
      </p:sp>
      <p:sp>
        <p:nvSpPr>
          <p:cNvPr id="17" name="TextBox 16"/>
          <p:cNvSpPr txBox="1"/>
          <p:nvPr/>
        </p:nvSpPr>
        <p:spPr>
          <a:xfrm>
            <a:off x="960120" y="4096512"/>
            <a:ext cx="5303520" cy="274320"/>
          </a:xfrm>
          <a:prstGeom prst="rect">
            <a:avLst/>
          </a:prstGeom>
          <a:noFill/>
        </p:spPr>
        <p:txBody>
          <a:bodyPr wrap="square" anchor="t" lIns="0" rIns="0" tIns="0" bIns="0">
            <a:spAutoFit/>
          </a:bodyPr>
          <a:lstStyle/>
          <a:p>
            <a:pPr algn="l">
              <a:lnSpc>
                <a:spcPct val="120000"/>
              </a:lnSpc>
            </a:pPr>
            <a:r>
              <a:rPr sz="1000" b="0" i="1">
                <a:solidFill>
                  <a:srgbClr val="E8A860"/>
                </a:solidFill>
                <a:latin typeface="Calibri"/>
              </a:rPr>
              <a:t>Southern Province</a:t>
            </a:r>
          </a:p>
        </p:txBody>
      </p:sp>
      <p:sp>
        <p:nvSpPr>
          <p:cNvPr id="18" name="TextBox 17"/>
          <p:cNvSpPr txBox="1"/>
          <p:nvPr/>
        </p:nvSpPr>
        <p:spPr>
          <a:xfrm>
            <a:off x="960120" y="4334256"/>
            <a:ext cx="5303520" cy="457200"/>
          </a:xfrm>
          <a:prstGeom prst="rect">
            <a:avLst/>
          </a:prstGeom>
          <a:noFill/>
        </p:spPr>
        <p:txBody>
          <a:bodyPr wrap="square" anchor="t" lIns="0" rIns="0" tIns="0" bIns="0">
            <a:spAutoFit/>
          </a:bodyPr>
          <a:lstStyle/>
          <a:p>
            <a:pPr algn="l">
              <a:lnSpc>
                <a:spcPct val="130000"/>
              </a:lnSpc>
            </a:pPr>
            <a:r>
              <a:rPr sz="1100" b="0" i="0">
                <a:solidFill>
                  <a:srgbClr val="CFD8E3"/>
                </a:solidFill>
                <a:latin typeface="Calibri"/>
              </a:rPr>
              <a:t>Karoo-type sandstone uranium; site of the 2024 Siavonga Baseline Survey.</a:t>
            </a:r>
          </a:p>
        </p:txBody>
      </p:sp>
      <p:sp>
        <p:nvSpPr>
          <p:cNvPr id="19" name="Rectangle 18"/>
          <p:cNvSpPr/>
          <p:nvPr/>
        </p:nvSpPr>
        <p:spPr>
          <a:xfrm>
            <a:off x="777240" y="4928616"/>
            <a:ext cx="5486400" cy="1051560"/>
          </a:xfrm>
          <a:prstGeom prst="rect">
            <a:avLst/>
          </a:prstGeom>
          <a:solidFill>
            <a:srgbClr val="122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928616"/>
            <a:ext cx="73152" cy="105156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001768"/>
            <a:ext cx="5303520" cy="274320"/>
          </a:xfrm>
          <a:prstGeom prst="rect">
            <a:avLst/>
          </a:prstGeom>
          <a:noFill/>
        </p:spPr>
        <p:txBody>
          <a:bodyPr wrap="square" anchor="t" lIns="0" rIns="0" tIns="0" bIns="0">
            <a:spAutoFit/>
          </a:bodyPr>
          <a:lstStyle/>
          <a:p>
            <a:pPr algn="l">
              <a:lnSpc>
                <a:spcPct val="120000"/>
              </a:lnSpc>
            </a:pPr>
            <a:r>
              <a:rPr sz="1300" b="1" i="0">
                <a:solidFill>
                  <a:srgbClr val="FFFFFF"/>
                </a:solidFill>
                <a:latin typeface="Calibri"/>
              </a:rPr>
              <a:t>MUTANGA / DIBWE</a:t>
            </a:r>
          </a:p>
        </p:txBody>
      </p:sp>
      <p:sp>
        <p:nvSpPr>
          <p:cNvPr id="22" name="TextBox 21"/>
          <p:cNvSpPr txBox="1"/>
          <p:nvPr/>
        </p:nvSpPr>
        <p:spPr>
          <a:xfrm>
            <a:off x="960120" y="5257800"/>
            <a:ext cx="5303520" cy="274320"/>
          </a:xfrm>
          <a:prstGeom prst="rect">
            <a:avLst/>
          </a:prstGeom>
          <a:noFill/>
        </p:spPr>
        <p:txBody>
          <a:bodyPr wrap="square" anchor="t" lIns="0" rIns="0" tIns="0" bIns="0">
            <a:spAutoFit/>
          </a:bodyPr>
          <a:lstStyle/>
          <a:p>
            <a:pPr algn="l">
              <a:lnSpc>
                <a:spcPct val="120000"/>
              </a:lnSpc>
            </a:pPr>
            <a:r>
              <a:rPr sz="1000" b="0" i="1">
                <a:solidFill>
                  <a:srgbClr val="E8A860"/>
                </a:solidFill>
                <a:latin typeface="Calibri"/>
              </a:rPr>
              <a:t>Southern Province</a:t>
            </a:r>
          </a:p>
        </p:txBody>
      </p:sp>
      <p:sp>
        <p:nvSpPr>
          <p:cNvPr id="23" name="TextBox 22"/>
          <p:cNvSpPr txBox="1"/>
          <p:nvPr/>
        </p:nvSpPr>
        <p:spPr>
          <a:xfrm>
            <a:off x="960120" y="5495544"/>
            <a:ext cx="5303520" cy="457200"/>
          </a:xfrm>
          <a:prstGeom prst="rect">
            <a:avLst/>
          </a:prstGeom>
          <a:noFill/>
        </p:spPr>
        <p:txBody>
          <a:bodyPr wrap="square" anchor="t" lIns="0" rIns="0" tIns="0" bIns="0">
            <a:spAutoFit/>
          </a:bodyPr>
          <a:lstStyle/>
          <a:p>
            <a:pPr algn="l">
              <a:lnSpc>
                <a:spcPct val="130000"/>
              </a:lnSpc>
            </a:pPr>
            <a:r>
              <a:rPr sz="1100" b="0" i="0">
                <a:solidFill>
                  <a:srgbClr val="CFD8E3"/>
                </a:solidFill>
                <a:latin typeface="Calibri"/>
              </a:rPr>
              <a:t>Defined uranium resource under historical GoviEx / African Energy permits.</a:t>
            </a:r>
          </a:p>
        </p:txBody>
      </p:sp>
      <p:sp>
        <p:nvSpPr>
          <p:cNvPr id="24" name="Rectangle 23"/>
          <p:cNvSpPr/>
          <p:nvPr/>
        </p:nvSpPr>
        <p:spPr>
          <a:xfrm>
            <a:off x="6675120" y="2011680"/>
            <a:ext cx="4937760"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75120" y="2011680"/>
            <a:ext cx="109728" cy="420624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03720" y="2148840"/>
            <a:ext cx="4572000" cy="320040"/>
          </a:xfrm>
          <a:prstGeom prst="rect">
            <a:avLst/>
          </a:prstGeom>
          <a:noFill/>
        </p:spPr>
        <p:txBody>
          <a:bodyPr wrap="square" anchor="t" lIns="0" rIns="0" tIns="0" bIns="0">
            <a:spAutoFit/>
          </a:bodyPr>
          <a:lstStyle/>
          <a:p>
            <a:pPr algn="l">
              <a:lnSpc>
                <a:spcPct val="120000"/>
              </a:lnSpc>
            </a:pPr>
            <a:r>
              <a:rPr sz="1100" b="1" i="0">
                <a:solidFill>
                  <a:srgbClr val="CC7A2E"/>
                </a:solidFill>
                <a:latin typeface="Calibri"/>
              </a:rPr>
              <a:t>THE VALUE-CHAIN PIVOT</a:t>
            </a:r>
          </a:p>
        </p:txBody>
      </p:sp>
      <p:sp>
        <p:nvSpPr>
          <p:cNvPr id="27" name="TextBox 26"/>
          <p:cNvSpPr txBox="1"/>
          <p:nvPr/>
        </p:nvSpPr>
        <p:spPr>
          <a:xfrm>
            <a:off x="6903720" y="2606040"/>
            <a:ext cx="4572000" cy="274320"/>
          </a:xfrm>
          <a:prstGeom prst="rect">
            <a:avLst/>
          </a:prstGeom>
          <a:noFill/>
        </p:spPr>
        <p:txBody>
          <a:bodyPr wrap="square" anchor="t" lIns="0" rIns="0" tIns="0" bIns="0">
            <a:spAutoFit/>
          </a:bodyPr>
          <a:lstStyle/>
          <a:p>
            <a:pPr algn="l">
              <a:lnSpc>
                <a:spcPct val="120000"/>
              </a:lnSpc>
            </a:pPr>
            <a:r>
              <a:rPr sz="1100" b="1" i="0">
                <a:solidFill>
                  <a:srgbClr val="0A1F3D"/>
                </a:solidFill>
                <a:latin typeface="Calibri"/>
              </a:rPr>
              <a:t>TODAY</a:t>
            </a:r>
          </a:p>
        </p:txBody>
      </p:sp>
      <p:sp>
        <p:nvSpPr>
          <p:cNvPr id="28" name="TextBox 27"/>
          <p:cNvSpPr txBox="1"/>
          <p:nvPr/>
        </p:nvSpPr>
        <p:spPr>
          <a:xfrm>
            <a:off x="6903720" y="2880360"/>
            <a:ext cx="4572000" cy="960120"/>
          </a:xfrm>
          <a:prstGeom prst="rect">
            <a:avLst/>
          </a:prstGeom>
          <a:noFill/>
        </p:spPr>
        <p:txBody>
          <a:bodyPr wrap="square" anchor="t" lIns="0" rIns="0" tIns="0" bIns="0">
            <a:spAutoFit/>
          </a:bodyPr>
          <a:lstStyle/>
          <a:p>
            <a:pPr algn="l">
              <a:lnSpc>
                <a:spcPct val="130000"/>
              </a:lnSpc>
            </a:pPr>
            <a:r>
              <a:rPr sz="1100" b="0" i="0">
                <a:solidFill>
                  <a:srgbClr val="121824"/>
                </a:solidFill>
                <a:latin typeface="Calibri"/>
              </a:rPr>
              <a:t>Raw-mineral exporter — uranium leaves Zambia for enrichment elsewhere; we capture wellhead value only.</a:t>
            </a:r>
          </a:p>
        </p:txBody>
      </p:sp>
      <p:sp>
        <p:nvSpPr>
          <p:cNvPr id="29" name="TextBox 28"/>
          <p:cNvSpPr txBox="1"/>
          <p:nvPr/>
        </p:nvSpPr>
        <p:spPr>
          <a:xfrm>
            <a:off x="6903720" y="3794760"/>
            <a:ext cx="4572000" cy="274320"/>
          </a:xfrm>
          <a:prstGeom prst="rect">
            <a:avLst/>
          </a:prstGeom>
          <a:noFill/>
        </p:spPr>
        <p:txBody>
          <a:bodyPr wrap="square" anchor="t" lIns="0" rIns="0" tIns="0" bIns="0">
            <a:spAutoFit/>
          </a:bodyPr>
          <a:lstStyle/>
          <a:p>
            <a:pPr algn="l">
              <a:lnSpc>
                <a:spcPct val="120000"/>
              </a:lnSpc>
            </a:pPr>
            <a:r>
              <a:rPr sz="1100" b="1" i="0">
                <a:solidFill>
                  <a:srgbClr val="0A1F3D"/>
                </a:solidFill>
                <a:latin typeface="Calibri"/>
              </a:rPr>
              <a:t>WITH NUCLEAR POWER</a:t>
            </a:r>
          </a:p>
        </p:txBody>
      </p:sp>
      <p:sp>
        <p:nvSpPr>
          <p:cNvPr id="30" name="TextBox 29"/>
          <p:cNvSpPr txBox="1"/>
          <p:nvPr/>
        </p:nvSpPr>
        <p:spPr>
          <a:xfrm>
            <a:off x="6903720" y="4069080"/>
            <a:ext cx="4572000" cy="960120"/>
          </a:xfrm>
          <a:prstGeom prst="rect">
            <a:avLst/>
          </a:prstGeom>
          <a:noFill/>
        </p:spPr>
        <p:txBody>
          <a:bodyPr wrap="square" anchor="t" lIns="0" rIns="0" tIns="0" bIns="0">
            <a:spAutoFit/>
          </a:bodyPr>
          <a:lstStyle/>
          <a:p>
            <a:pPr algn="l">
              <a:lnSpc>
                <a:spcPct val="130000"/>
              </a:lnSpc>
            </a:pPr>
            <a:r>
              <a:rPr sz="1100" b="0" i="0">
                <a:solidFill>
                  <a:srgbClr val="121824"/>
                </a:solidFill>
                <a:latin typeface="Calibri"/>
              </a:rPr>
              <a:t>High-tech energy producer — domestic fuel flows into domestic baseload supporting mines, smelters, hospitals.</a:t>
            </a:r>
          </a:p>
        </p:txBody>
      </p:sp>
      <p:sp>
        <p:nvSpPr>
          <p:cNvPr id="31" name="TextBox 30"/>
          <p:cNvSpPr txBox="1"/>
          <p:nvPr/>
        </p:nvSpPr>
        <p:spPr>
          <a:xfrm>
            <a:off x="6903720" y="4983480"/>
            <a:ext cx="4572000" cy="274320"/>
          </a:xfrm>
          <a:prstGeom prst="rect">
            <a:avLst/>
          </a:prstGeom>
          <a:noFill/>
        </p:spPr>
        <p:txBody>
          <a:bodyPr wrap="square" anchor="t" lIns="0" rIns="0" tIns="0" bIns="0">
            <a:spAutoFit/>
          </a:bodyPr>
          <a:lstStyle/>
          <a:p>
            <a:pPr algn="l">
              <a:lnSpc>
                <a:spcPct val="120000"/>
              </a:lnSpc>
            </a:pPr>
            <a:r>
              <a:rPr sz="1100" b="1" i="0">
                <a:solidFill>
                  <a:srgbClr val="0A1F3D"/>
                </a:solidFill>
                <a:latin typeface="Calibri"/>
              </a:rPr>
              <a:t>STRATEGIC UPSIDE</a:t>
            </a:r>
          </a:p>
        </p:txBody>
      </p:sp>
      <p:sp>
        <p:nvSpPr>
          <p:cNvPr id="32" name="TextBox 31"/>
          <p:cNvSpPr txBox="1"/>
          <p:nvPr/>
        </p:nvSpPr>
        <p:spPr>
          <a:xfrm>
            <a:off x="6903720" y="5257800"/>
            <a:ext cx="4572000" cy="960120"/>
          </a:xfrm>
          <a:prstGeom prst="rect">
            <a:avLst/>
          </a:prstGeom>
          <a:noFill/>
        </p:spPr>
        <p:txBody>
          <a:bodyPr wrap="square" anchor="t" lIns="0" rIns="0" tIns="0" bIns="0">
            <a:spAutoFit/>
          </a:bodyPr>
          <a:lstStyle/>
          <a:p>
            <a:pPr algn="l">
              <a:lnSpc>
                <a:spcPct val="130000"/>
              </a:lnSpc>
            </a:pPr>
            <a:r>
              <a:rPr sz="1100" b="0" i="0">
                <a:solidFill>
                  <a:srgbClr val="121824"/>
                </a:solidFill>
                <a:latin typeface="Calibri"/>
              </a:rPr>
              <a:t>Import independence; price-stable electricity; high-skill jobs anchored to a regulated, exportable competency.</a:t>
            </a:r>
          </a:p>
        </p:txBody>
      </p:sp>
      <p:cxnSp>
        <p:nvCxnSpPr>
          <p:cNvPr id="33" name="Connector 32"/>
          <p:cNvCxnSpPr/>
          <p:nvPr/>
        </p:nvCxnSpPr>
        <p:spPr>
          <a:xfrm>
            <a:off x="0" y="6629400"/>
            <a:ext cx="12191695" cy="0"/>
          </a:xfrm>
          <a:prstGeom prst="line">
            <a:avLst/>
          </a:prstGeom>
          <a:ln w="6350">
            <a:solidFill>
              <a:srgbClr val="C8CED6"/>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0" y="6629400"/>
            <a:ext cx="640080" cy="4572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675120"/>
            <a:ext cx="9601200" cy="182880"/>
          </a:xfrm>
          <a:prstGeom prst="rect">
            <a:avLst/>
          </a:prstGeom>
          <a:noFill/>
        </p:spPr>
        <p:txBody>
          <a:bodyPr wrap="square" anchor="t" lIns="0" rIns="0" tIns="0" bIns="0">
            <a:spAutoFit/>
          </a:bodyPr>
          <a:lstStyle/>
          <a:p>
            <a:pPr algn="l">
              <a:lnSpc>
                <a:spcPct val="120000"/>
              </a:lnSpc>
            </a:pPr>
            <a:r>
              <a:rPr sz="800" b="0" i="1">
                <a:solidFill>
                  <a:srgbClr val="6B7280"/>
                </a:solidFill>
                <a:latin typeface="Calibri"/>
              </a:rPr>
              <a:t>Sources: Zambia Ministry of Mines — Annual Mining Statistics · Zambia 7NDP &amp; Vision 2030</a:t>
            </a:r>
          </a:p>
        </p:txBody>
      </p:sp>
      <p:sp>
        <p:nvSpPr>
          <p:cNvPr id="36" name="TextBox 35"/>
          <p:cNvSpPr txBox="1"/>
          <p:nvPr/>
        </p:nvSpPr>
        <p:spPr>
          <a:xfrm>
            <a:off x="10424160" y="6675120"/>
            <a:ext cx="1554480" cy="182880"/>
          </a:xfrm>
          <a:prstGeom prst="rect">
            <a:avLst/>
          </a:prstGeom>
          <a:noFill/>
        </p:spPr>
        <p:txBody>
          <a:bodyPr wrap="square" anchor="t" lIns="0" rIns="0" tIns="0" bIns="0">
            <a:spAutoFit/>
          </a:bodyPr>
          <a:lstStyle/>
          <a:p>
            <a:pPr algn="r">
              <a:lnSpc>
                <a:spcPct val="120000"/>
              </a:lnSpc>
            </a:pPr>
            <a:r>
              <a:rPr sz="800" b="1" i="0">
                <a:solidFill>
                  <a:srgbClr val="2A3344"/>
                </a:solidFill>
                <a:latin typeface="Calibri"/>
              </a:rPr>
              <a:t>6 / 8  ·  E. Mwaba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anchor="t" lIns="0" rIns="0" tIns="0" bIns="0">
            <a:spAutoFit/>
          </a:bodyPr>
          <a:lstStyle/>
          <a:p>
            <a:pPr algn="l">
              <a:lnSpc>
                <a:spcPct val="120000"/>
              </a:lnSpc>
            </a:pPr>
            <a:r>
              <a:rPr sz="1100" b="1" i="0">
                <a:solidFill>
                  <a:srgbClr val="CC7A2E"/>
                </a:solidFill>
                <a:latin typeface="Calibri"/>
              </a:rPr>
              <a:t>05  ·  ECONOMIC IMPACT</a:t>
            </a:r>
          </a:p>
        </p:txBody>
      </p:sp>
      <p:sp>
        <p:nvSpPr>
          <p:cNvPr id="3" name="TextBox 2"/>
          <p:cNvSpPr txBox="1"/>
          <p:nvPr/>
        </p:nvSpPr>
        <p:spPr>
          <a:xfrm>
            <a:off x="548640" y="685800"/>
            <a:ext cx="11064240" cy="685800"/>
          </a:xfrm>
          <a:prstGeom prst="rect">
            <a:avLst/>
          </a:prstGeom>
          <a:noFill/>
        </p:spPr>
        <p:txBody>
          <a:bodyPr wrap="square" anchor="t" lIns="0" rIns="0" tIns="0" bIns="0">
            <a:spAutoFit/>
          </a:bodyPr>
          <a:lstStyle/>
          <a:p>
            <a:pPr algn="l">
              <a:lnSpc>
                <a:spcPct val="120000"/>
              </a:lnSpc>
            </a:pPr>
            <a:r>
              <a:rPr sz="3000" b="1" i="0">
                <a:solidFill>
                  <a:srgbClr val="0A1F3D"/>
                </a:solidFill>
                <a:latin typeface="Calibri"/>
              </a:rPr>
              <a:t>Powering the 3-million-tonne copper ambition.</a:t>
            </a:r>
          </a:p>
        </p:txBody>
      </p:sp>
      <p:cxnSp>
        <p:nvCxnSpPr>
          <p:cNvPr id="4" name="Connector 3"/>
          <p:cNvCxnSpPr/>
          <p:nvPr/>
        </p:nvCxnSpPr>
        <p:spPr>
          <a:xfrm>
            <a:off x="548640" y="1325880"/>
            <a:ext cx="1097280" cy="0"/>
          </a:xfrm>
          <a:prstGeom prst="line">
            <a:avLst/>
          </a:prstGeom>
          <a:ln w="19050">
            <a:solidFill>
              <a:srgbClr val="CC7A2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417320"/>
            <a:ext cx="11064240" cy="365760"/>
          </a:xfrm>
          <a:prstGeom prst="rect">
            <a:avLst/>
          </a:prstGeom>
          <a:noFill/>
        </p:spPr>
        <p:txBody>
          <a:bodyPr wrap="square" anchor="t" lIns="0" rIns="0" tIns="0" bIns="0">
            <a:spAutoFit/>
          </a:bodyPr>
          <a:lstStyle/>
          <a:p>
            <a:pPr algn="l">
              <a:lnSpc>
                <a:spcPct val="120000"/>
              </a:lnSpc>
            </a:pPr>
            <a:r>
              <a:rPr sz="1300" b="0" i="1">
                <a:solidFill>
                  <a:srgbClr val="6B7280"/>
                </a:solidFill>
                <a:latin typeface="Calibri"/>
              </a:rPr>
              <a:t>Zambia's flagship industrial target needs high-density, drought-proof power.</a:t>
            </a:r>
          </a:p>
        </p:txBody>
      </p:sp>
      <p:graphicFrame>
        <p:nvGraphicFramePr>
          <p:cNvPr id="6" name="Chart 5"/>
          <p:cNvGraphicFramePr>
            <a:graphicFrameLocks noGrp="1"/>
          </p:cNvGraphicFramePr>
          <p:nvPr/>
        </p:nvGraphicFramePr>
        <p:xfrm>
          <a:off x="548640" y="2011680"/>
          <a:ext cx="6766560" cy="4023360"/>
        </p:xfrm>
        <a:graphic>
          <a:graphicData uri="http://schemas.openxmlformats.org/drawingml/2006/chart">
            <c:chart xmlns:c="http://schemas.openxmlformats.org/drawingml/2006/chart" r:id="rId2"/>
          </a:graphicData>
        </a:graphic>
      </p:graphicFrame>
      <p:sp>
        <p:nvSpPr>
          <p:cNvPr id="7" name="TextBox 6"/>
          <p:cNvSpPr txBox="1"/>
          <p:nvPr/>
        </p:nvSpPr>
        <p:spPr>
          <a:xfrm>
            <a:off x="548640" y="6080760"/>
            <a:ext cx="6766560" cy="365760"/>
          </a:xfrm>
          <a:prstGeom prst="rect">
            <a:avLst/>
          </a:prstGeom>
          <a:noFill/>
        </p:spPr>
        <p:txBody>
          <a:bodyPr wrap="square" anchor="t" lIns="0" rIns="0" tIns="0" bIns="0">
            <a:spAutoFit/>
          </a:bodyPr>
          <a:lstStyle/>
          <a:p>
            <a:pPr algn="ctr">
              <a:lnSpc>
                <a:spcPct val="120000"/>
              </a:lnSpc>
            </a:pPr>
            <a:r>
              <a:rPr sz="900" b="0" i="1">
                <a:solidFill>
                  <a:srgbClr val="6B7280"/>
                </a:solidFill>
                <a:latin typeface="Calibri"/>
              </a:rPr>
              <a:t>Estimated continuous power for copper mining at ~3,500 kWh/t. Sources: MoMMD; ZESCO.</a:t>
            </a:r>
          </a:p>
        </p:txBody>
      </p:sp>
      <p:sp>
        <p:nvSpPr>
          <p:cNvPr id="8" name="Rectangle 7"/>
          <p:cNvSpPr/>
          <p:nvPr/>
        </p:nvSpPr>
        <p:spPr>
          <a:xfrm>
            <a:off x="7543800" y="2011680"/>
            <a:ext cx="4160520"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2011680"/>
            <a:ext cx="109728" cy="420624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148840"/>
            <a:ext cx="3749039" cy="274320"/>
          </a:xfrm>
          <a:prstGeom prst="rect">
            <a:avLst/>
          </a:prstGeom>
          <a:noFill/>
        </p:spPr>
        <p:txBody>
          <a:bodyPr wrap="square" anchor="t" lIns="0" rIns="0" tIns="0" bIns="0">
            <a:spAutoFit/>
          </a:bodyPr>
          <a:lstStyle/>
          <a:p>
            <a:pPr algn="l">
              <a:lnSpc>
                <a:spcPct val="120000"/>
              </a:lnSpc>
            </a:pPr>
            <a:r>
              <a:rPr sz="1100" b="1" i="0">
                <a:solidFill>
                  <a:srgbClr val="CC7A2E"/>
                </a:solidFill>
                <a:latin typeface="Calibri"/>
              </a:rPr>
              <a:t>WHAT THIS MEANS</a:t>
            </a:r>
          </a:p>
        </p:txBody>
      </p:sp>
      <p:sp>
        <p:nvSpPr>
          <p:cNvPr id="11" name="TextBox 10"/>
          <p:cNvSpPr txBox="1"/>
          <p:nvPr/>
        </p:nvSpPr>
        <p:spPr>
          <a:xfrm>
            <a:off x="7772400" y="2514600"/>
            <a:ext cx="3749039" cy="274320"/>
          </a:xfrm>
          <a:prstGeom prst="rect">
            <a:avLst/>
          </a:prstGeom>
          <a:noFill/>
        </p:spPr>
        <p:txBody>
          <a:bodyPr wrap="square" anchor="t" lIns="0" rIns="0" tIns="0" bIns="0">
            <a:spAutoFit/>
          </a:bodyPr>
          <a:lstStyle/>
          <a:p>
            <a:pPr algn="l">
              <a:lnSpc>
                <a:spcPct val="120000"/>
              </a:lnSpc>
            </a:pPr>
            <a:r>
              <a:rPr sz="1100" b="1" i="0">
                <a:solidFill>
                  <a:srgbClr val="0A1F3D"/>
                </a:solidFill>
                <a:latin typeface="Calibri"/>
              </a:rPr>
              <a:t>MINING INTENSITY</a:t>
            </a:r>
          </a:p>
        </p:txBody>
      </p:sp>
      <p:sp>
        <p:nvSpPr>
          <p:cNvPr id="12" name="TextBox 11"/>
          <p:cNvSpPr txBox="1"/>
          <p:nvPr/>
        </p:nvSpPr>
        <p:spPr>
          <a:xfrm>
            <a:off x="7772400" y="2788920"/>
            <a:ext cx="3749039" cy="914400"/>
          </a:xfrm>
          <a:prstGeom prst="rect">
            <a:avLst/>
          </a:prstGeom>
          <a:noFill/>
        </p:spPr>
        <p:txBody>
          <a:bodyPr wrap="square" anchor="t" lIns="0" rIns="0" tIns="0" bIns="0">
            <a:spAutoFit/>
          </a:bodyPr>
          <a:lstStyle/>
          <a:p>
            <a:pPr algn="l">
              <a:lnSpc>
                <a:spcPct val="130000"/>
              </a:lnSpc>
            </a:pPr>
            <a:r>
              <a:rPr sz="1100" b="0" i="0">
                <a:solidFill>
                  <a:srgbClr val="121824"/>
                </a:solidFill>
                <a:latin typeface="Calibri"/>
              </a:rPr>
              <a:t>Deep-level copper requires massive, uninterrupted power — hydropower is structurally mismatched.</a:t>
            </a:r>
          </a:p>
        </p:txBody>
      </p:sp>
      <p:sp>
        <p:nvSpPr>
          <p:cNvPr id="13" name="TextBox 12"/>
          <p:cNvSpPr txBox="1"/>
          <p:nvPr/>
        </p:nvSpPr>
        <p:spPr>
          <a:xfrm>
            <a:off x="7772400" y="3703320"/>
            <a:ext cx="3749039" cy="274320"/>
          </a:xfrm>
          <a:prstGeom prst="rect">
            <a:avLst/>
          </a:prstGeom>
          <a:noFill/>
        </p:spPr>
        <p:txBody>
          <a:bodyPr wrap="square" anchor="t" lIns="0" rIns="0" tIns="0" bIns="0">
            <a:spAutoFit/>
          </a:bodyPr>
          <a:lstStyle/>
          <a:p>
            <a:pPr algn="l">
              <a:lnSpc>
                <a:spcPct val="120000"/>
              </a:lnSpc>
            </a:pPr>
            <a:r>
              <a:rPr sz="1100" b="1" i="0">
                <a:solidFill>
                  <a:srgbClr val="0A1F3D"/>
                </a:solidFill>
                <a:latin typeface="Calibri"/>
              </a:rPr>
              <a:t>COST STABILITY</a:t>
            </a:r>
          </a:p>
        </p:txBody>
      </p:sp>
      <p:sp>
        <p:nvSpPr>
          <p:cNvPr id="14" name="TextBox 13"/>
          <p:cNvSpPr txBox="1"/>
          <p:nvPr/>
        </p:nvSpPr>
        <p:spPr>
          <a:xfrm>
            <a:off x="7772400" y="3977639"/>
            <a:ext cx="3749039" cy="914400"/>
          </a:xfrm>
          <a:prstGeom prst="rect">
            <a:avLst/>
          </a:prstGeom>
          <a:noFill/>
        </p:spPr>
        <p:txBody>
          <a:bodyPr wrap="square" anchor="t" lIns="0" rIns="0" tIns="0" bIns="0">
            <a:spAutoFit/>
          </a:bodyPr>
          <a:lstStyle/>
          <a:p>
            <a:pPr algn="l">
              <a:lnSpc>
                <a:spcPct val="130000"/>
              </a:lnSpc>
            </a:pPr>
            <a:r>
              <a:rPr sz="1100" b="0" i="0">
                <a:solidFill>
                  <a:srgbClr val="121824"/>
                </a:solidFill>
                <a:latin typeface="Calibri"/>
              </a:rPr>
              <a:t>Nuclear fuel costs are decade-stable vs. volatile diesel imports and emergency electricity buys.</a:t>
            </a:r>
          </a:p>
        </p:txBody>
      </p:sp>
      <p:sp>
        <p:nvSpPr>
          <p:cNvPr id="15" name="TextBox 14"/>
          <p:cNvSpPr txBox="1"/>
          <p:nvPr/>
        </p:nvSpPr>
        <p:spPr>
          <a:xfrm>
            <a:off x="7772400" y="4892040"/>
            <a:ext cx="3749039" cy="274320"/>
          </a:xfrm>
          <a:prstGeom prst="rect">
            <a:avLst/>
          </a:prstGeom>
          <a:noFill/>
        </p:spPr>
        <p:txBody>
          <a:bodyPr wrap="square" anchor="t" lIns="0" rIns="0" tIns="0" bIns="0">
            <a:spAutoFit/>
          </a:bodyPr>
          <a:lstStyle/>
          <a:p>
            <a:pPr algn="l">
              <a:lnSpc>
                <a:spcPct val="120000"/>
              </a:lnSpc>
            </a:pPr>
            <a:r>
              <a:rPr sz="1100" b="1" i="0">
                <a:solidFill>
                  <a:srgbClr val="0A1F3D"/>
                </a:solidFill>
                <a:latin typeface="Calibri"/>
              </a:rPr>
              <a:t>STRATEGIC FIT</a:t>
            </a:r>
          </a:p>
        </p:txBody>
      </p:sp>
      <p:sp>
        <p:nvSpPr>
          <p:cNvPr id="16" name="TextBox 15"/>
          <p:cNvSpPr txBox="1"/>
          <p:nvPr/>
        </p:nvSpPr>
        <p:spPr>
          <a:xfrm>
            <a:off x="7772400" y="5166359"/>
            <a:ext cx="3749039" cy="914400"/>
          </a:xfrm>
          <a:prstGeom prst="rect">
            <a:avLst/>
          </a:prstGeom>
          <a:noFill/>
        </p:spPr>
        <p:txBody>
          <a:bodyPr wrap="square" anchor="t" lIns="0" rIns="0" tIns="0" bIns="0">
            <a:spAutoFit/>
          </a:bodyPr>
          <a:lstStyle/>
          <a:p>
            <a:pPr algn="l">
              <a:lnSpc>
                <a:spcPct val="130000"/>
              </a:lnSpc>
            </a:pPr>
            <a:r>
              <a:rPr sz="1100" b="0" i="0">
                <a:solidFill>
                  <a:srgbClr val="121824"/>
                </a:solidFill>
                <a:latin typeface="Calibri"/>
              </a:rPr>
              <a:t>The 2,000 MW nuclear target maps directly onto the 3 Mt copper power gap.</a:t>
            </a:r>
          </a:p>
        </p:txBody>
      </p:sp>
      <p:cxnSp>
        <p:nvCxnSpPr>
          <p:cNvPr id="17" name="Connector 16"/>
          <p:cNvCxnSpPr/>
          <p:nvPr/>
        </p:nvCxnSpPr>
        <p:spPr>
          <a:xfrm>
            <a:off x="0" y="6629400"/>
            <a:ext cx="12191695" cy="0"/>
          </a:xfrm>
          <a:prstGeom prst="line">
            <a:avLst/>
          </a:prstGeom>
          <a:ln w="6350">
            <a:solidFill>
              <a:srgbClr val="C8CED6"/>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0" y="6629400"/>
            <a:ext cx="640080" cy="4572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675120"/>
            <a:ext cx="9601200" cy="182880"/>
          </a:xfrm>
          <a:prstGeom prst="rect">
            <a:avLst/>
          </a:prstGeom>
          <a:noFill/>
        </p:spPr>
        <p:txBody>
          <a:bodyPr wrap="square" anchor="t" lIns="0" rIns="0" tIns="0" bIns="0">
            <a:spAutoFit/>
          </a:bodyPr>
          <a:lstStyle/>
          <a:p>
            <a:pPr algn="l">
              <a:lnSpc>
                <a:spcPct val="120000"/>
              </a:lnSpc>
            </a:pPr>
            <a:r>
              <a:rPr sz="800" b="0" i="1">
                <a:solidFill>
                  <a:srgbClr val="6B7280"/>
                </a:solidFill>
                <a:latin typeface="Calibri"/>
              </a:rPr>
              <a:t>Sources: Zambia Ministry of Mines — Annual Mining Statistics · ZESCO Annual Reports 2023-2024</a:t>
            </a:r>
          </a:p>
        </p:txBody>
      </p:sp>
      <p:sp>
        <p:nvSpPr>
          <p:cNvPr id="20" name="TextBox 19"/>
          <p:cNvSpPr txBox="1"/>
          <p:nvPr/>
        </p:nvSpPr>
        <p:spPr>
          <a:xfrm>
            <a:off x="10424160" y="6675120"/>
            <a:ext cx="1554480" cy="182880"/>
          </a:xfrm>
          <a:prstGeom prst="rect">
            <a:avLst/>
          </a:prstGeom>
          <a:noFill/>
        </p:spPr>
        <p:txBody>
          <a:bodyPr wrap="square" anchor="t" lIns="0" rIns="0" tIns="0" bIns="0">
            <a:spAutoFit/>
          </a:bodyPr>
          <a:lstStyle/>
          <a:p>
            <a:pPr algn="r">
              <a:lnSpc>
                <a:spcPct val="120000"/>
              </a:lnSpc>
            </a:pPr>
            <a:r>
              <a:rPr sz="800" b="1" i="0">
                <a:solidFill>
                  <a:srgbClr val="2A3344"/>
                </a:solidFill>
                <a:latin typeface="Calibri"/>
              </a:rPr>
              <a:t>7 / 8  ·  E. Mwaba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4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274320"/>
          </a:xfrm>
          <a:prstGeom prst="rect">
            <a:avLst/>
          </a:prstGeom>
          <a:noFill/>
        </p:spPr>
        <p:txBody>
          <a:bodyPr wrap="square" anchor="t" lIns="0" rIns="0" tIns="0" bIns="0">
            <a:spAutoFit/>
          </a:bodyPr>
          <a:lstStyle/>
          <a:p>
            <a:pPr algn="l">
              <a:lnSpc>
                <a:spcPct val="120000"/>
              </a:lnSpc>
            </a:pPr>
            <a:r>
              <a:rPr sz="1100" b="1" i="0">
                <a:solidFill>
                  <a:srgbClr val="E8A860"/>
                </a:solidFill>
                <a:latin typeface="Calibri"/>
              </a:rPr>
              <a:t>06  ·  THE ROADMAP</a:t>
            </a:r>
          </a:p>
        </p:txBody>
      </p:sp>
      <p:sp>
        <p:nvSpPr>
          <p:cNvPr id="4" name="TextBox 3"/>
          <p:cNvSpPr txBox="1"/>
          <p:nvPr/>
        </p:nvSpPr>
        <p:spPr>
          <a:xfrm>
            <a:off x="548640" y="731520"/>
            <a:ext cx="11064240" cy="640080"/>
          </a:xfrm>
          <a:prstGeom prst="rect">
            <a:avLst/>
          </a:prstGeom>
          <a:noFill/>
        </p:spPr>
        <p:txBody>
          <a:bodyPr wrap="square" anchor="t" lIns="0" rIns="0" tIns="0" bIns="0">
            <a:spAutoFit/>
          </a:bodyPr>
          <a:lstStyle/>
          <a:p>
            <a:pPr algn="l">
              <a:lnSpc>
                <a:spcPct val="120000"/>
              </a:lnSpc>
            </a:pPr>
            <a:r>
              <a:rPr sz="2800" b="1" i="0">
                <a:solidFill>
                  <a:srgbClr val="FFFFFF"/>
                </a:solidFill>
                <a:latin typeface="Calibri"/>
              </a:rPr>
              <a:t>From policy approval to first SMR — one decade.</a:t>
            </a:r>
          </a:p>
        </p:txBody>
      </p:sp>
      <p:cxnSp>
        <p:nvCxnSpPr>
          <p:cNvPr id="5" name="Connector 4"/>
          <p:cNvCxnSpPr/>
          <p:nvPr/>
        </p:nvCxnSpPr>
        <p:spPr>
          <a:xfrm>
            <a:off x="548640" y="1417320"/>
            <a:ext cx="1097280" cy="0"/>
          </a:xfrm>
          <a:prstGeom prst="line">
            <a:avLst/>
          </a:prstGeom>
          <a:ln w="19050">
            <a:solidFill>
              <a:srgbClr val="CC7A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508760"/>
            <a:ext cx="11064240" cy="365760"/>
          </a:xfrm>
          <a:prstGeom prst="rect">
            <a:avLst/>
          </a:prstGeom>
          <a:noFill/>
        </p:spPr>
        <p:txBody>
          <a:bodyPr wrap="square" anchor="t" lIns="0" rIns="0" tIns="0" bIns="0">
            <a:spAutoFit/>
          </a:bodyPr>
          <a:lstStyle/>
          <a:p>
            <a:pPr algn="l">
              <a:lnSpc>
                <a:spcPct val="120000"/>
              </a:lnSpc>
            </a:pPr>
            <a:r>
              <a:rPr sz="1300" b="0" i="1">
                <a:solidFill>
                  <a:srgbClr val="CFD8E3"/>
                </a:solidFill>
                <a:latin typeface="Calibri"/>
              </a:rPr>
              <a:t>Three workstreams. Visible milestones. Accountability windows.</a:t>
            </a:r>
          </a:p>
        </p:txBody>
      </p:sp>
      <p:sp>
        <p:nvSpPr>
          <p:cNvPr id="7" name="TextBox 6"/>
          <p:cNvSpPr txBox="1"/>
          <p:nvPr/>
        </p:nvSpPr>
        <p:spPr>
          <a:xfrm>
            <a:off x="1005839" y="2148840"/>
            <a:ext cx="548640" cy="274320"/>
          </a:xfrm>
          <a:prstGeom prst="rect">
            <a:avLst/>
          </a:prstGeom>
          <a:noFill/>
        </p:spPr>
        <p:txBody>
          <a:bodyPr wrap="square" anchor="t" lIns="0" rIns="0" tIns="0" bIns="0">
            <a:spAutoFit/>
          </a:bodyPr>
          <a:lstStyle/>
          <a:p>
            <a:pPr algn="ctr">
              <a:lnSpc>
                <a:spcPct val="120000"/>
              </a:lnSpc>
            </a:pPr>
            <a:r>
              <a:rPr sz="1000" b="1" i="0">
                <a:solidFill>
                  <a:srgbClr val="E8A860"/>
                </a:solidFill>
                <a:latin typeface="Calibri"/>
              </a:rPr>
              <a:t>2026</a:t>
            </a:r>
          </a:p>
        </p:txBody>
      </p:sp>
      <p:sp>
        <p:nvSpPr>
          <p:cNvPr id="8" name="TextBox 7"/>
          <p:cNvSpPr txBox="1"/>
          <p:nvPr/>
        </p:nvSpPr>
        <p:spPr>
          <a:xfrm>
            <a:off x="3072384" y="2148840"/>
            <a:ext cx="548640" cy="274320"/>
          </a:xfrm>
          <a:prstGeom prst="rect">
            <a:avLst/>
          </a:prstGeom>
          <a:noFill/>
        </p:spPr>
        <p:txBody>
          <a:bodyPr wrap="square" anchor="t" lIns="0" rIns="0" tIns="0" bIns="0">
            <a:spAutoFit/>
          </a:bodyPr>
          <a:lstStyle/>
          <a:p>
            <a:pPr algn="ctr">
              <a:lnSpc>
                <a:spcPct val="120000"/>
              </a:lnSpc>
            </a:pPr>
            <a:r>
              <a:rPr sz="1000" b="1" i="0">
                <a:solidFill>
                  <a:srgbClr val="E8A860"/>
                </a:solidFill>
                <a:latin typeface="Calibri"/>
              </a:rPr>
              <a:t>2028</a:t>
            </a:r>
          </a:p>
        </p:txBody>
      </p:sp>
      <p:sp>
        <p:nvSpPr>
          <p:cNvPr id="9" name="TextBox 8"/>
          <p:cNvSpPr txBox="1"/>
          <p:nvPr/>
        </p:nvSpPr>
        <p:spPr>
          <a:xfrm>
            <a:off x="5138928" y="2148840"/>
            <a:ext cx="548640" cy="274320"/>
          </a:xfrm>
          <a:prstGeom prst="rect">
            <a:avLst/>
          </a:prstGeom>
          <a:noFill/>
        </p:spPr>
        <p:txBody>
          <a:bodyPr wrap="square" anchor="t" lIns="0" rIns="0" tIns="0" bIns="0">
            <a:spAutoFit/>
          </a:bodyPr>
          <a:lstStyle/>
          <a:p>
            <a:pPr algn="ctr">
              <a:lnSpc>
                <a:spcPct val="120000"/>
              </a:lnSpc>
            </a:pPr>
            <a:r>
              <a:rPr sz="1000" b="1" i="0">
                <a:solidFill>
                  <a:srgbClr val="E8A860"/>
                </a:solidFill>
                <a:latin typeface="Calibri"/>
              </a:rPr>
              <a:t>2030</a:t>
            </a:r>
          </a:p>
        </p:txBody>
      </p:sp>
      <p:sp>
        <p:nvSpPr>
          <p:cNvPr id="10" name="TextBox 9"/>
          <p:cNvSpPr txBox="1"/>
          <p:nvPr/>
        </p:nvSpPr>
        <p:spPr>
          <a:xfrm>
            <a:off x="7205472" y="2148840"/>
            <a:ext cx="548640" cy="274320"/>
          </a:xfrm>
          <a:prstGeom prst="rect">
            <a:avLst/>
          </a:prstGeom>
          <a:noFill/>
        </p:spPr>
        <p:txBody>
          <a:bodyPr wrap="square" anchor="t" lIns="0" rIns="0" tIns="0" bIns="0">
            <a:spAutoFit/>
          </a:bodyPr>
          <a:lstStyle/>
          <a:p>
            <a:pPr algn="ctr">
              <a:lnSpc>
                <a:spcPct val="120000"/>
              </a:lnSpc>
            </a:pPr>
            <a:r>
              <a:rPr sz="1000" b="1" i="0">
                <a:solidFill>
                  <a:srgbClr val="E8A860"/>
                </a:solidFill>
                <a:latin typeface="Calibri"/>
              </a:rPr>
              <a:t>2032</a:t>
            </a:r>
          </a:p>
        </p:txBody>
      </p:sp>
      <p:sp>
        <p:nvSpPr>
          <p:cNvPr id="11" name="TextBox 10"/>
          <p:cNvSpPr txBox="1"/>
          <p:nvPr/>
        </p:nvSpPr>
        <p:spPr>
          <a:xfrm>
            <a:off x="9272015" y="2148840"/>
            <a:ext cx="548640" cy="274320"/>
          </a:xfrm>
          <a:prstGeom prst="rect">
            <a:avLst/>
          </a:prstGeom>
          <a:noFill/>
        </p:spPr>
        <p:txBody>
          <a:bodyPr wrap="square" anchor="t" lIns="0" rIns="0" tIns="0" bIns="0">
            <a:spAutoFit/>
          </a:bodyPr>
          <a:lstStyle/>
          <a:p>
            <a:pPr algn="ctr">
              <a:lnSpc>
                <a:spcPct val="120000"/>
              </a:lnSpc>
            </a:pPr>
            <a:r>
              <a:rPr sz="1000" b="1" i="0">
                <a:solidFill>
                  <a:srgbClr val="E8A860"/>
                </a:solidFill>
                <a:latin typeface="Calibri"/>
              </a:rPr>
              <a:t>2034</a:t>
            </a:r>
          </a:p>
        </p:txBody>
      </p:sp>
      <p:sp>
        <p:nvSpPr>
          <p:cNvPr id="12" name="TextBox 11"/>
          <p:cNvSpPr txBox="1"/>
          <p:nvPr/>
        </p:nvSpPr>
        <p:spPr>
          <a:xfrm>
            <a:off x="11338559" y="2148840"/>
            <a:ext cx="548640" cy="274320"/>
          </a:xfrm>
          <a:prstGeom prst="rect">
            <a:avLst/>
          </a:prstGeom>
          <a:noFill/>
        </p:spPr>
        <p:txBody>
          <a:bodyPr wrap="square" anchor="t" lIns="0" rIns="0" tIns="0" bIns="0">
            <a:spAutoFit/>
          </a:bodyPr>
          <a:lstStyle/>
          <a:p>
            <a:pPr algn="ctr">
              <a:lnSpc>
                <a:spcPct val="120000"/>
              </a:lnSpc>
            </a:pPr>
            <a:r>
              <a:rPr sz="1000" b="1" i="0">
                <a:solidFill>
                  <a:srgbClr val="E8A860"/>
                </a:solidFill>
                <a:latin typeface="Calibri"/>
              </a:rPr>
              <a:t>2036+</a:t>
            </a:r>
          </a:p>
        </p:txBody>
      </p:sp>
      <p:cxnSp>
        <p:nvCxnSpPr>
          <p:cNvPr id="13" name="Connector 12"/>
          <p:cNvCxnSpPr/>
          <p:nvPr/>
        </p:nvCxnSpPr>
        <p:spPr>
          <a:xfrm>
            <a:off x="1280160" y="2514600"/>
            <a:ext cx="10332719" cy="0"/>
          </a:xfrm>
          <a:prstGeom prst="line">
            <a:avLst/>
          </a:prstGeom>
          <a:ln w="9525">
            <a:solidFill>
              <a:srgbClr val="334466"/>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280160" y="3063239"/>
            <a:ext cx="4133087" cy="41148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80160" y="3063239"/>
            <a:ext cx="73152"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89888" y="3081527"/>
            <a:ext cx="3995927" cy="365760"/>
          </a:xfrm>
          <a:prstGeom prst="rect">
            <a:avLst/>
          </a:prstGeom>
          <a:noFill/>
        </p:spPr>
        <p:txBody>
          <a:bodyPr wrap="square" anchor="t" lIns="0" rIns="0" tIns="0" bIns="0">
            <a:spAutoFit/>
          </a:bodyPr>
          <a:lstStyle/>
          <a:p>
            <a:pPr algn="l">
              <a:lnSpc>
                <a:spcPct val="120000"/>
              </a:lnSpc>
            </a:pPr>
            <a:r>
              <a:rPr sz="1100" b="1" i="0">
                <a:solidFill>
                  <a:srgbClr val="06142A"/>
                </a:solidFill>
                <a:latin typeface="Calibri"/>
              </a:rPr>
              <a:t>POLICY  &amp;  REGULATION</a:t>
            </a:r>
          </a:p>
        </p:txBody>
      </p:sp>
      <p:sp>
        <p:nvSpPr>
          <p:cNvPr id="17" name="TextBox 16"/>
          <p:cNvSpPr txBox="1"/>
          <p:nvPr/>
        </p:nvSpPr>
        <p:spPr>
          <a:xfrm>
            <a:off x="1280160" y="3520439"/>
            <a:ext cx="10332719" cy="274320"/>
          </a:xfrm>
          <a:prstGeom prst="rect">
            <a:avLst/>
          </a:prstGeom>
          <a:noFill/>
        </p:spPr>
        <p:txBody>
          <a:bodyPr wrap="square" anchor="t" lIns="0" rIns="0" tIns="0" bIns="0">
            <a:spAutoFit/>
          </a:bodyPr>
          <a:lstStyle/>
          <a:p>
            <a:pPr algn="l">
              <a:lnSpc>
                <a:spcPct val="120000"/>
              </a:lnSpc>
            </a:pPr>
            <a:r>
              <a:rPr sz="1000" b="0" i="0">
                <a:solidFill>
                  <a:srgbClr val="CFD8E3"/>
                </a:solidFill>
                <a:latin typeface="Calibri"/>
              </a:rPr>
              <a:t>Enact Nuclear Bill · Formalise NSPA · Site licensing</a:t>
            </a:r>
          </a:p>
        </p:txBody>
      </p:sp>
      <p:sp>
        <p:nvSpPr>
          <p:cNvPr id="18" name="Rectangle 17"/>
          <p:cNvSpPr/>
          <p:nvPr/>
        </p:nvSpPr>
        <p:spPr>
          <a:xfrm>
            <a:off x="2313432" y="4069080"/>
            <a:ext cx="8266175" cy="411480"/>
          </a:xfrm>
          <a:prstGeom prst="rect">
            <a:avLst/>
          </a:prstGeom>
          <a:solidFill>
            <a:srgbClr val="E8A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313432" y="4069080"/>
            <a:ext cx="73152"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23160" y="4087368"/>
            <a:ext cx="8129015" cy="365760"/>
          </a:xfrm>
          <a:prstGeom prst="rect">
            <a:avLst/>
          </a:prstGeom>
          <a:noFill/>
        </p:spPr>
        <p:txBody>
          <a:bodyPr wrap="square" anchor="t" lIns="0" rIns="0" tIns="0" bIns="0">
            <a:spAutoFit/>
          </a:bodyPr>
          <a:lstStyle/>
          <a:p>
            <a:pPr algn="l">
              <a:lnSpc>
                <a:spcPct val="120000"/>
              </a:lnSpc>
            </a:pPr>
            <a:r>
              <a:rPr sz="1100" b="1" i="0">
                <a:solidFill>
                  <a:srgbClr val="06142A"/>
                </a:solidFill>
                <a:latin typeface="Calibri"/>
              </a:rPr>
              <a:t>HUMAN  CAPITAL</a:t>
            </a:r>
          </a:p>
        </p:txBody>
      </p:sp>
      <p:sp>
        <p:nvSpPr>
          <p:cNvPr id="21" name="TextBox 20"/>
          <p:cNvSpPr txBox="1"/>
          <p:nvPr/>
        </p:nvSpPr>
        <p:spPr>
          <a:xfrm>
            <a:off x="1280160" y="4526280"/>
            <a:ext cx="10332719" cy="274320"/>
          </a:xfrm>
          <a:prstGeom prst="rect">
            <a:avLst/>
          </a:prstGeom>
          <a:noFill/>
        </p:spPr>
        <p:txBody>
          <a:bodyPr wrap="square" anchor="t" lIns="0" rIns="0" tIns="0" bIns="0">
            <a:spAutoFit/>
          </a:bodyPr>
          <a:lstStyle/>
          <a:p>
            <a:pPr algn="l">
              <a:lnSpc>
                <a:spcPct val="120000"/>
              </a:lnSpc>
            </a:pPr>
            <a:r>
              <a:rPr sz="1000" b="0" i="0">
                <a:solidFill>
                  <a:srgbClr val="CFD8E3"/>
                </a:solidFill>
                <a:latin typeface="Calibri"/>
              </a:rPr>
              <a:t>Medical Physics · Nuclear Eng. · Data Analytics cohorts</a:t>
            </a:r>
          </a:p>
        </p:txBody>
      </p:sp>
      <p:sp>
        <p:nvSpPr>
          <p:cNvPr id="22" name="Rectangle 21"/>
          <p:cNvSpPr/>
          <p:nvPr/>
        </p:nvSpPr>
        <p:spPr>
          <a:xfrm>
            <a:off x="5413248" y="5074920"/>
            <a:ext cx="6199631" cy="411480"/>
          </a:xfrm>
          <a:prstGeom prst="rect">
            <a:avLst/>
          </a:prstGeom>
          <a:solidFill>
            <a:srgbClr val="B3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13248" y="5074920"/>
            <a:ext cx="73152"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22976" y="5093208"/>
            <a:ext cx="6062471" cy="365760"/>
          </a:xfrm>
          <a:prstGeom prst="rect">
            <a:avLst/>
          </a:prstGeom>
          <a:noFill/>
        </p:spPr>
        <p:txBody>
          <a:bodyPr wrap="square" anchor="t" lIns="0" rIns="0" tIns="0" bIns="0">
            <a:spAutoFit/>
          </a:bodyPr>
          <a:lstStyle/>
          <a:p>
            <a:pPr algn="l">
              <a:lnSpc>
                <a:spcPct val="120000"/>
              </a:lnSpc>
            </a:pPr>
            <a:r>
              <a:rPr sz="1100" b="1" i="0">
                <a:solidFill>
                  <a:srgbClr val="06142A"/>
                </a:solidFill>
                <a:latin typeface="Calibri"/>
              </a:rPr>
              <a:t>SMR  IMPLEMENTATION</a:t>
            </a:r>
          </a:p>
        </p:txBody>
      </p:sp>
      <p:sp>
        <p:nvSpPr>
          <p:cNvPr id="25" name="TextBox 24"/>
          <p:cNvSpPr txBox="1"/>
          <p:nvPr/>
        </p:nvSpPr>
        <p:spPr>
          <a:xfrm>
            <a:off x="1280160" y="5532120"/>
            <a:ext cx="10332719" cy="274320"/>
          </a:xfrm>
          <a:prstGeom prst="rect">
            <a:avLst/>
          </a:prstGeom>
          <a:noFill/>
        </p:spPr>
        <p:txBody>
          <a:bodyPr wrap="square" anchor="t" lIns="0" rIns="0" tIns="0" bIns="0">
            <a:spAutoFit/>
          </a:bodyPr>
          <a:lstStyle/>
          <a:p>
            <a:pPr algn="l">
              <a:lnSpc>
                <a:spcPct val="120000"/>
              </a:lnSpc>
            </a:pPr>
            <a:r>
              <a:rPr sz="1000" b="0" i="0">
                <a:solidFill>
                  <a:srgbClr val="CFD8E3"/>
                </a:solidFill>
                <a:latin typeface="Calibri"/>
              </a:rPr>
              <a:t>Partner selection (ROSATOM / NuScale / Westinghouse) · Pre-feas · EPC · First criticality</a:t>
            </a:r>
          </a:p>
        </p:txBody>
      </p:sp>
      <p:sp>
        <p:nvSpPr>
          <p:cNvPr id="26" name="Rectangle 25"/>
          <p:cNvSpPr/>
          <p:nvPr/>
        </p:nvSpPr>
        <p:spPr>
          <a:xfrm>
            <a:off x="548640" y="5989320"/>
            <a:ext cx="11064240" cy="502920"/>
          </a:xfrm>
          <a:prstGeom prst="rect">
            <a:avLst/>
          </a:prstGeom>
          <a:solidFill>
            <a:srgbClr val="122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989320"/>
            <a:ext cx="91440" cy="502920"/>
          </a:xfrm>
          <a:prstGeom prst="rect">
            <a:avLst/>
          </a:prstGeom>
          <a:solidFill>
            <a:srgbClr val="CC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6053328"/>
            <a:ext cx="10698480" cy="411480"/>
          </a:xfrm>
          <a:prstGeom prst="rect">
            <a:avLst/>
          </a:prstGeom>
          <a:noFill/>
        </p:spPr>
        <p:txBody>
          <a:bodyPr wrap="square" anchor="t" lIns="0" rIns="0" tIns="0" bIns="0">
            <a:spAutoFit/>
          </a:bodyPr>
          <a:lstStyle/>
          <a:p>
            <a:pPr algn="l">
              <a:lnSpc>
                <a:spcPct val="115000"/>
              </a:lnSpc>
            </a:pPr>
            <a:r>
              <a:rPr sz="1300" b="0" i="0">
                <a:solidFill>
                  <a:srgbClr val="FFFFFF"/>
                </a:solidFill>
                <a:latin typeface="Calibri"/>
              </a:rPr>
              <a:t>We have the minerals. We have the regulator. We have the data capacity. </a:t>
            </a:r>
            <a:r>
              <a:rPr sz="1300" b="1" i="0">
                <a:solidFill>
                  <a:srgbClr val="E8A860"/>
                </a:solidFill>
                <a:latin typeface="Calibri"/>
              </a:rPr>
              <a:t>Zambia is ready to start the nuclear conversation.</a:t>
            </a:r>
          </a:p>
        </p:txBody>
      </p:sp>
      <p:sp>
        <p:nvSpPr>
          <p:cNvPr id="29" name="TextBox 28"/>
          <p:cNvSpPr txBox="1"/>
          <p:nvPr/>
        </p:nvSpPr>
        <p:spPr>
          <a:xfrm>
            <a:off x="548640" y="6583680"/>
            <a:ext cx="11064240" cy="228600"/>
          </a:xfrm>
          <a:prstGeom prst="rect">
            <a:avLst/>
          </a:prstGeom>
          <a:noFill/>
        </p:spPr>
        <p:txBody>
          <a:bodyPr wrap="square" anchor="t" lIns="0" rIns="0" tIns="0" bIns="0">
            <a:spAutoFit/>
          </a:bodyPr>
          <a:lstStyle/>
          <a:p>
            <a:pPr algn="ctr">
              <a:lnSpc>
                <a:spcPct val="120000"/>
              </a:lnSpc>
            </a:pPr>
            <a:r>
              <a:rPr sz="800" b="0" i="1">
                <a:solidFill>
                  <a:srgbClr val="8B97A8"/>
                </a:solidFill>
                <a:latin typeface="Calibri"/>
              </a:rPr>
              <a:t>8 / 8   ·   E. Mwaba   ·   Sources: DOE REMS 2024 · IAEA Milestones · 7NDP &amp; Vision 2030 · ZESCO 2023-24 · MoMMD · Siavonga Baseline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